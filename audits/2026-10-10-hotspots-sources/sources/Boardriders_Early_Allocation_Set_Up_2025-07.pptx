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72" r:id="rId4"/>
  </p:sldMasterIdLst>
  <p:notesMasterIdLst>
    <p:notesMasterId r:id="rId78"/>
  </p:notesMasterIdLst>
  <p:handoutMasterIdLst>
    <p:handoutMasterId r:id="rId79"/>
  </p:handoutMasterIdLst>
  <p:sldIdLst>
    <p:sldId id="256" r:id="rId5"/>
    <p:sldId id="327" r:id="rId6"/>
    <p:sldId id="411" r:id="rId7"/>
    <p:sldId id="420" r:id="rId8"/>
    <p:sldId id="425" r:id="rId9"/>
    <p:sldId id="415" r:id="rId10"/>
    <p:sldId id="412" r:id="rId11"/>
    <p:sldId id="413" r:id="rId12"/>
    <p:sldId id="414" r:id="rId13"/>
    <p:sldId id="426" r:id="rId14"/>
    <p:sldId id="416" r:id="rId15"/>
    <p:sldId id="360" r:id="rId16"/>
    <p:sldId id="417" r:id="rId17"/>
    <p:sldId id="359" r:id="rId18"/>
    <p:sldId id="429" r:id="rId19"/>
    <p:sldId id="318" r:id="rId20"/>
    <p:sldId id="364" r:id="rId21"/>
    <p:sldId id="418" r:id="rId22"/>
    <p:sldId id="314" r:id="rId23"/>
    <p:sldId id="419" r:id="rId24"/>
    <p:sldId id="436" r:id="rId25"/>
    <p:sldId id="367" r:id="rId26"/>
    <p:sldId id="437" r:id="rId27"/>
    <p:sldId id="423" r:id="rId28"/>
    <p:sldId id="308" r:id="rId29"/>
    <p:sldId id="421" r:id="rId30"/>
    <p:sldId id="321" r:id="rId31"/>
    <p:sldId id="427" r:id="rId32"/>
    <p:sldId id="290" r:id="rId33"/>
    <p:sldId id="392" r:id="rId34"/>
    <p:sldId id="401" r:id="rId35"/>
    <p:sldId id="434" r:id="rId36"/>
    <p:sldId id="430" r:id="rId37"/>
    <p:sldId id="403" r:id="rId38"/>
    <p:sldId id="405" r:id="rId39"/>
    <p:sldId id="404" r:id="rId40"/>
    <p:sldId id="406" r:id="rId41"/>
    <p:sldId id="408" r:id="rId42"/>
    <p:sldId id="407" r:id="rId43"/>
    <p:sldId id="312" r:id="rId44"/>
    <p:sldId id="322" r:id="rId45"/>
    <p:sldId id="395" r:id="rId46"/>
    <p:sldId id="396" r:id="rId47"/>
    <p:sldId id="397" r:id="rId48"/>
    <p:sldId id="410" r:id="rId49"/>
    <p:sldId id="370" r:id="rId50"/>
    <p:sldId id="333" r:id="rId51"/>
    <p:sldId id="373" r:id="rId52"/>
    <p:sldId id="385" r:id="rId53"/>
    <p:sldId id="374" r:id="rId54"/>
    <p:sldId id="375" r:id="rId55"/>
    <p:sldId id="376" r:id="rId56"/>
    <p:sldId id="377" r:id="rId57"/>
    <p:sldId id="378" r:id="rId58"/>
    <p:sldId id="379" r:id="rId59"/>
    <p:sldId id="380" r:id="rId60"/>
    <p:sldId id="381" r:id="rId61"/>
    <p:sldId id="398" r:id="rId62"/>
    <p:sldId id="383" r:id="rId63"/>
    <p:sldId id="384" r:id="rId64"/>
    <p:sldId id="326" r:id="rId65"/>
    <p:sldId id="351" r:id="rId66"/>
    <p:sldId id="386" r:id="rId67"/>
    <p:sldId id="435" r:id="rId68"/>
    <p:sldId id="286" r:id="rId69"/>
    <p:sldId id="432" r:id="rId70"/>
    <p:sldId id="433" r:id="rId71"/>
    <p:sldId id="431" r:id="rId72"/>
    <p:sldId id="409" r:id="rId73"/>
    <p:sldId id="424" r:id="rId74"/>
    <p:sldId id="439" r:id="rId75"/>
    <p:sldId id="438" r:id="rId76"/>
    <p:sldId id="258" r:id="rId77"/>
  </p:sldIdLst>
  <p:sldSz cx="12192000" cy="6858000"/>
  <p:notesSz cx="6858000" cy="9144000"/>
  <p:defaultTex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EAEC"/>
    <a:srgbClr val="D1DFE1"/>
    <a:srgbClr val="CEE8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BA5971-4E72-47D0-AEDA-D7BF28DDFC23}" v="36" dt="2020-12-11T15:11:32.7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47"/>
  </p:normalViewPr>
  <p:slideViewPr>
    <p:cSldViewPr snapToGrid="0" snapToObjects="1">
      <p:cViewPr varScale="1">
        <p:scale>
          <a:sx n="74" d="100"/>
          <a:sy n="74" d="100"/>
        </p:scale>
        <p:origin x="376" y="56"/>
      </p:cViewPr>
      <p:guideLst>
        <p:guide orient="horz" pos="52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9F9DB37E-3CF4-9501-6DDD-882BE2276DF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E6B7DA3F-8287-8DF3-13D1-FA55E64B28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873A2F-2AAA-4EFB-84DE-AB6D75783FB4}" type="datetimeFigureOut">
              <a:rPr lang="en-US" smtClean="0"/>
              <a:t>4/3/2026</a:t>
            </a:fld>
            <a:endParaRPr lang="en-US"/>
          </a:p>
        </p:txBody>
      </p:sp>
      <p:sp>
        <p:nvSpPr>
          <p:cNvPr id="4" name="Espace réservé du pied de page 3">
            <a:extLst>
              <a:ext uri="{FF2B5EF4-FFF2-40B4-BE49-F238E27FC236}">
                <a16:creationId xmlns:a16="http://schemas.microsoft.com/office/drawing/2014/main" id="{6288A499-B3F7-144E-7909-C8EDABDE56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Referring to 2022 EMEA data configuration</a:t>
            </a:r>
          </a:p>
        </p:txBody>
      </p:sp>
      <p:sp>
        <p:nvSpPr>
          <p:cNvPr id="5" name="Espace réservé du numéro de diapositive 4">
            <a:extLst>
              <a:ext uri="{FF2B5EF4-FFF2-40B4-BE49-F238E27FC236}">
                <a16:creationId xmlns:a16="http://schemas.microsoft.com/office/drawing/2014/main" id="{9AA8833D-F0F1-BE5C-5FA0-BA193F39F8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AA497E-00CB-4C77-931B-EF9FDEF5065C}" type="slidenum">
              <a:rPr lang="en-US" smtClean="0"/>
              <a:t>‹N°›</a:t>
            </a:fld>
            <a:endParaRPr lang="en-US"/>
          </a:p>
        </p:txBody>
      </p:sp>
    </p:spTree>
    <p:extLst>
      <p:ext uri="{BB962C8B-B14F-4D97-AF65-F5344CB8AC3E}">
        <p14:creationId xmlns:p14="http://schemas.microsoft.com/office/powerpoint/2010/main" val="40639535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67AE4A-BD71-A846-BB05-64EE257AD310}" type="datetimeFigureOut">
              <a:rPr lang="fr-FR" smtClean="0"/>
              <a:t>03/04/2026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fr-FR"/>
              <a:t>Referring to 2022 EMEA data configuration</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3558E0-8E3B-134B-83FC-1139810F872A}" type="slidenum">
              <a:rPr lang="fr-FR" smtClean="0"/>
              <a:t>‹N°›</a:t>
            </a:fld>
            <a:endParaRPr lang="fr-FR"/>
          </a:p>
        </p:txBody>
      </p:sp>
    </p:spTree>
    <p:extLst>
      <p:ext uri="{BB962C8B-B14F-4D97-AF65-F5344CB8AC3E}">
        <p14:creationId xmlns:p14="http://schemas.microsoft.com/office/powerpoint/2010/main" val="3724281659"/>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Subtitle 4">
            <a:extLst>
              <a:ext uri="{FF2B5EF4-FFF2-40B4-BE49-F238E27FC236}">
                <a16:creationId xmlns:a16="http://schemas.microsoft.com/office/drawing/2014/main" id="{AB2F7318-E056-4040-90A2-E9CDF1B9DBC4}"/>
              </a:ext>
            </a:extLst>
          </p:cNvPr>
          <p:cNvSpPr>
            <a:spLocks noGrp="1"/>
          </p:cNvSpPr>
          <p:nvPr>
            <p:ph type="subTitle" idx="1"/>
          </p:nvPr>
        </p:nvSpPr>
        <p:spPr>
          <a:xfrm>
            <a:off x="914403" y="3388797"/>
            <a:ext cx="6275063" cy="345989"/>
          </a:xfrm>
          <a:prstGeom prst="rect">
            <a:avLst/>
          </a:prstGeom>
        </p:spPr>
        <p:txBody>
          <a:bodyPr>
            <a:normAutofit/>
          </a:bodyPr>
          <a:lstStyle>
            <a:lvl1pPr>
              <a:defRPr>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sz="1600">
                <a:solidFill>
                  <a:schemeClr val="bg1">
                    <a:lumMod val="50000"/>
                  </a:schemeClr>
                </a:solidFill>
              </a:rPr>
              <a:t>Click to edit Master subtitle style</a:t>
            </a:r>
            <a:endParaRPr lang="fr-FR" sz="1800" dirty="0">
              <a:solidFill>
                <a:schemeClr val="bg1">
                  <a:lumMod val="50000"/>
                </a:schemeClr>
              </a:solidFill>
            </a:endParaRPr>
          </a:p>
        </p:txBody>
      </p:sp>
      <p:sp>
        <p:nvSpPr>
          <p:cNvPr id="14" name="Content Placeholder 13">
            <a:extLst>
              <a:ext uri="{FF2B5EF4-FFF2-40B4-BE49-F238E27FC236}">
                <a16:creationId xmlns:a16="http://schemas.microsoft.com/office/drawing/2014/main" id="{3D3AC028-7A08-AA4B-B9D9-255A1A1C1062}"/>
              </a:ext>
            </a:extLst>
          </p:cNvPr>
          <p:cNvSpPr>
            <a:spLocks noGrp="1"/>
          </p:cNvSpPr>
          <p:nvPr>
            <p:ph sz="quarter" idx="10" hasCustomPrompt="1"/>
          </p:nvPr>
        </p:nvSpPr>
        <p:spPr>
          <a:xfrm>
            <a:off x="914403" y="3931137"/>
            <a:ext cx="1643743" cy="216715"/>
          </a:xfrm>
          <a:prstGeom prst="rect">
            <a:avLst/>
          </a:prstGeom>
        </p:spPr>
        <p:txBody>
          <a:bodyPr/>
          <a:lstStyle>
            <a:lvl1pPr>
              <a:defRPr sz="9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Month day, Year</a:t>
            </a:r>
            <a:endParaRPr lang="fr-FR" dirty="0"/>
          </a:p>
        </p:txBody>
      </p:sp>
      <p:sp>
        <p:nvSpPr>
          <p:cNvPr id="18" name="Footer Placeholder 9">
            <a:extLst>
              <a:ext uri="{FF2B5EF4-FFF2-40B4-BE49-F238E27FC236}">
                <a16:creationId xmlns:a16="http://schemas.microsoft.com/office/drawing/2014/main" id="{90400563-1C3F-0948-AAAE-1F3A5E03F1A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700">
                <a:solidFill>
                  <a:schemeClr val="bg1">
                    <a:lumMod val="65000"/>
                  </a:schemeClr>
                </a:solidFill>
              </a:defRPr>
            </a:lvl1pPr>
          </a:lstStyle>
          <a:p>
            <a:endParaRPr lang="fr-FR" dirty="0"/>
          </a:p>
        </p:txBody>
      </p:sp>
      <p:sp>
        <p:nvSpPr>
          <p:cNvPr id="4" name="Title 3">
            <a:extLst>
              <a:ext uri="{FF2B5EF4-FFF2-40B4-BE49-F238E27FC236}">
                <a16:creationId xmlns:a16="http://schemas.microsoft.com/office/drawing/2014/main" id="{1879D19D-D52E-CF45-9D9C-7679CCB20E52}"/>
              </a:ext>
            </a:extLst>
          </p:cNvPr>
          <p:cNvSpPr>
            <a:spLocks noGrp="1"/>
          </p:cNvSpPr>
          <p:nvPr>
            <p:ph type="title"/>
          </p:nvPr>
        </p:nvSpPr>
        <p:spPr>
          <a:xfrm>
            <a:off x="914400" y="2823984"/>
            <a:ext cx="10515600" cy="539699"/>
          </a:xfrm>
          <a:prstGeom prst="rect">
            <a:avLst/>
          </a:prstGeom>
        </p:spPr>
        <p:txBody>
          <a:bodyPr/>
          <a:lstStyle>
            <a:lvl1pPr>
              <a:defRPr sz="36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fr-FR" dirty="0"/>
          </a:p>
        </p:txBody>
      </p:sp>
      <p:pic>
        <p:nvPicPr>
          <p:cNvPr id="7" name="Picture 6">
            <a:extLst>
              <a:ext uri="{FF2B5EF4-FFF2-40B4-BE49-F238E27FC236}">
                <a16:creationId xmlns:a16="http://schemas.microsoft.com/office/drawing/2014/main" id="{C3438482-DBDE-9746-9B58-F5483C8336CC}"/>
              </a:ext>
            </a:extLst>
          </p:cNvPr>
          <p:cNvPicPr>
            <a:picLocks noChangeAspect="1"/>
          </p:cNvPicPr>
          <p:nvPr userDrawn="1"/>
        </p:nvPicPr>
        <p:blipFill>
          <a:blip r:embed="rId2"/>
          <a:stretch>
            <a:fillRect/>
          </a:stretch>
        </p:blipFill>
        <p:spPr>
          <a:xfrm>
            <a:off x="893377" y="875043"/>
            <a:ext cx="4733496" cy="1163541"/>
          </a:xfrm>
          <a:prstGeom prst="rect">
            <a:avLst/>
          </a:prstGeom>
        </p:spPr>
      </p:pic>
    </p:spTree>
    <p:extLst>
      <p:ext uri="{BB962C8B-B14F-4D97-AF65-F5344CB8AC3E}">
        <p14:creationId xmlns:p14="http://schemas.microsoft.com/office/powerpoint/2010/main" val="3413221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BFFAD1-F51E-5246-A785-4A93A2533CFD}"/>
              </a:ext>
            </a:extLst>
          </p:cNvPr>
          <p:cNvSpPr>
            <a:spLocks noGrp="1"/>
          </p:cNvSpPr>
          <p:nvPr>
            <p:ph type="sldNum" sz="quarter" idx="10"/>
          </p:nvPr>
        </p:nvSpPr>
        <p:spPr/>
        <p:txBody>
          <a:bodyPr/>
          <a:lstStyle>
            <a:lvl1pPr>
              <a:defRPr sz="800"/>
            </a:lvl1pPr>
          </a:lstStyle>
          <a:p>
            <a:fld id="{2A40F7D8-F488-5645-894E-FC772B588B6E}" type="slidenum">
              <a:rPr lang="fr-FR" smtClean="0"/>
              <a:pPr/>
              <a:t>‹N°›</a:t>
            </a:fld>
            <a:endParaRPr lang="fr-FR" dirty="0"/>
          </a:p>
        </p:txBody>
      </p:sp>
      <p:sp>
        <p:nvSpPr>
          <p:cNvPr id="4" name="Title 3">
            <a:extLst>
              <a:ext uri="{FF2B5EF4-FFF2-40B4-BE49-F238E27FC236}">
                <a16:creationId xmlns:a16="http://schemas.microsoft.com/office/drawing/2014/main" id="{BA56C895-84C7-6043-975F-F918BDC51AE8}"/>
              </a:ext>
            </a:extLst>
          </p:cNvPr>
          <p:cNvSpPr>
            <a:spLocks noGrp="1"/>
          </p:cNvSpPr>
          <p:nvPr>
            <p:ph type="title" hasCustomPrompt="1"/>
          </p:nvPr>
        </p:nvSpPr>
        <p:spPr>
          <a:xfrm>
            <a:off x="838200" y="307981"/>
            <a:ext cx="10515600" cy="459468"/>
          </a:xfrm>
          <a:prstGeom prst="rect">
            <a:avLst/>
          </a:prstGeom>
        </p:spPr>
        <p:txBody>
          <a:bodyPr/>
          <a:lstStyle>
            <a:lvl1pPr>
              <a:defRPr sz="2400" b="1">
                <a:latin typeface="Verdana" panose="020B0604030504040204" pitchFamily="34" charset="0"/>
                <a:ea typeface="Verdana" panose="020B0604030504040204" pitchFamily="34" charset="0"/>
                <a:cs typeface="Verdana" panose="020B0604030504040204" pitchFamily="34" charset="0"/>
              </a:defRPr>
            </a:lvl1pPr>
          </a:lstStyle>
          <a:p>
            <a:r>
              <a:rPr lang="en-US" dirty="0"/>
              <a:t>1. Title</a:t>
            </a:r>
            <a:endParaRPr lang="fr-FR" dirty="0"/>
          </a:p>
        </p:txBody>
      </p:sp>
      <p:sp>
        <p:nvSpPr>
          <p:cNvPr id="11" name="Content Placeholder 10">
            <a:extLst>
              <a:ext uri="{FF2B5EF4-FFF2-40B4-BE49-F238E27FC236}">
                <a16:creationId xmlns:a16="http://schemas.microsoft.com/office/drawing/2014/main" id="{1575266E-3784-D94B-8BA2-9B23B2D29C24}"/>
              </a:ext>
            </a:extLst>
          </p:cNvPr>
          <p:cNvSpPr>
            <a:spLocks noGrp="1"/>
          </p:cNvSpPr>
          <p:nvPr>
            <p:ph sz="quarter" idx="11"/>
          </p:nvPr>
        </p:nvSpPr>
        <p:spPr>
          <a:xfrm>
            <a:off x="838200" y="1102180"/>
            <a:ext cx="10515600" cy="4782928"/>
          </a:xfrm>
          <a:prstGeom prst="rect">
            <a:avLst/>
          </a:prstGeom>
        </p:spPr>
        <p:txBody>
          <a:bodyPr/>
          <a:lstStyle>
            <a:lvl1pPr>
              <a:defRPr sz="14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100">
                <a:latin typeface="Verdana" panose="020B0604030504040204" pitchFamily="34" charset="0"/>
                <a:ea typeface="Verdana" panose="020B0604030504040204" pitchFamily="34" charset="0"/>
                <a:cs typeface="Verdana" panose="020B0604030504040204" pitchFamily="34" charset="0"/>
              </a:defRPr>
            </a:lvl3pPr>
            <a:lvl4pPr>
              <a:defRPr sz="1051">
                <a:latin typeface="Verdana" panose="020B0604030504040204" pitchFamily="34" charset="0"/>
                <a:ea typeface="Verdana" panose="020B0604030504040204" pitchFamily="34" charset="0"/>
                <a:cs typeface="Verdana" panose="020B0604030504040204" pitchFamily="34" charset="0"/>
              </a:defRPr>
            </a:lvl4pPr>
            <a:lvl5pPr>
              <a:defRPr sz="1051">
                <a:latin typeface="Verdana" panose="020B0604030504040204" pitchFamily="34" charset="0"/>
                <a:ea typeface="Verdana" panose="020B0604030504040204" pitchFamily="34" charset="0"/>
                <a:cs typeface="Verdan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2" name="Footer Placeholder 9">
            <a:extLst>
              <a:ext uri="{FF2B5EF4-FFF2-40B4-BE49-F238E27FC236}">
                <a16:creationId xmlns:a16="http://schemas.microsoft.com/office/drawing/2014/main" id="{09199360-FF4F-D840-A6CC-134C8AA71A7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700">
                <a:solidFill>
                  <a:schemeClr val="bg1">
                    <a:lumMod val="65000"/>
                  </a:schemeClr>
                </a:solidFill>
              </a:defRPr>
            </a:lvl1pPr>
          </a:lstStyle>
          <a:p>
            <a:endParaRPr lang="fr-FR" dirty="0"/>
          </a:p>
        </p:txBody>
      </p:sp>
      <p:cxnSp>
        <p:nvCxnSpPr>
          <p:cNvPr id="7" name="Straight Connector 6">
            <a:extLst>
              <a:ext uri="{FF2B5EF4-FFF2-40B4-BE49-F238E27FC236}">
                <a16:creationId xmlns:a16="http://schemas.microsoft.com/office/drawing/2014/main" id="{41E803F1-1EFC-6249-BCEF-A768BA569C26}"/>
              </a:ext>
            </a:extLst>
          </p:cNvPr>
          <p:cNvCxnSpPr/>
          <p:nvPr userDrawn="1"/>
        </p:nvCxnSpPr>
        <p:spPr>
          <a:xfrm>
            <a:off x="615092" y="767448"/>
            <a:ext cx="109618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AB98C83B-05E9-3A47-B564-11B29C7AEA12}"/>
              </a:ext>
            </a:extLst>
          </p:cNvPr>
          <p:cNvPicPr>
            <a:picLocks noChangeAspect="1"/>
          </p:cNvPicPr>
          <p:nvPr userDrawn="1"/>
        </p:nvPicPr>
        <p:blipFill>
          <a:blip r:embed="rId2"/>
          <a:stretch>
            <a:fillRect/>
          </a:stretch>
        </p:blipFill>
        <p:spPr>
          <a:xfrm>
            <a:off x="9271344" y="6391976"/>
            <a:ext cx="1421712" cy="293875"/>
          </a:xfrm>
          <a:prstGeom prst="rect">
            <a:avLst/>
          </a:prstGeom>
        </p:spPr>
      </p:pic>
    </p:spTree>
    <p:extLst>
      <p:ext uri="{BB962C8B-B14F-4D97-AF65-F5344CB8AC3E}">
        <p14:creationId xmlns:p14="http://schemas.microsoft.com/office/powerpoint/2010/main" val="3656514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3A8BDB-CF1C-0B46-AF90-03088D73E24E}"/>
              </a:ext>
            </a:extLst>
          </p:cNvPr>
          <p:cNvSpPr>
            <a:spLocks noGrp="1"/>
          </p:cNvSpPr>
          <p:nvPr>
            <p:ph type="sldNum" sz="quarter" idx="10"/>
          </p:nvPr>
        </p:nvSpPr>
        <p:spPr/>
        <p:txBody>
          <a:bodyPr/>
          <a:lstStyle/>
          <a:p>
            <a:fld id="{2A40F7D8-F488-5645-894E-FC772B588B6E}" type="slidenum">
              <a:rPr lang="fr-FR" smtClean="0"/>
              <a:t>‹N°›</a:t>
            </a:fld>
            <a:endParaRPr lang="fr-FR"/>
          </a:p>
        </p:txBody>
      </p:sp>
      <p:sp>
        <p:nvSpPr>
          <p:cNvPr id="4" name="Footer Placeholder 3">
            <a:extLst>
              <a:ext uri="{FF2B5EF4-FFF2-40B4-BE49-F238E27FC236}">
                <a16:creationId xmlns:a16="http://schemas.microsoft.com/office/drawing/2014/main" id="{548D78F9-767F-5F47-B5D2-480D92E76430}"/>
              </a:ext>
            </a:extLst>
          </p:cNvPr>
          <p:cNvSpPr>
            <a:spLocks noGrp="1"/>
          </p:cNvSpPr>
          <p:nvPr>
            <p:ph type="ftr" sz="quarter" idx="11"/>
          </p:nvPr>
        </p:nvSpPr>
        <p:spPr>
          <a:xfrm>
            <a:off x="4038600" y="6356352"/>
            <a:ext cx="4114800" cy="365125"/>
          </a:xfrm>
          <a:prstGeom prst="rect">
            <a:avLst/>
          </a:prstGeom>
        </p:spPr>
        <p:txBody>
          <a:bodyPr/>
          <a:lstStyle/>
          <a:p>
            <a:endParaRPr lang="fr-FR" dirty="0"/>
          </a:p>
        </p:txBody>
      </p:sp>
      <p:pic>
        <p:nvPicPr>
          <p:cNvPr id="5" name="Picture 4">
            <a:extLst>
              <a:ext uri="{FF2B5EF4-FFF2-40B4-BE49-F238E27FC236}">
                <a16:creationId xmlns:a16="http://schemas.microsoft.com/office/drawing/2014/main" id="{020C23C2-6B52-C74E-BD6C-68B573FC5D96}"/>
              </a:ext>
            </a:extLst>
          </p:cNvPr>
          <p:cNvPicPr>
            <a:picLocks noChangeAspect="1"/>
          </p:cNvPicPr>
          <p:nvPr userDrawn="1"/>
        </p:nvPicPr>
        <p:blipFill>
          <a:blip r:embed="rId2"/>
          <a:stretch>
            <a:fillRect/>
          </a:stretch>
        </p:blipFill>
        <p:spPr>
          <a:xfrm>
            <a:off x="4545009" y="2655849"/>
            <a:ext cx="3101981" cy="762499"/>
          </a:xfrm>
          <a:prstGeom prst="rect">
            <a:avLst/>
          </a:prstGeom>
        </p:spPr>
      </p:pic>
    </p:spTree>
    <p:extLst>
      <p:ext uri="{BB962C8B-B14F-4D97-AF65-F5344CB8AC3E}">
        <p14:creationId xmlns:p14="http://schemas.microsoft.com/office/powerpoint/2010/main" val="36519135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8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2A40F7D8-F488-5645-894E-FC772B588B6E}" type="slidenum">
              <a:rPr lang="fr-FR" smtClean="0"/>
              <a:pPr/>
              <a:t>‹N°›</a:t>
            </a:fld>
            <a:endParaRPr lang="fr-FR"/>
          </a:p>
        </p:txBody>
      </p:sp>
      <p:cxnSp>
        <p:nvCxnSpPr>
          <p:cNvPr id="8" name="Straight Connector 7">
            <a:extLst>
              <a:ext uri="{FF2B5EF4-FFF2-40B4-BE49-F238E27FC236}">
                <a16:creationId xmlns:a16="http://schemas.microsoft.com/office/drawing/2014/main" id="{752596A3-1160-5C45-B7D1-2B832178D3AF}"/>
              </a:ext>
            </a:extLst>
          </p:cNvPr>
          <p:cNvCxnSpPr/>
          <p:nvPr userDrawn="1"/>
        </p:nvCxnSpPr>
        <p:spPr>
          <a:xfrm>
            <a:off x="615092" y="6260757"/>
            <a:ext cx="109618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156E8D4F-1C02-254B-ABE1-4F3A5456C2E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Tree>
    <p:extLst>
      <p:ext uri="{BB962C8B-B14F-4D97-AF65-F5344CB8AC3E}">
        <p14:creationId xmlns:p14="http://schemas.microsoft.com/office/powerpoint/2010/main" val="20729352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70.xml"/><Relationship Id="rId3" Type="http://schemas.openxmlformats.org/officeDocument/2006/relationships/slide" Target="slide6.xml"/><Relationship Id="rId7" Type="http://schemas.openxmlformats.org/officeDocument/2006/relationships/slide" Target="slide20.xml"/><Relationship Id="rId12" Type="http://schemas.openxmlformats.org/officeDocument/2006/relationships/slide" Target="slide65.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16.xml"/><Relationship Id="rId11" Type="http://schemas.openxmlformats.org/officeDocument/2006/relationships/slide" Target="slide63.xml"/><Relationship Id="rId5" Type="http://schemas.openxmlformats.org/officeDocument/2006/relationships/slide" Target="slide13.xml"/><Relationship Id="rId10" Type="http://schemas.openxmlformats.org/officeDocument/2006/relationships/slide" Target="slide40.xml"/><Relationship Id="rId4" Type="http://schemas.openxmlformats.org/officeDocument/2006/relationships/slide" Target="slide11.xml"/><Relationship Id="rId9" Type="http://schemas.openxmlformats.org/officeDocument/2006/relationships/slide" Target="slide31.xml"/><Relationship Id="rId14" Type="http://schemas.openxmlformats.org/officeDocument/2006/relationships/slide" Target="slide7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C7F252F2-A3B1-4911-81BA-26FC2052EB62}"/>
              </a:ext>
            </a:extLst>
          </p:cNvPr>
          <p:cNvPicPr>
            <a:picLocks noChangeAspect="1"/>
          </p:cNvPicPr>
          <p:nvPr/>
        </p:nvPicPr>
        <p:blipFill>
          <a:blip r:embed="rId2"/>
          <a:stretch>
            <a:fillRect/>
          </a:stretch>
        </p:blipFill>
        <p:spPr>
          <a:xfrm>
            <a:off x="840471" y="840389"/>
            <a:ext cx="4905420" cy="1265125"/>
          </a:xfrm>
          <a:prstGeom prst="rect">
            <a:avLst/>
          </a:prstGeom>
        </p:spPr>
      </p:pic>
      <p:sp>
        <p:nvSpPr>
          <p:cNvPr id="8" name="Title 3">
            <a:extLst>
              <a:ext uri="{FF2B5EF4-FFF2-40B4-BE49-F238E27FC236}">
                <a16:creationId xmlns:a16="http://schemas.microsoft.com/office/drawing/2014/main" id="{5DEDDFC2-A24C-8295-D48A-F2D1243D6ECC}"/>
              </a:ext>
            </a:extLst>
          </p:cNvPr>
          <p:cNvSpPr>
            <a:spLocks noGrp="1"/>
          </p:cNvSpPr>
          <p:nvPr>
            <p:ph type="title"/>
          </p:nvPr>
        </p:nvSpPr>
        <p:spPr>
          <a:xfrm>
            <a:off x="914400" y="2823985"/>
            <a:ext cx="10515600" cy="1023396"/>
          </a:xfrm>
        </p:spPr>
        <p:txBody>
          <a:bodyPr/>
          <a:lstStyle/>
          <a:p>
            <a:r>
              <a:rPr lang="en-US" sz="3200" noProof="0" dirty="0"/>
              <a:t>Allocation Run Process Flow</a:t>
            </a:r>
            <a:br>
              <a:rPr lang="en-US" sz="3200" noProof="0" dirty="0"/>
            </a:br>
            <a:r>
              <a:rPr lang="en-US" sz="3200" noProof="0" dirty="0"/>
              <a:t>and 2022 EMEA Early Allocation Set Up Review</a:t>
            </a:r>
          </a:p>
        </p:txBody>
      </p:sp>
      <p:sp>
        <p:nvSpPr>
          <p:cNvPr id="11" name="Espace réservé du contenu 6">
            <a:extLst>
              <a:ext uri="{FF2B5EF4-FFF2-40B4-BE49-F238E27FC236}">
                <a16:creationId xmlns:a16="http://schemas.microsoft.com/office/drawing/2014/main" id="{EBD4825A-AFC2-E21C-682E-ACDFFCAFD3E7}"/>
              </a:ext>
            </a:extLst>
          </p:cNvPr>
          <p:cNvSpPr txBox="1">
            <a:spLocks/>
          </p:cNvSpPr>
          <p:nvPr/>
        </p:nvSpPr>
        <p:spPr>
          <a:xfrm>
            <a:off x="914402" y="5354489"/>
            <a:ext cx="3243529" cy="48558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9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July the 23</a:t>
            </a:r>
            <a:r>
              <a:rPr lang="en-US" baseline="30000" noProof="0" dirty="0"/>
              <a:t>rd</a:t>
            </a:r>
            <a:r>
              <a:rPr lang="en-US" noProof="0" dirty="0"/>
              <a:t> &amp; 24</a:t>
            </a:r>
            <a:r>
              <a:rPr lang="en-US" baseline="30000" noProof="0" dirty="0"/>
              <a:t>th</a:t>
            </a:r>
            <a:r>
              <a:rPr lang="en-US" noProof="0" dirty="0"/>
              <a:t>, 2025</a:t>
            </a:r>
          </a:p>
          <a:p>
            <a:r>
              <a:rPr lang="en-US" noProof="0" dirty="0"/>
              <a:t>Nathalie Alves, SAP SD-MM external Consultant</a:t>
            </a:r>
          </a:p>
        </p:txBody>
      </p:sp>
    </p:spTree>
    <p:extLst>
      <p:ext uri="{BB962C8B-B14F-4D97-AF65-F5344CB8AC3E}">
        <p14:creationId xmlns:p14="http://schemas.microsoft.com/office/powerpoint/2010/main" val="3336553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CCAF993-FEC3-49C0-BD97-A48F819C103C}"/>
              </a:ext>
            </a:extLst>
          </p:cNvPr>
          <p:cNvSpPr>
            <a:spLocks noGrp="1"/>
          </p:cNvSpPr>
          <p:nvPr>
            <p:ph type="title"/>
          </p:nvPr>
        </p:nvSpPr>
        <p:spPr/>
        <p:txBody>
          <a:bodyPr/>
          <a:lstStyle/>
          <a:p>
            <a:r>
              <a:rPr lang="en-US" noProof="0" dirty="0"/>
              <a:t>Introduction on </a:t>
            </a:r>
            <a:r>
              <a:rPr lang="en-US" noProof="0" dirty="0" err="1"/>
              <a:t>ARun</a:t>
            </a:r>
            <a:r>
              <a:rPr lang="en-US" noProof="0" dirty="0"/>
              <a:t> and Early Allocation</a:t>
            </a:r>
          </a:p>
        </p:txBody>
      </p:sp>
      <p:sp>
        <p:nvSpPr>
          <p:cNvPr id="4" name="Espace réservé du contenu 3">
            <a:extLst>
              <a:ext uri="{FF2B5EF4-FFF2-40B4-BE49-F238E27FC236}">
                <a16:creationId xmlns:a16="http://schemas.microsoft.com/office/drawing/2014/main" id="{D3FB9AA8-7C94-49AD-AF0A-05B512EB9756}"/>
              </a:ext>
            </a:extLst>
          </p:cNvPr>
          <p:cNvSpPr>
            <a:spLocks noGrp="1"/>
          </p:cNvSpPr>
          <p:nvPr>
            <p:ph sz="quarter" idx="11"/>
          </p:nvPr>
        </p:nvSpPr>
        <p:spPr/>
        <p:txBody>
          <a:bodyPr/>
          <a:lstStyle/>
          <a:p>
            <a:pPr algn="just">
              <a:spcBef>
                <a:spcPts val="1800"/>
              </a:spcBef>
            </a:pPr>
            <a:r>
              <a:rPr lang="en-US" noProof="0" dirty="0"/>
              <a:t>Allocation Run is mandatory on AFS materials sales orders and is a prerequisite to delivery creation and billing. </a:t>
            </a:r>
          </a:p>
          <a:p>
            <a:pPr algn="just">
              <a:spcBef>
                <a:spcPts val="1800"/>
              </a:spcBef>
            </a:pPr>
            <a:r>
              <a:rPr lang="en-US" noProof="0" dirty="0"/>
              <a:t>Delivery can only be created once the stock is received at the warehouse, but stock can be reserved on Future Receipts before the goods arrive using Early Allocation.</a:t>
            </a:r>
          </a:p>
          <a:p>
            <a:pPr algn="just">
              <a:spcBef>
                <a:spcPts val="1800"/>
              </a:spcBef>
            </a:pPr>
            <a:endParaRPr lang="en-US" noProof="0" dirty="0"/>
          </a:p>
          <a:p>
            <a:pPr algn="just">
              <a:spcBef>
                <a:spcPts val="1800"/>
              </a:spcBef>
            </a:pPr>
            <a:endParaRPr lang="en-US" noProof="0" dirty="0"/>
          </a:p>
          <a:p>
            <a:pPr algn="just">
              <a:spcBef>
                <a:spcPts val="1800"/>
              </a:spcBef>
            </a:pPr>
            <a:endParaRPr lang="en-US" noProof="0" dirty="0"/>
          </a:p>
          <a:p>
            <a:pPr algn="just">
              <a:spcBef>
                <a:spcPts val="1800"/>
              </a:spcBef>
            </a:pPr>
            <a:endParaRPr lang="en-US" noProof="0" dirty="0"/>
          </a:p>
          <a:p>
            <a:pPr algn="just">
              <a:spcBef>
                <a:spcPts val="1800"/>
              </a:spcBef>
            </a:pPr>
            <a:endParaRPr lang="en-US" noProof="0" dirty="0"/>
          </a:p>
          <a:p>
            <a:pPr algn="just">
              <a:spcBef>
                <a:spcPts val="1800"/>
              </a:spcBef>
            </a:pPr>
            <a:r>
              <a:rPr lang="en-US" noProof="0" dirty="0"/>
              <a:t>Within the Sales and Distribution process, Allocation Run ensures the best possible assignment of stock to the open customers requirements based on specific rules, specially in case of stock shortage. Those rules are configured in </a:t>
            </a:r>
            <a:r>
              <a:rPr lang="en-US" noProof="0" dirty="0" err="1"/>
              <a:t>ARun</a:t>
            </a:r>
            <a:r>
              <a:rPr lang="en-US" noProof="0" dirty="0"/>
              <a:t> types that are the basis of any Allocation Run execution and determine its result.</a:t>
            </a:r>
          </a:p>
          <a:p>
            <a:pPr algn="just">
              <a:spcBef>
                <a:spcPts val="1800"/>
              </a:spcBef>
            </a:pPr>
            <a:r>
              <a:rPr lang="en-US" noProof="0" dirty="0"/>
              <a:t>Periodic </a:t>
            </a:r>
            <a:r>
              <a:rPr lang="en-US" noProof="0" dirty="0" err="1"/>
              <a:t>ARun</a:t>
            </a:r>
            <a:r>
              <a:rPr lang="en-US" noProof="0" dirty="0"/>
              <a:t> jobs are executed on requirements based </a:t>
            </a:r>
            <a:r>
              <a:rPr lang="en-US" u="sng" noProof="0" dirty="0"/>
              <a:t>either on Physical stock only, or on both Physical Stock and Future Receipts</a:t>
            </a:r>
            <a:r>
              <a:rPr lang="en-US" noProof="0" dirty="0"/>
              <a:t>, using the assigned “Allocation Set”.</a:t>
            </a:r>
          </a:p>
          <a:p>
            <a:pPr algn="just">
              <a:spcBef>
                <a:spcPts val="1800"/>
              </a:spcBef>
            </a:pPr>
            <a:r>
              <a:rPr lang="en-US" noProof="0" dirty="0"/>
              <a:t>We will thereafter detail all the Allocation Run process flow steps and review the EMEA Early allocation set up.</a:t>
            </a:r>
          </a:p>
        </p:txBody>
      </p:sp>
      <p:sp>
        <p:nvSpPr>
          <p:cNvPr id="5" name="Rectangle : coins arrondis 4">
            <a:extLst>
              <a:ext uri="{FF2B5EF4-FFF2-40B4-BE49-F238E27FC236}">
                <a16:creationId xmlns:a16="http://schemas.microsoft.com/office/drawing/2014/main" id="{6A105B12-E643-4B37-84AC-DA36B4D55D48}"/>
              </a:ext>
            </a:extLst>
          </p:cNvPr>
          <p:cNvSpPr/>
          <p:nvPr/>
        </p:nvSpPr>
        <p:spPr>
          <a:xfrm>
            <a:off x="1063435" y="2089041"/>
            <a:ext cx="1678462" cy="632515"/>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rPr>
              <a:t>Sales Order</a:t>
            </a:r>
          </a:p>
        </p:txBody>
      </p:sp>
      <p:sp>
        <p:nvSpPr>
          <p:cNvPr id="6" name="Rectangle : coins arrondis 5">
            <a:extLst>
              <a:ext uri="{FF2B5EF4-FFF2-40B4-BE49-F238E27FC236}">
                <a16:creationId xmlns:a16="http://schemas.microsoft.com/office/drawing/2014/main" id="{69EFE409-C554-42EB-AD56-C85F50037EB3}"/>
              </a:ext>
            </a:extLst>
          </p:cNvPr>
          <p:cNvSpPr/>
          <p:nvPr/>
        </p:nvSpPr>
        <p:spPr>
          <a:xfrm>
            <a:off x="3182653" y="2094793"/>
            <a:ext cx="1678462" cy="632515"/>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rPr>
              <a:t>Procurement Process</a:t>
            </a:r>
          </a:p>
        </p:txBody>
      </p:sp>
      <p:sp>
        <p:nvSpPr>
          <p:cNvPr id="7" name="Rectangle : coins arrondis 6">
            <a:extLst>
              <a:ext uri="{FF2B5EF4-FFF2-40B4-BE49-F238E27FC236}">
                <a16:creationId xmlns:a16="http://schemas.microsoft.com/office/drawing/2014/main" id="{BA87BEFF-6797-4EC8-AA0E-5664BF09F553}"/>
              </a:ext>
            </a:extLst>
          </p:cNvPr>
          <p:cNvSpPr/>
          <p:nvPr/>
        </p:nvSpPr>
        <p:spPr>
          <a:xfrm>
            <a:off x="5296122" y="2094794"/>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rPr>
              <a:t>Allocation Run</a:t>
            </a:r>
          </a:p>
        </p:txBody>
      </p:sp>
      <p:sp>
        <p:nvSpPr>
          <p:cNvPr id="8" name="Rectangle : coins arrondis 7">
            <a:extLst>
              <a:ext uri="{FF2B5EF4-FFF2-40B4-BE49-F238E27FC236}">
                <a16:creationId xmlns:a16="http://schemas.microsoft.com/office/drawing/2014/main" id="{2A3302D8-8E66-45EF-8E86-C7BA4444D5F8}"/>
              </a:ext>
            </a:extLst>
          </p:cNvPr>
          <p:cNvSpPr/>
          <p:nvPr/>
        </p:nvSpPr>
        <p:spPr>
          <a:xfrm>
            <a:off x="7380833" y="2091917"/>
            <a:ext cx="1678462" cy="632515"/>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rPr>
              <a:t>Delivery</a:t>
            </a:r>
          </a:p>
        </p:txBody>
      </p:sp>
      <p:sp>
        <p:nvSpPr>
          <p:cNvPr id="9" name="Rectangle : coins arrondis 8">
            <a:extLst>
              <a:ext uri="{FF2B5EF4-FFF2-40B4-BE49-F238E27FC236}">
                <a16:creationId xmlns:a16="http://schemas.microsoft.com/office/drawing/2014/main" id="{95D86D8E-85A1-46FE-931D-BA6A440B69D6}"/>
              </a:ext>
            </a:extLst>
          </p:cNvPr>
          <p:cNvSpPr/>
          <p:nvPr/>
        </p:nvSpPr>
        <p:spPr>
          <a:xfrm>
            <a:off x="9477050" y="2091918"/>
            <a:ext cx="1678462" cy="632515"/>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rPr>
              <a:t>Invoice</a:t>
            </a:r>
          </a:p>
        </p:txBody>
      </p:sp>
      <p:sp>
        <p:nvSpPr>
          <p:cNvPr id="11" name="Rectangle : coins arrondis 10">
            <a:extLst>
              <a:ext uri="{FF2B5EF4-FFF2-40B4-BE49-F238E27FC236}">
                <a16:creationId xmlns:a16="http://schemas.microsoft.com/office/drawing/2014/main" id="{C1F7B154-6319-4D23-800B-34FBFA2AF68B}"/>
              </a:ext>
            </a:extLst>
          </p:cNvPr>
          <p:cNvSpPr/>
          <p:nvPr/>
        </p:nvSpPr>
        <p:spPr>
          <a:xfrm>
            <a:off x="1462336" y="2885359"/>
            <a:ext cx="1293940" cy="411677"/>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dirty="0">
                <a:solidFill>
                  <a:schemeClr val="tx1"/>
                </a:solidFill>
              </a:rPr>
              <a:t>ATP check</a:t>
            </a:r>
          </a:p>
        </p:txBody>
      </p:sp>
      <p:sp>
        <p:nvSpPr>
          <p:cNvPr id="13" name="Rectangle : coins arrondis 12">
            <a:extLst>
              <a:ext uri="{FF2B5EF4-FFF2-40B4-BE49-F238E27FC236}">
                <a16:creationId xmlns:a16="http://schemas.microsoft.com/office/drawing/2014/main" id="{872D2545-1D88-40A8-8C58-1066A0AB1876}"/>
              </a:ext>
            </a:extLst>
          </p:cNvPr>
          <p:cNvSpPr/>
          <p:nvPr/>
        </p:nvSpPr>
        <p:spPr>
          <a:xfrm>
            <a:off x="3564304" y="2890823"/>
            <a:ext cx="1293940" cy="411677"/>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noProof="0" dirty="0">
                <a:solidFill>
                  <a:schemeClr val="tx1"/>
                </a:solidFill>
              </a:rPr>
              <a:t>- Internal</a:t>
            </a:r>
          </a:p>
          <a:p>
            <a:r>
              <a:rPr lang="en-US" sz="1050" noProof="0" dirty="0">
                <a:solidFill>
                  <a:schemeClr val="tx1"/>
                </a:solidFill>
              </a:rPr>
              <a:t>- External</a:t>
            </a:r>
          </a:p>
        </p:txBody>
      </p:sp>
      <p:cxnSp>
        <p:nvCxnSpPr>
          <p:cNvPr id="15" name="Connecteur : en angle 14">
            <a:extLst>
              <a:ext uri="{FF2B5EF4-FFF2-40B4-BE49-F238E27FC236}">
                <a16:creationId xmlns:a16="http://schemas.microsoft.com/office/drawing/2014/main" id="{913ACD54-471F-4B27-992F-A5F3D9BCD91A}"/>
              </a:ext>
            </a:extLst>
          </p:cNvPr>
          <p:cNvCxnSpPr>
            <a:endCxn id="11" idx="1"/>
          </p:cNvCxnSpPr>
          <p:nvPr/>
        </p:nvCxnSpPr>
        <p:spPr>
          <a:xfrm rot="16200000" flipH="1">
            <a:off x="1138054" y="2766916"/>
            <a:ext cx="369642" cy="2789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eur : en angle 15">
            <a:extLst>
              <a:ext uri="{FF2B5EF4-FFF2-40B4-BE49-F238E27FC236}">
                <a16:creationId xmlns:a16="http://schemas.microsoft.com/office/drawing/2014/main" id="{9003B054-F643-4CE5-BD1A-7E9E30BBC572}"/>
              </a:ext>
            </a:extLst>
          </p:cNvPr>
          <p:cNvCxnSpPr>
            <a:cxnSpLocks/>
            <a:endCxn id="13" idx="1"/>
          </p:cNvCxnSpPr>
          <p:nvPr/>
        </p:nvCxnSpPr>
        <p:spPr>
          <a:xfrm rot="16200000" flipH="1">
            <a:off x="3240166" y="2772524"/>
            <a:ext cx="369354" cy="2789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FC99718D-1E27-4A17-AE37-5285F5F1F68E}"/>
              </a:ext>
            </a:extLst>
          </p:cNvPr>
          <p:cNvCxnSpPr>
            <a:stCxn id="5" idx="3"/>
            <a:endCxn id="6" idx="1"/>
          </p:cNvCxnSpPr>
          <p:nvPr/>
        </p:nvCxnSpPr>
        <p:spPr>
          <a:xfrm>
            <a:off x="2741897" y="2405299"/>
            <a:ext cx="440756" cy="57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B01C2470-1BA1-4A6A-920E-4159C376699A}"/>
              </a:ext>
            </a:extLst>
          </p:cNvPr>
          <p:cNvCxnSpPr>
            <a:cxnSpLocks/>
            <a:stCxn id="6" idx="3"/>
            <a:endCxn id="7" idx="1"/>
          </p:cNvCxnSpPr>
          <p:nvPr/>
        </p:nvCxnSpPr>
        <p:spPr>
          <a:xfrm>
            <a:off x="4861115" y="2411051"/>
            <a:ext cx="435007"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F8713BAF-315E-4631-BBC9-44D2037A1DCE}"/>
              </a:ext>
            </a:extLst>
          </p:cNvPr>
          <p:cNvCxnSpPr>
            <a:cxnSpLocks/>
            <a:stCxn id="7" idx="3"/>
            <a:endCxn id="8" idx="1"/>
          </p:cNvCxnSpPr>
          <p:nvPr/>
        </p:nvCxnSpPr>
        <p:spPr>
          <a:xfrm flipV="1">
            <a:off x="6974584" y="2408175"/>
            <a:ext cx="406249" cy="28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AA5C286C-E37C-4B03-BB1B-A1DC81209192}"/>
              </a:ext>
            </a:extLst>
          </p:cNvPr>
          <p:cNvCxnSpPr>
            <a:cxnSpLocks/>
            <a:stCxn id="8" idx="3"/>
            <a:endCxn id="9" idx="1"/>
          </p:cNvCxnSpPr>
          <p:nvPr/>
        </p:nvCxnSpPr>
        <p:spPr>
          <a:xfrm>
            <a:off x="9059295" y="2408175"/>
            <a:ext cx="417755"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Rectangle : coins arrondis 29">
            <a:extLst>
              <a:ext uri="{FF2B5EF4-FFF2-40B4-BE49-F238E27FC236}">
                <a16:creationId xmlns:a16="http://schemas.microsoft.com/office/drawing/2014/main" id="{42A843EE-9A98-467D-9A13-7D118B76CDF6}"/>
              </a:ext>
            </a:extLst>
          </p:cNvPr>
          <p:cNvSpPr/>
          <p:nvPr/>
        </p:nvSpPr>
        <p:spPr>
          <a:xfrm>
            <a:off x="5683521" y="2890823"/>
            <a:ext cx="1293940" cy="411677"/>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noProof="0" dirty="0">
                <a:solidFill>
                  <a:schemeClr val="tx1"/>
                </a:solidFill>
              </a:rPr>
              <a:t>- Physical stock</a:t>
            </a:r>
          </a:p>
          <a:p>
            <a:r>
              <a:rPr lang="en-US" sz="1050" b="1" noProof="0" dirty="0">
                <a:solidFill>
                  <a:schemeClr val="tx1"/>
                </a:solidFill>
              </a:rPr>
              <a:t>- Future receipts</a:t>
            </a:r>
          </a:p>
        </p:txBody>
      </p:sp>
      <p:cxnSp>
        <p:nvCxnSpPr>
          <p:cNvPr id="31" name="Connecteur : en angle 30">
            <a:extLst>
              <a:ext uri="{FF2B5EF4-FFF2-40B4-BE49-F238E27FC236}">
                <a16:creationId xmlns:a16="http://schemas.microsoft.com/office/drawing/2014/main" id="{3F0AA4BB-B331-4420-AF7B-DB46AEEC1960}"/>
              </a:ext>
            </a:extLst>
          </p:cNvPr>
          <p:cNvCxnSpPr>
            <a:cxnSpLocks/>
            <a:endCxn id="30" idx="1"/>
          </p:cNvCxnSpPr>
          <p:nvPr/>
        </p:nvCxnSpPr>
        <p:spPr>
          <a:xfrm rot="16200000" flipH="1">
            <a:off x="5359382" y="2772523"/>
            <a:ext cx="369356" cy="2789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 coins arrondis 33">
            <a:extLst>
              <a:ext uri="{FF2B5EF4-FFF2-40B4-BE49-F238E27FC236}">
                <a16:creationId xmlns:a16="http://schemas.microsoft.com/office/drawing/2014/main" id="{AFEDABAF-7392-4FAB-B2A4-164B46BCA994}"/>
              </a:ext>
            </a:extLst>
          </p:cNvPr>
          <p:cNvSpPr/>
          <p:nvPr/>
        </p:nvSpPr>
        <p:spPr>
          <a:xfrm>
            <a:off x="1465990" y="3394284"/>
            <a:ext cx="1275907" cy="479413"/>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noProof="0" dirty="0">
                <a:solidFill>
                  <a:schemeClr val="tx1"/>
                </a:solidFill>
              </a:rPr>
              <a:t>Automatic Allocation Run</a:t>
            </a:r>
          </a:p>
        </p:txBody>
      </p:sp>
      <p:cxnSp>
        <p:nvCxnSpPr>
          <p:cNvPr id="35" name="Connecteur : en angle 34">
            <a:extLst>
              <a:ext uri="{FF2B5EF4-FFF2-40B4-BE49-F238E27FC236}">
                <a16:creationId xmlns:a16="http://schemas.microsoft.com/office/drawing/2014/main" id="{0E88816D-3D7E-4405-B37B-973F2305AA5D}"/>
              </a:ext>
            </a:extLst>
          </p:cNvPr>
          <p:cNvCxnSpPr>
            <a:cxnSpLocks/>
            <a:endCxn id="34" idx="1"/>
          </p:cNvCxnSpPr>
          <p:nvPr/>
        </p:nvCxnSpPr>
        <p:spPr>
          <a:xfrm rot="16200000" flipH="1">
            <a:off x="901762" y="3069763"/>
            <a:ext cx="845880" cy="282576"/>
          </a:xfrm>
          <a:prstGeom prst="bentConnector2">
            <a:avLst/>
          </a:prstGeom>
          <a:ln>
            <a:solidFill>
              <a:schemeClr val="accent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6FD6355D-AE57-CD81-548A-1910E70579F4}"/>
              </a:ext>
            </a:extLst>
          </p:cNvPr>
          <p:cNvCxnSpPr>
            <a:cxnSpLocks/>
            <a:stCxn id="34" idx="3"/>
            <a:endCxn id="8" idx="2"/>
          </p:cNvCxnSpPr>
          <p:nvPr/>
        </p:nvCxnSpPr>
        <p:spPr>
          <a:xfrm flipV="1">
            <a:off x="2741897" y="2724432"/>
            <a:ext cx="5478167" cy="909559"/>
          </a:xfrm>
          <a:prstGeom prst="bentConnector2">
            <a:avLst/>
          </a:prstGeom>
          <a:ln>
            <a:solidFill>
              <a:schemeClr val="accent5"/>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62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04395DA-67EF-4557-B501-4B27EEBAF4BE}"/>
              </a:ext>
            </a:extLst>
          </p:cNvPr>
          <p:cNvSpPr>
            <a:spLocks noGrp="1"/>
          </p:cNvSpPr>
          <p:nvPr>
            <p:ph type="title"/>
          </p:nvPr>
        </p:nvSpPr>
        <p:spPr/>
        <p:txBody>
          <a:bodyPr/>
          <a:lstStyle/>
          <a:p>
            <a:r>
              <a:rPr lang="en-US" noProof="0" dirty="0"/>
              <a:t>Summary</a:t>
            </a:r>
          </a:p>
        </p:txBody>
      </p:sp>
      <p:sp>
        <p:nvSpPr>
          <p:cNvPr id="4" name="Espace réservé du contenu 3">
            <a:extLst>
              <a:ext uri="{FF2B5EF4-FFF2-40B4-BE49-F238E27FC236}">
                <a16:creationId xmlns:a16="http://schemas.microsoft.com/office/drawing/2014/main" id="{F39F46B5-6553-4CCC-84DE-31FE7E332499}"/>
              </a:ext>
            </a:extLst>
          </p:cNvPr>
          <p:cNvSpPr>
            <a:spLocks noGrp="1"/>
          </p:cNvSpPr>
          <p:nvPr>
            <p:ph sz="quarter" idx="11"/>
          </p:nvPr>
        </p:nvSpPr>
        <p:spPr/>
        <p:txBody>
          <a:bodyPr/>
          <a:lstStyle/>
          <a:p>
            <a:r>
              <a:rPr lang="en-US" noProof="0" dirty="0"/>
              <a:t>Introduction</a:t>
            </a:r>
          </a:p>
          <a:p>
            <a:pPr marL="342900" indent="-342900">
              <a:buFont typeface="+mj-lt"/>
              <a:buAutoNum type="arabicPeriod"/>
            </a:pPr>
            <a:r>
              <a:rPr lang="en-US" noProof="0" dirty="0">
                <a:hlinkClick r:id="rId2" action="ppaction://hlinksldjump">
                  <a:extLst>
                    <a:ext uri="{A12FA001-AC4F-418D-AE19-62706E023703}">
                      <ahyp:hlinkClr xmlns:ahyp="http://schemas.microsoft.com/office/drawing/2018/hyperlinkcolor" val="tx"/>
                    </a:ext>
                  </a:extLst>
                </a:hlinkClick>
              </a:rPr>
              <a:t>Allocation Run Process Flow</a:t>
            </a:r>
            <a:endParaRPr lang="en-US" noProof="0" dirty="0"/>
          </a:p>
          <a:p>
            <a:pPr marL="342900" indent="-342900">
              <a:buFont typeface="+mj-lt"/>
              <a:buAutoNum type="arabicPeriod"/>
            </a:pPr>
            <a:r>
              <a:rPr lang="en-US" noProof="0" dirty="0">
                <a:hlinkClick r:id="rId3" action="ppaction://hlinksldjump">
                  <a:extLst>
                    <a:ext uri="{A12FA001-AC4F-418D-AE19-62706E023703}">
                      <ahyp:hlinkClr xmlns:ahyp="http://schemas.microsoft.com/office/drawing/2018/hyperlinkcolor" val="tx"/>
                    </a:ext>
                  </a:extLst>
                </a:hlinkClick>
              </a:rPr>
              <a:t>Requirements Selection</a:t>
            </a:r>
            <a:endParaRPr lang="en-US" noProof="0" dirty="0"/>
          </a:p>
          <a:p>
            <a:pPr marL="342900" indent="-342900">
              <a:buFont typeface="+mj-lt"/>
              <a:buAutoNum type="arabicPeriod"/>
            </a:pPr>
            <a:r>
              <a:rPr lang="en-US" noProof="0" dirty="0">
                <a:hlinkClick r:id="rId4" action="ppaction://hlinksldjump">
                  <a:extLst>
                    <a:ext uri="{A12FA001-AC4F-418D-AE19-62706E023703}">
                      <ahyp:hlinkClr xmlns:ahyp="http://schemas.microsoft.com/office/drawing/2018/hyperlinkcolor" val="tx"/>
                    </a:ext>
                  </a:extLst>
                </a:hlinkClick>
              </a:rPr>
              <a:t>Requirements Filter</a:t>
            </a:r>
            <a:endParaRPr lang="en-US" noProof="0" dirty="0"/>
          </a:p>
          <a:p>
            <a:pPr marL="342900" indent="-342900">
              <a:buFont typeface="+mj-lt"/>
              <a:buAutoNum type="arabicPeriod"/>
            </a:pPr>
            <a:r>
              <a:rPr lang="en-US" noProof="0" dirty="0">
                <a:hlinkClick r:id="rId5" action="ppaction://hlinksldjump">
                  <a:extLst>
                    <a:ext uri="{A12FA001-AC4F-418D-AE19-62706E023703}">
                      <ahyp:hlinkClr xmlns:ahyp="http://schemas.microsoft.com/office/drawing/2018/hyperlinkcolor" val="tx"/>
                    </a:ext>
                  </a:extLst>
                </a:hlinkClick>
              </a:rPr>
              <a:t>Stock Selection</a:t>
            </a:r>
            <a:endParaRPr lang="en-US" noProof="0" dirty="0"/>
          </a:p>
          <a:p>
            <a:pPr marL="342900" indent="-342900">
              <a:buFont typeface="+mj-lt"/>
              <a:buAutoNum type="arabicPeriod"/>
            </a:pPr>
            <a:r>
              <a:rPr lang="en-US" noProof="0" dirty="0">
                <a:hlinkClick r:id="rId6" action="ppaction://hlinksldjump">
                  <a:extLst>
                    <a:ext uri="{A12FA001-AC4F-418D-AE19-62706E023703}">
                      <ahyp:hlinkClr xmlns:ahyp="http://schemas.microsoft.com/office/drawing/2018/hyperlinkcolor" val="tx"/>
                    </a:ext>
                  </a:extLst>
                </a:hlinkClick>
              </a:rPr>
              <a:t>Requirements Sorting</a:t>
            </a:r>
            <a:endParaRPr lang="en-US" noProof="0" dirty="0"/>
          </a:p>
          <a:p>
            <a:pPr marL="342900" indent="-342900">
              <a:buFont typeface="+mj-lt"/>
              <a:buAutoNum type="arabicPeriod"/>
            </a:pPr>
            <a:r>
              <a:rPr lang="en-US" noProof="0" dirty="0">
                <a:hlinkClick r:id="rId5" action="ppaction://hlinksldjump">
                  <a:extLst>
                    <a:ext uri="{A12FA001-AC4F-418D-AE19-62706E023703}">
                      <ahyp:hlinkClr xmlns:ahyp="http://schemas.microsoft.com/office/drawing/2018/hyperlinkcolor" val="tx"/>
                    </a:ext>
                  </a:extLst>
                </a:hlinkClick>
              </a:rPr>
              <a:t>Stock Sorting</a:t>
            </a:r>
            <a:endParaRPr lang="en-US" noProof="0" dirty="0"/>
          </a:p>
          <a:p>
            <a:pPr marL="342900" indent="-342900">
              <a:buFont typeface="+mj-lt"/>
              <a:buAutoNum type="arabicPeriod"/>
            </a:pPr>
            <a:r>
              <a:rPr lang="en-US" noProof="0" dirty="0">
                <a:hlinkClick r:id="rId7" action="ppaction://hlinksldjump">
                  <a:extLst>
                    <a:ext uri="{A12FA001-AC4F-418D-AE19-62706E023703}">
                      <ahyp:hlinkClr xmlns:ahyp="http://schemas.microsoft.com/office/drawing/2018/hyperlinkcolor" val="tx"/>
                    </a:ext>
                  </a:extLst>
                </a:hlinkClick>
              </a:rPr>
              <a:t>Stock/Requirements Allocation Rules</a:t>
            </a:r>
            <a:endParaRPr lang="en-US" noProof="0" dirty="0"/>
          </a:p>
          <a:p>
            <a:pPr marL="342900" indent="-342900">
              <a:buFont typeface="+mj-lt"/>
              <a:buAutoNum type="arabicPeriod"/>
            </a:pPr>
            <a:r>
              <a:rPr lang="en-US" noProof="0" dirty="0">
                <a:hlinkClick r:id="rId8" action="ppaction://hlinksldjump">
                  <a:extLst>
                    <a:ext uri="{A12FA001-AC4F-418D-AE19-62706E023703}">
                      <ahyp:hlinkClr xmlns:ahyp="http://schemas.microsoft.com/office/drawing/2018/hyperlinkcolor" val="tx"/>
                    </a:ext>
                  </a:extLst>
                </a:hlinkClick>
              </a:rPr>
              <a:t>Release Rules</a:t>
            </a:r>
            <a:endParaRPr lang="en-US" noProof="0" dirty="0"/>
          </a:p>
          <a:p>
            <a:pPr marL="342900" indent="-342900">
              <a:buFont typeface="+mj-lt"/>
              <a:buAutoNum type="arabicPeriod"/>
            </a:pPr>
            <a:r>
              <a:rPr lang="en-US" noProof="0" dirty="0" err="1">
                <a:hlinkClick r:id="rId9" action="ppaction://hlinksldjump">
                  <a:extLst>
                    <a:ext uri="{A12FA001-AC4F-418D-AE19-62706E023703}">
                      <ahyp:hlinkClr xmlns:ahyp="http://schemas.microsoft.com/office/drawing/2018/hyperlinkcolor" val="tx"/>
                    </a:ext>
                  </a:extLst>
                </a:hlinkClick>
              </a:rPr>
              <a:t>ARun</a:t>
            </a:r>
            <a:r>
              <a:rPr lang="en-US" noProof="0" dirty="0">
                <a:hlinkClick r:id="rId9" action="ppaction://hlinksldjump">
                  <a:extLst>
                    <a:ext uri="{A12FA001-AC4F-418D-AE19-62706E023703}">
                      <ahyp:hlinkClr xmlns:ahyp="http://schemas.microsoft.com/office/drawing/2018/hyperlinkcolor" val="tx"/>
                    </a:ext>
                  </a:extLst>
                </a:hlinkClick>
              </a:rPr>
              <a:t> Jobs</a:t>
            </a:r>
            <a:endParaRPr lang="en-US" noProof="0" dirty="0"/>
          </a:p>
          <a:p>
            <a:pPr marL="342900" indent="-342900">
              <a:buFont typeface="+mj-lt"/>
              <a:buAutoNum type="arabicPeriod"/>
            </a:pPr>
            <a:r>
              <a:rPr lang="en-US" noProof="0" dirty="0">
                <a:hlinkClick r:id="rId10" action="ppaction://hlinksldjump">
                  <a:extLst>
                    <a:ext uri="{A12FA001-AC4F-418D-AE19-62706E023703}">
                      <ahyp:hlinkClr xmlns:ahyp="http://schemas.microsoft.com/office/drawing/2018/hyperlinkcolor" val="tx"/>
                    </a:ext>
                  </a:extLst>
                </a:hlinkClick>
              </a:rPr>
              <a:t>Deallocation Rules</a:t>
            </a:r>
            <a:endParaRPr lang="en-US" noProof="0" dirty="0"/>
          </a:p>
          <a:p>
            <a:pPr marL="342900" indent="-342900">
              <a:buFont typeface="+mj-lt"/>
              <a:buAutoNum type="arabicPeriod"/>
            </a:pPr>
            <a:r>
              <a:rPr lang="en-US" noProof="0" dirty="0">
                <a:hlinkClick r:id="rId11" action="ppaction://hlinksldjump">
                  <a:extLst>
                    <a:ext uri="{A12FA001-AC4F-418D-AE19-62706E023703}">
                      <ahyp:hlinkClr xmlns:ahyp="http://schemas.microsoft.com/office/drawing/2018/hyperlinkcolor" val="tx"/>
                    </a:ext>
                  </a:extLst>
                </a:hlinkClick>
              </a:rPr>
              <a:t>Reporting: SAP &amp; BI</a:t>
            </a:r>
            <a:endParaRPr lang="en-US" noProof="0" dirty="0"/>
          </a:p>
          <a:p>
            <a:pPr marL="342900" indent="-342900">
              <a:buFont typeface="+mj-lt"/>
              <a:buAutoNum type="arabicPeriod"/>
            </a:pPr>
            <a:r>
              <a:rPr lang="en-US" noProof="0" dirty="0">
                <a:hlinkClick r:id="rId12" action="ppaction://hlinksldjump">
                  <a:extLst>
                    <a:ext uri="{A12FA001-AC4F-418D-AE19-62706E023703}">
                      <ahyp:hlinkClr xmlns:ahyp="http://schemas.microsoft.com/office/drawing/2018/hyperlinkcolor" val="tx"/>
                    </a:ext>
                  </a:extLst>
                </a:hlinkClick>
              </a:rPr>
              <a:t>Other future enhancements</a:t>
            </a:r>
            <a:endParaRPr lang="en-US" noProof="0" dirty="0"/>
          </a:p>
          <a:p>
            <a:pPr marL="342900" indent="-342900">
              <a:buFont typeface="+mj-lt"/>
              <a:buAutoNum type="arabicPeriod"/>
            </a:pPr>
            <a:r>
              <a:rPr lang="en-US" noProof="0" dirty="0">
                <a:hlinkClick r:id="rId13" action="ppaction://hlinksldjump">
                  <a:extLst>
                    <a:ext uri="{A12FA001-AC4F-418D-AE19-62706E023703}">
                      <ahyp:hlinkClr xmlns:ahyp="http://schemas.microsoft.com/office/drawing/2018/hyperlinkcolor" val="tx"/>
                    </a:ext>
                  </a:extLst>
                </a:hlinkClick>
              </a:rPr>
              <a:t>Open questions</a:t>
            </a:r>
            <a:endParaRPr lang="en-US" noProof="0" dirty="0"/>
          </a:p>
          <a:p>
            <a:r>
              <a:rPr lang="en-US" dirty="0">
                <a:hlinkClick r:id="rId14" action="ppaction://hlinksldjump">
                  <a:extLst>
                    <a:ext uri="{A12FA001-AC4F-418D-AE19-62706E023703}">
                      <ahyp:hlinkClr xmlns:ahyp="http://schemas.microsoft.com/office/drawing/2018/hyperlinkcolor" val="tx"/>
                    </a:ext>
                  </a:extLst>
                </a:hlinkClick>
              </a:rPr>
              <a:t>Appendix</a:t>
            </a:r>
            <a:endParaRPr lang="en-US" noProof="0" dirty="0"/>
          </a:p>
          <a:p>
            <a:endParaRPr lang="en-US" noProof="0" dirty="0"/>
          </a:p>
          <a:p>
            <a:endParaRPr lang="en-US" noProof="0" dirty="0"/>
          </a:p>
        </p:txBody>
      </p:sp>
    </p:spTree>
    <p:extLst>
      <p:ext uri="{BB962C8B-B14F-4D97-AF65-F5344CB8AC3E}">
        <p14:creationId xmlns:p14="http://schemas.microsoft.com/office/powerpoint/2010/main" val="45287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a:pPr>
            <a:r>
              <a:rPr lang="en-US" noProof="0" dirty="0"/>
              <a:t>Allocation Run Process Flow</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Tree>
    <p:extLst>
      <p:ext uri="{BB962C8B-B14F-4D97-AF65-F5344CB8AC3E}">
        <p14:creationId xmlns:p14="http://schemas.microsoft.com/office/powerpoint/2010/main" val="3165704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BABA9-1880-33E5-0BE8-B2E6C90BFCAF}"/>
            </a:ext>
          </a:extLst>
        </p:cNvPr>
        <p:cNvGrpSpPr/>
        <p:nvPr/>
      </p:nvGrpSpPr>
      <p:grpSpPr>
        <a:xfrm>
          <a:off x="0" y="0"/>
          <a:ext cx="0" cy="0"/>
          <a:chOff x="0" y="0"/>
          <a:chExt cx="0" cy="0"/>
        </a:xfrm>
      </p:grpSpPr>
      <p:sp>
        <p:nvSpPr>
          <p:cNvPr id="7" name="Espace réservé du contenu 3">
            <a:extLst>
              <a:ext uri="{FF2B5EF4-FFF2-40B4-BE49-F238E27FC236}">
                <a16:creationId xmlns:a16="http://schemas.microsoft.com/office/drawing/2014/main" id="{681BBF4A-8DF8-6FB7-036F-C7020F13018C}"/>
              </a:ext>
            </a:extLst>
          </p:cNvPr>
          <p:cNvSpPr>
            <a:spLocks noGrp="1"/>
          </p:cNvSpPr>
          <p:nvPr>
            <p:ph sz="quarter" idx="11"/>
          </p:nvPr>
        </p:nvSpPr>
        <p:spPr>
          <a:xfrm>
            <a:off x="838200" y="1102180"/>
            <a:ext cx="10515600" cy="4782928"/>
          </a:xfrm>
        </p:spPr>
        <p:txBody>
          <a:bodyPr/>
          <a:lstStyle/>
          <a:p>
            <a:r>
              <a:rPr lang="en-US" noProof="0" dirty="0"/>
              <a:t>Automatic Allocation Run is executed on “Rush Orders” when they are saved and </a:t>
            </a:r>
            <a:r>
              <a:rPr lang="en-US" u="sng" noProof="0" dirty="0"/>
              <a:t>only on Physical stock</a:t>
            </a:r>
            <a:r>
              <a:rPr lang="en-US" noProof="0" dirty="0"/>
              <a:t>:</a:t>
            </a:r>
          </a:p>
          <a:p>
            <a:endParaRPr lang="en-US" noProof="0" dirty="0"/>
          </a:p>
          <a:p>
            <a:endParaRPr lang="en-US" noProof="0" dirty="0"/>
          </a:p>
          <a:p>
            <a:endParaRPr lang="en-US" noProof="0" dirty="0"/>
          </a:p>
          <a:p>
            <a:endParaRPr lang="en-US" noProof="0" dirty="0"/>
          </a:p>
          <a:p>
            <a:r>
              <a:rPr lang="en-US" noProof="0" dirty="0"/>
              <a:t>Automatic Allocation Run is executed on “Consignment Issue and Return Orders” when they are saved and </a:t>
            </a:r>
            <a:r>
              <a:rPr lang="en-US" u="sng" noProof="0" dirty="0"/>
              <a:t>only on Customer stock</a:t>
            </a:r>
            <a:r>
              <a:rPr lang="en-US" noProof="0" dirty="0"/>
              <a:t>:</a:t>
            </a:r>
          </a:p>
          <a:p>
            <a:endParaRPr lang="en-US" noProof="0" dirty="0"/>
          </a:p>
          <a:p>
            <a:endParaRPr lang="en-US" noProof="0" dirty="0"/>
          </a:p>
          <a:p>
            <a:endParaRPr lang="en-US" noProof="0" dirty="0"/>
          </a:p>
          <a:p>
            <a:endParaRPr lang="en-US" noProof="0" dirty="0"/>
          </a:p>
          <a:p>
            <a:r>
              <a:rPr lang="en-US" b="1" noProof="0" dirty="0"/>
              <a:t>Future Receipts are not relevant for those Automatic Allocation Runs.</a:t>
            </a:r>
          </a:p>
        </p:txBody>
      </p:sp>
      <p:graphicFrame>
        <p:nvGraphicFramePr>
          <p:cNvPr id="8" name="Tableau 7">
            <a:extLst>
              <a:ext uri="{FF2B5EF4-FFF2-40B4-BE49-F238E27FC236}">
                <a16:creationId xmlns:a16="http://schemas.microsoft.com/office/drawing/2014/main" id="{6D876AB5-5B1D-98E2-EC80-BD93C1BC30ED}"/>
              </a:ext>
            </a:extLst>
          </p:cNvPr>
          <p:cNvGraphicFramePr>
            <a:graphicFrameLocks noGrp="1"/>
          </p:cNvGraphicFramePr>
          <p:nvPr>
            <p:extLst>
              <p:ext uri="{D42A27DB-BD31-4B8C-83A1-F6EECF244321}">
                <p14:modId xmlns:p14="http://schemas.microsoft.com/office/powerpoint/2010/main" val="1011660230"/>
              </p:ext>
            </p:extLst>
          </p:nvPr>
        </p:nvGraphicFramePr>
        <p:xfrm>
          <a:off x="1281861" y="1618087"/>
          <a:ext cx="2451100" cy="762000"/>
        </p:xfrm>
        <a:graphic>
          <a:graphicData uri="http://schemas.openxmlformats.org/drawingml/2006/table">
            <a:tbl>
              <a:tblPr/>
              <a:tblGrid>
                <a:gridCol w="940538">
                  <a:extLst>
                    <a:ext uri="{9D8B030D-6E8A-4147-A177-3AD203B41FA5}">
                      <a16:colId xmlns:a16="http://schemas.microsoft.com/office/drawing/2014/main" val="612516107"/>
                    </a:ext>
                  </a:extLst>
                </a:gridCol>
                <a:gridCol w="1510562">
                  <a:extLst>
                    <a:ext uri="{9D8B030D-6E8A-4147-A177-3AD203B41FA5}">
                      <a16:colId xmlns:a16="http://schemas.microsoft.com/office/drawing/2014/main" val="2746712778"/>
                    </a:ext>
                  </a:extLst>
                </a:gridCol>
              </a:tblGrid>
              <a:tr h="152400">
                <a:tc>
                  <a:txBody>
                    <a:bodyPr/>
                    <a:lstStyle/>
                    <a:p>
                      <a:pPr algn="l" fontAlgn="b"/>
                      <a:r>
                        <a:rPr lang="en-US" sz="900" b="0" i="0" u="none" strike="noStrike" noProof="0" dirty="0">
                          <a:solidFill>
                            <a:srgbClr val="000000"/>
                          </a:solidFill>
                          <a:effectLst/>
                          <a:latin typeface="Calibri" panose="020F0502020204030204" pitchFamily="34" charset="0"/>
                        </a:rPr>
                        <a:t>Sales order type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900" b="0" i="0" u="none" strike="noStrike" noProof="0" dirty="0">
                          <a:solidFill>
                            <a:srgbClr val="000000"/>
                          </a:solidFill>
                          <a:effectLst/>
                          <a:latin typeface="Calibri" panose="020F0502020204030204" pitchFamily="34" charset="0"/>
                        </a:rPr>
                        <a:t>Description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770747612"/>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ZEEC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E-commerce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0019564"/>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ZICR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Inter Com Rush Order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3196026"/>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ZRO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Rush order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7140027"/>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ZWTY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Warranty Replacement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6617474"/>
                  </a:ext>
                </a:extLst>
              </a:tr>
            </a:tbl>
          </a:graphicData>
        </a:graphic>
      </p:graphicFrame>
      <p:graphicFrame>
        <p:nvGraphicFramePr>
          <p:cNvPr id="9" name="Tableau 8">
            <a:extLst>
              <a:ext uri="{FF2B5EF4-FFF2-40B4-BE49-F238E27FC236}">
                <a16:creationId xmlns:a16="http://schemas.microsoft.com/office/drawing/2014/main" id="{7A4776F7-A4CF-BA2A-F28D-593006AD2DD9}"/>
              </a:ext>
            </a:extLst>
          </p:cNvPr>
          <p:cNvGraphicFramePr>
            <a:graphicFrameLocks noGrp="1"/>
          </p:cNvGraphicFramePr>
          <p:nvPr>
            <p:extLst>
              <p:ext uri="{D42A27DB-BD31-4B8C-83A1-F6EECF244321}">
                <p14:modId xmlns:p14="http://schemas.microsoft.com/office/powerpoint/2010/main" val="1999454022"/>
              </p:ext>
            </p:extLst>
          </p:nvPr>
        </p:nvGraphicFramePr>
        <p:xfrm>
          <a:off x="1273239" y="3366367"/>
          <a:ext cx="2451100" cy="457200"/>
        </p:xfrm>
        <a:graphic>
          <a:graphicData uri="http://schemas.openxmlformats.org/drawingml/2006/table">
            <a:tbl>
              <a:tblPr/>
              <a:tblGrid>
                <a:gridCol w="940538">
                  <a:extLst>
                    <a:ext uri="{9D8B030D-6E8A-4147-A177-3AD203B41FA5}">
                      <a16:colId xmlns:a16="http://schemas.microsoft.com/office/drawing/2014/main" val="1264056949"/>
                    </a:ext>
                  </a:extLst>
                </a:gridCol>
                <a:gridCol w="1510562">
                  <a:extLst>
                    <a:ext uri="{9D8B030D-6E8A-4147-A177-3AD203B41FA5}">
                      <a16:colId xmlns:a16="http://schemas.microsoft.com/office/drawing/2014/main" val="1437493739"/>
                    </a:ext>
                  </a:extLst>
                </a:gridCol>
              </a:tblGrid>
              <a:tr h="152400">
                <a:tc>
                  <a:txBody>
                    <a:bodyPr/>
                    <a:lstStyle/>
                    <a:p>
                      <a:pPr algn="l" fontAlgn="b"/>
                      <a:r>
                        <a:rPr lang="en-US" sz="900" b="0" i="0" u="none" strike="noStrike" noProof="0" dirty="0">
                          <a:solidFill>
                            <a:srgbClr val="000000"/>
                          </a:solidFill>
                          <a:effectLst/>
                          <a:latin typeface="Calibri" panose="020F0502020204030204" pitchFamily="34" charset="0"/>
                        </a:rPr>
                        <a:t>Sales order type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900" b="0" i="0" u="none" strike="noStrike" noProof="0" dirty="0">
                          <a:solidFill>
                            <a:srgbClr val="000000"/>
                          </a:solidFill>
                          <a:effectLst/>
                          <a:latin typeface="Calibri" panose="020F0502020204030204" pitchFamily="34" charset="0"/>
                        </a:rPr>
                        <a:t>Description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675637956"/>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ZKA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 Pick-up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3715657"/>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ZKE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 Inv Issue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6958895"/>
                  </a:ext>
                </a:extLst>
              </a:tr>
            </a:tbl>
          </a:graphicData>
        </a:graphic>
      </p:graphicFrame>
      <p:sp>
        <p:nvSpPr>
          <p:cNvPr id="12" name="Titre 2">
            <a:extLst>
              <a:ext uri="{FF2B5EF4-FFF2-40B4-BE49-F238E27FC236}">
                <a16:creationId xmlns:a16="http://schemas.microsoft.com/office/drawing/2014/main" id="{FE01B231-3CAD-9879-37B1-F60F72D188D6}"/>
              </a:ext>
            </a:extLst>
          </p:cNvPr>
          <p:cNvSpPr>
            <a:spLocks noGrp="1"/>
          </p:cNvSpPr>
          <p:nvPr>
            <p:ph type="title"/>
          </p:nvPr>
        </p:nvSpPr>
        <p:spPr>
          <a:xfrm>
            <a:off x="838200" y="307981"/>
            <a:ext cx="10515600" cy="459468"/>
          </a:xfrm>
        </p:spPr>
        <p:txBody>
          <a:bodyPr/>
          <a:lstStyle/>
          <a:p>
            <a:pPr marL="457200" indent="-457200">
              <a:buFont typeface="+mj-lt"/>
              <a:buAutoNum type="arabicPeriod"/>
            </a:pPr>
            <a:r>
              <a:rPr lang="en-US" noProof="0" dirty="0"/>
              <a:t>Allocation Run Process Flow</a:t>
            </a:r>
          </a:p>
        </p:txBody>
      </p:sp>
    </p:spTree>
    <p:extLst>
      <p:ext uri="{BB962C8B-B14F-4D97-AF65-F5344CB8AC3E}">
        <p14:creationId xmlns:p14="http://schemas.microsoft.com/office/powerpoint/2010/main" val="3869433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2"/>
            </a:pPr>
            <a:r>
              <a:rPr lang="en-US" noProof="0" dirty="0"/>
              <a:t>Requirements Selection</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5" name="Rectangle : coins arrondis 4">
            <a:extLst>
              <a:ext uri="{FF2B5EF4-FFF2-40B4-BE49-F238E27FC236}">
                <a16:creationId xmlns:a16="http://schemas.microsoft.com/office/drawing/2014/main" id="{B027F4A1-611A-4922-A3BF-853125F1ACF1}"/>
              </a:ext>
            </a:extLst>
          </p:cNvPr>
          <p:cNvSpPr/>
          <p:nvPr/>
        </p:nvSpPr>
        <p:spPr>
          <a:xfrm>
            <a:off x="1915598" y="830630"/>
            <a:ext cx="2358169" cy="679959"/>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7870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A673A7F-2170-4FBC-9655-3E86E984D865}"/>
              </a:ext>
            </a:extLst>
          </p:cNvPr>
          <p:cNvSpPr>
            <a:spLocks noGrp="1"/>
          </p:cNvSpPr>
          <p:nvPr>
            <p:ph type="title"/>
          </p:nvPr>
        </p:nvSpPr>
        <p:spPr/>
        <p:txBody>
          <a:bodyPr/>
          <a:lstStyle/>
          <a:p>
            <a:pPr marL="457200" indent="-457200">
              <a:buFont typeface="+mj-lt"/>
              <a:buAutoNum type="arabicPeriod" startAt="2"/>
            </a:pPr>
            <a:r>
              <a:rPr lang="en-US" noProof="0" dirty="0"/>
              <a:t>Requirements Selection</a:t>
            </a:r>
          </a:p>
        </p:txBody>
      </p:sp>
      <p:sp>
        <p:nvSpPr>
          <p:cNvPr id="4" name="Espace réservé du contenu 3">
            <a:extLst>
              <a:ext uri="{FF2B5EF4-FFF2-40B4-BE49-F238E27FC236}">
                <a16:creationId xmlns:a16="http://schemas.microsoft.com/office/drawing/2014/main" id="{C368B603-523A-43BE-9836-B981D8E23737}"/>
              </a:ext>
            </a:extLst>
          </p:cNvPr>
          <p:cNvSpPr>
            <a:spLocks noGrp="1"/>
          </p:cNvSpPr>
          <p:nvPr>
            <p:ph sz="quarter" idx="11"/>
          </p:nvPr>
        </p:nvSpPr>
        <p:spPr>
          <a:xfrm>
            <a:off x="838200" y="1102180"/>
            <a:ext cx="10515600" cy="4927684"/>
          </a:xfrm>
        </p:spPr>
        <p:txBody>
          <a:bodyPr/>
          <a:lstStyle/>
          <a:p>
            <a:r>
              <a:rPr lang="en-US" noProof="0" dirty="0"/>
              <a:t>Global requirements selection is done according to the origin of the requirements records.</a:t>
            </a:r>
          </a:p>
          <a:p>
            <a:endParaRPr lang="en-US" noProof="0" dirty="0"/>
          </a:p>
          <a:p>
            <a:r>
              <a:rPr lang="en-US" noProof="0" dirty="0"/>
              <a:t>Allocation Run can then only access to</a:t>
            </a:r>
            <a:r>
              <a:rPr lang="en-US" b="1" noProof="0" dirty="0"/>
              <a:t> </a:t>
            </a:r>
            <a:r>
              <a:rPr lang="en-US" noProof="0" dirty="0"/>
              <a:t>Sales Orders and Contracts.</a:t>
            </a:r>
          </a:p>
          <a:p>
            <a:endParaRPr lang="en-US" b="1" noProof="0" dirty="0"/>
          </a:p>
          <a:p>
            <a:r>
              <a:rPr lang="en-US" u="sng" noProof="0" dirty="0"/>
              <a:t>Credit/Debit notes and Returns are automatically excluded </a:t>
            </a:r>
            <a:r>
              <a:rPr lang="en-US" noProof="0" dirty="0"/>
              <a:t>from the Allocation Run.</a:t>
            </a:r>
          </a:p>
          <a:p>
            <a:endParaRPr lang="en-US" noProof="0" dirty="0"/>
          </a:p>
          <a:p>
            <a:r>
              <a:rPr lang="en-US" u="sng" noProof="0" dirty="0"/>
              <a:t>MTO/PTO sales orders can be excluded </a:t>
            </a:r>
            <a:r>
              <a:rPr lang="en-US" noProof="0" dirty="0"/>
              <a:t>from the Allocation Run.</a:t>
            </a:r>
          </a:p>
          <a:p>
            <a:endParaRPr lang="en-US" b="1" noProof="0" dirty="0"/>
          </a:p>
          <a:p>
            <a:endParaRPr lang="en-US" noProof="0" dirty="0"/>
          </a:p>
          <a:p>
            <a:r>
              <a:rPr lang="en-US" noProof="0" dirty="0"/>
              <a:t>BOARDRIDERS’ </a:t>
            </a:r>
            <a:r>
              <a:rPr lang="en-US" b="1" noProof="0" dirty="0"/>
              <a:t>allocation only runs on Sales Orders and Contracts</a:t>
            </a:r>
            <a:r>
              <a:rPr lang="en-US" noProof="0" dirty="0"/>
              <a:t>.</a:t>
            </a:r>
          </a:p>
        </p:txBody>
      </p:sp>
    </p:spTree>
    <p:extLst>
      <p:ext uri="{BB962C8B-B14F-4D97-AF65-F5344CB8AC3E}">
        <p14:creationId xmlns:p14="http://schemas.microsoft.com/office/powerpoint/2010/main" val="142967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A673A7F-2170-4FBC-9655-3E86E984D865}"/>
              </a:ext>
            </a:extLst>
          </p:cNvPr>
          <p:cNvSpPr>
            <a:spLocks noGrp="1"/>
          </p:cNvSpPr>
          <p:nvPr>
            <p:ph type="title"/>
          </p:nvPr>
        </p:nvSpPr>
        <p:spPr/>
        <p:txBody>
          <a:bodyPr/>
          <a:lstStyle/>
          <a:p>
            <a:pPr marL="457200" indent="-457200">
              <a:buFont typeface="+mj-lt"/>
              <a:buAutoNum type="arabicPeriod" startAt="2"/>
            </a:pPr>
            <a:r>
              <a:rPr lang="en-US" noProof="0" dirty="0"/>
              <a:t>Requirements Customized Selection</a:t>
            </a:r>
          </a:p>
        </p:txBody>
      </p:sp>
      <p:sp>
        <p:nvSpPr>
          <p:cNvPr id="4" name="Espace réservé du contenu 3">
            <a:extLst>
              <a:ext uri="{FF2B5EF4-FFF2-40B4-BE49-F238E27FC236}">
                <a16:creationId xmlns:a16="http://schemas.microsoft.com/office/drawing/2014/main" id="{C368B603-523A-43BE-9836-B981D8E23737}"/>
              </a:ext>
            </a:extLst>
          </p:cNvPr>
          <p:cNvSpPr>
            <a:spLocks noGrp="1"/>
          </p:cNvSpPr>
          <p:nvPr>
            <p:ph sz="quarter" idx="11"/>
          </p:nvPr>
        </p:nvSpPr>
        <p:spPr/>
        <p:txBody>
          <a:bodyPr/>
          <a:lstStyle/>
          <a:p>
            <a:r>
              <a:rPr lang="en-US" noProof="0" dirty="0"/>
              <a:t>Each Allocation Run can have its own requirements selection criteria. We then create Allocation sets accordingly which will run separately.</a:t>
            </a:r>
          </a:p>
          <a:p>
            <a:endParaRPr lang="en-US" noProof="0" dirty="0"/>
          </a:p>
          <a:p>
            <a:endParaRPr lang="en-US" b="1" noProof="0" dirty="0"/>
          </a:p>
          <a:p>
            <a:r>
              <a:rPr lang="en-US" u="sng" noProof="0" dirty="0"/>
              <a:t>EMEA Common selection criteria</a:t>
            </a:r>
            <a:r>
              <a:rPr lang="en-US" noProof="0" dirty="0"/>
              <a:t>:</a:t>
            </a:r>
          </a:p>
          <a:p>
            <a:endParaRPr lang="en-US" b="1" noProof="0" dirty="0"/>
          </a:p>
          <a:p>
            <a:r>
              <a:rPr lang="en-US" b="1" noProof="0" dirty="0"/>
              <a:t>Sales Order criteria:	Sales Organization = </a:t>
            </a:r>
            <a:r>
              <a:rPr lang="en-US" noProof="0" dirty="0"/>
              <a:t>2*</a:t>
            </a:r>
          </a:p>
          <a:p>
            <a:r>
              <a:rPr lang="en-US" b="1" noProof="0" dirty="0"/>
              <a:t>			Header Delivery block: </a:t>
            </a:r>
            <a:r>
              <a:rPr lang="en-US" noProof="0" dirty="0"/>
              <a:t>Exclusion of 01 to 30, 33, 34 or 40.</a:t>
            </a:r>
          </a:p>
          <a:p>
            <a:pPr algn="just"/>
            <a:r>
              <a:rPr lang="en-US" b="1" noProof="0" dirty="0"/>
              <a:t>			Item Season indicator: </a:t>
            </a:r>
            <a:r>
              <a:rPr lang="en-US" noProof="0" dirty="0"/>
              <a:t>Exclusion of “future seasons” range</a:t>
            </a:r>
          </a:p>
          <a:p>
            <a:pPr algn="just"/>
            <a:r>
              <a:rPr lang="en-US" noProof="0" dirty="0"/>
              <a:t>					        (i.e. 213 exclusion of range 214 to 999.)</a:t>
            </a:r>
          </a:p>
          <a:p>
            <a:pPr marL="5108575" algn="just"/>
            <a:r>
              <a:rPr lang="en-US" noProof="0" dirty="0"/>
              <a:t>Season indicators starting with a letter are not excluded.</a:t>
            </a:r>
          </a:p>
          <a:p>
            <a:pPr algn="just"/>
            <a:endParaRPr lang="en-US" noProof="0" dirty="0"/>
          </a:p>
          <a:p>
            <a:r>
              <a:rPr lang="en-US" b="1" noProof="0" dirty="0"/>
              <a:t>Stock criteria:</a:t>
            </a:r>
            <a:r>
              <a:rPr lang="en-US" noProof="0" dirty="0"/>
              <a:t>		</a:t>
            </a:r>
            <a:r>
              <a:rPr lang="en-US" b="1" noProof="0" dirty="0"/>
              <a:t>Storage Location= </a:t>
            </a:r>
            <a:r>
              <a:rPr lang="en-US" noProof="0" dirty="0"/>
              <a:t>2000</a:t>
            </a:r>
            <a:endParaRPr lang="en-US" b="1" noProof="0" dirty="0"/>
          </a:p>
          <a:p>
            <a:endParaRPr lang="en-US" noProof="0" dirty="0"/>
          </a:p>
          <a:p>
            <a:r>
              <a:rPr lang="en-US" noProof="0" dirty="0"/>
              <a:t>Note: Season indicator defines when customers priority level should be reviewed, Season dates being determined based on a Buying Calendar (which is Global) and thereafter Customers delivery windows.</a:t>
            </a:r>
          </a:p>
        </p:txBody>
      </p:sp>
    </p:spTree>
    <p:extLst>
      <p:ext uri="{BB962C8B-B14F-4D97-AF65-F5344CB8AC3E}">
        <p14:creationId xmlns:p14="http://schemas.microsoft.com/office/powerpoint/2010/main" val="211504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A673A7F-2170-4FBC-9655-3E86E984D865}"/>
              </a:ext>
            </a:extLst>
          </p:cNvPr>
          <p:cNvSpPr>
            <a:spLocks noGrp="1"/>
          </p:cNvSpPr>
          <p:nvPr>
            <p:ph type="title"/>
          </p:nvPr>
        </p:nvSpPr>
        <p:spPr/>
        <p:txBody>
          <a:bodyPr/>
          <a:lstStyle/>
          <a:p>
            <a:pPr marL="457200" indent="-457200">
              <a:buFont typeface="+mj-lt"/>
              <a:buAutoNum type="arabicPeriod" startAt="2"/>
            </a:pPr>
            <a:r>
              <a:rPr lang="en-US" noProof="0" dirty="0"/>
              <a:t>Requirements Customized Selection</a:t>
            </a:r>
          </a:p>
        </p:txBody>
      </p:sp>
      <p:sp>
        <p:nvSpPr>
          <p:cNvPr id="4" name="Espace réservé du contenu 3">
            <a:extLst>
              <a:ext uri="{FF2B5EF4-FFF2-40B4-BE49-F238E27FC236}">
                <a16:creationId xmlns:a16="http://schemas.microsoft.com/office/drawing/2014/main" id="{C368B603-523A-43BE-9836-B981D8E23737}"/>
              </a:ext>
            </a:extLst>
          </p:cNvPr>
          <p:cNvSpPr>
            <a:spLocks noGrp="1"/>
          </p:cNvSpPr>
          <p:nvPr>
            <p:ph sz="quarter" idx="11"/>
          </p:nvPr>
        </p:nvSpPr>
        <p:spPr/>
        <p:txBody>
          <a:bodyPr/>
          <a:lstStyle/>
          <a:p>
            <a:r>
              <a:rPr lang="en-US" u="sng" noProof="0" dirty="0"/>
              <a:t>EMEA Specific selection criteria according to Business Channel and process flow:</a:t>
            </a:r>
            <a:endParaRPr lang="en-US" noProof="0" dirty="0"/>
          </a:p>
          <a:p>
            <a:endParaRPr lang="en-US" noProof="0" dirty="0"/>
          </a:p>
          <a:p>
            <a:r>
              <a:rPr lang="en-US" b="1" noProof="0" dirty="0"/>
              <a:t>Requirements Delivery horizon:	</a:t>
            </a:r>
            <a:r>
              <a:rPr lang="en-US" noProof="0" dirty="0"/>
              <a:t>Corresponding to the largest full season delivery window (= 365 days)</a:t>
            </a:r>
          </a:p>
          <a:p>
            <a:endParaRPr lang="en-US" noProof="0" dirty="0"/>
          </a:p>
          <a:p>
            <a:r>
              <a:rPr lang="en-US" b="1" noProof="0" dirty="0"/>
              <a:t>Customer criteria:			CGP 1</a:t>
            </a:r>
            <a:r>
              <a:rPr lang="en-US" noProof="0" dirty="0"/>
              <a:t> to filter Business Channels (i.e. G10=Retail, G55=Marketplace,..)</a:t>
            </a:r>
          </a:p>
          <a:p>
            <a:r>
              <a:rPr lang="en-US" noProof="0" dirty="0"/>
              <a:t>				</a:t>
            </a:r>
            <a:r>
              <a:rPr lang="en-US" b="1" noProof="0" dirty="0"/>
              <a:t>CGP 2</a:t>
            </a:r>
            <a:r>
              <a:rPr lang="en-US" noProof="0" dirty="0"/>
              <a:t> to filter Customer group within CGP 1 (G10 Retail/G30 Outlets)</a:t>
            </a:r>
          </a:p>
          <a:p>
            <a:r>
              <a:rPr lang="en-US" noProof="0" dirty="0"/>
              <a:t>				</a:t>
            </a:r>
            <a:r>
              <a:rPr lang="en-US" b="1" noProof="0" dirty="0"/>
              <a:t>Sold-to</a:t>
            </a:r>
            <a:r>
              <a:rPr lang="en-US" noProof="0" dirty="0"/>
              <a:t> list for Priority sets when no Customer criterion available</a:t>
            </a:r>
          </a:p>
          <a:p>
            <a:endParaRPr lang="en-US" b="1" noProof="0" dirty="0"/>
          </a:p>
          <a:p>
            <a:r>
              <a:rPr lang="en-US" b="1" noProof="0" dirty="0"/>
              <a:t>Material criteria:</a:t>
            </a:r>
            <a:r>
              <a:rPr lang="en-US" noProof="0" dirty="0"/>
              <a:t>			List of relevant </a:t>
            </a:r>
            <a:r>
              <a:rPr lang="en-US" b="1" noProof="0" dirty="0"/>
              <a:t>plants:</a:t>
            </a:r>
          </a:p>
          <a:p>
            <a:endParaRPr lang="en-US" b="1" noProof="0" dirty="0"/>
          </a:p>
          <a:p>
            <a:endParaRPr lang="en-US" b="1" noProof="0" dirty="0"/>
          </a:p>
          <a:p>
            <a:endParaRPr lang="en-US" b="1" noProof="0" dirty="0"/>
          </a:p>
          <a:p>
            <a:pPr marL="6362700"/>
            <a:r>
              <a:rPr lang="en-US" b="1" i="1" noProof="0" dirty="0"/>
              <a:t>Material number</a:t>
            </a:r>
            <a:r>
              <a:rPr lang="en-US" i="1" noProof="0" dirty="0"/>
              <a:t>: only used for special needs such as exclusion.</a:t>
            </a:r>
          </a:p>
          <a:p>
            <a:endParaRPr lang="en-US" b="1" noProof="0" dirty="0"/>
          </a:p>
        </p:txBody>
      </p:sp>
      <p:graphicFrame>
        <p:nvGraphicFramePr>
          <p:cNvPr id="5" name="Tableau 4">
            <a:extLst>
              <a:ext uri="{FF2B5EF4-FFF2-40B4-BE49-F238E27FC236}">
                <a16:creationId xmlns:a16="http://schemas.microsoft.com/office/drawing/2014/main" id="{D8D2BC72-4300-4313-02D6-D580C8B2BF86}"/>
              </a:ext>
            </a:extLst>
          </p:cNvPr>
          <p:cNvGraphicFramePr>
            <a:graphicFrameLocks noGrp="1"/>
          </p:cNvGraphicFramePr>
          <p:nvPr>
            <p:extLst>
              <p:ext uri="{D42A27DB-BD31-4B8C-83A1-F6EECF244321}">
                <p14:modId xmlns:p14="http://schemas.microsoft.com/office/powerpoint/2010/main" val="651977519"/>
              </p:ext>
            </p:extLst>
          </p:nvPr>
        </p:nvGraphicFramePr>
        <p:xfrm>
          <a:off x="4591758" y="4031307"/>
          <a:ext cx="2501900" cy="1981200"/>
        </p:xfrm>
        <a:graphic>
          <a:graphicData uri="http://schemas.openxmlformats.org/drawingml/2006/table">
            <a:tbl>
              <a:tblPr/>
              <a:tblGrid>
                <a:gridCol w="774700">
                  <a:extLst>
                    <a:ext uri="{9D8B030D-6E8A-4147-A177-3AD203B41FA5}">
                      <a16:colId xmlns:a16="http://schemas.microsoft.com/office/drawing/2014/main" val="4113404507"/>
                    </a:ext>
                  </a:extLst>
                </a:gridCol>
                <a:gridCol w="1727200">
                  <a:extLst>
                    <a:ext uri="{9D8B030D-6E8A-4147-A177-3AD203B41FA5}">
                      <a16:colId xmlns:a16="http://schemas.microsoft.com/office/drawing/2014/main" val="4253031475"/>
                    </a:ext>
                  </a:extLst>
                </a:gridCol>
              </a:tblGrid>
              <a:tr h="152400">
                <a:tc>
                  <a:txBody>
                    <a:bodyPr/>
                    <a:lstStyle/>
                    <a:p>
                      <a:pPr algn="ctr" fontAlgn="b"/>
                      <a:r>
                        <a:rPr lang="en-US" sz="900" b="0" i="0" u="none" strike="noStrike" noProof="0" dirty="0">
                          <a:solidFill>
                            <a:srgbClr val="000000"/>
                          </a:solidFill>
                          <a:effectLst/>
                          <a:latin typeface="Calibri" panose="020F0502020204030204" pitchFamily="34" charset="0"/>
                        </a:rPr>
                        <a:t>Plant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noProof="0" dirty="0">
                          <a:solidFill>
                            <a:srgbClr val="000000"/>
                          </a:solidFill>
                          <a:effectLst/>
                          <a:latin typeface="Calibri" panose="020F0502020204030204" pitchFamily="34" charset="0"/>
                        </a:rPr>
                        <a:t>Name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41977206"/>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FMS</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5636933"/>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KATOEN</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2839208"/>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SUNSHINE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336400"/>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STACI BELGIUM</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1995645"/>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STOCK 153</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617101"/>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ELBPACK</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1738666"/>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FMS EC</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5573378"/>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KATOEN EC</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1055892"/>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SUNSHINE EC</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435040"/>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STACI BELGIUM EC</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7013779"/>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STOCK 153 EC</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6895731"/>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2057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ELBPACK EC</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2844521"/>
                  </a:ext>
                </a:extLst>
              </a:tr>
            </a:tbl>
          </a:graphicData>
        </a:graphic>
      </p:graphicFrame>
    </p:spTree>
    <p:extLst>
      <p:ext uri="{BB962C8B-B14F-4D97-AF65-F5344CB8AC3E}">
        <p14:creationId xmlns:p14="http://schemas.microsoft.com/office/powerpoint/2010/main" val="248402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9F19A-BDA7-5923-67C1-F517C1D22D9F}"/>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627FEF4-DD05-48F1-7DB9-E7C6AEA8E646}"/>
              </a:ext>
            </a:extLst>
          </p:cNvPr>
          <p:cNvSpPr>
            <a:spLocks noGrp="1"/>
          </p:cNvSpPr>
          <p:nvPr>
            <p:ph type="title"/>
          </p:nvPr>
        </p:nvSpPr>
        <p:spPr/>
        <p:txBody>
          <a:bodyPr/>
          <a:lstStyle/>
          <a:p>
            <a:pPr marL="457200" indent="-457200">
              <a:buFont typeface="+mj-lt"/>
              <a:buAutoNum type="arabicPeriod" startAt="2"/>
            </a:pPr>
            <a:r>
              <a:rPr lang="en-US" noProof="0" dirty="0"/>
              <a:t>Requirements Customized Selection</a:t>
            </a:r>
          </a:p>
        </p:txBody>
      </p:sp>
      <p:sp>
        <p:nvSpPr>
          <p:cNvPr id="4" name="Espace réservé du contenu 3">
            <a:extLst>
              <a:ext uri="{FF2B5EF4-FFF2-40B4-BE49-F238E27FC236}">
                <a16:creationId xmlns:a16="http://schemas.microsoft.com/office/drawing/2014/main" id="{29E19F30-52E9-4193-DFB6-B82001145E63}"/>
              </a:ext>
            </a:extLst>
          </p:cNvPr>
          <p:cNvSpPr>
            <a:spLocks noGrp="1"/>
          </p:cNvSpPr>
          <p:nvPr>
            <p:ph sz="quarter" idx="11"/>
          </p:nvPr>
        </p:nvSpPr>
        <p:spPr/>
        <p:txBody>
          <a:bodyPr/>
          <a:lstStyle/>
          <a:p>
            <a:r>
              <a:rPr lang="en-US" u="sng" noProof="0" dirty="0"/>
              <a:t>EMEA Specific selection criteria according to Business Channel and process flow:</a:t>
            </a:r>
            <a:endParaRPr lang="en-US" noProof="0" dirty="0"/>
          </a:p>
          <a:p>
            <a:endParaRPr lang="en-US" noProof="0" dirty="0"/>
          </a:p>
          <a:p>
            <a:r>
              <a:rPr lang="en-US" b="1" noProof="0" dirty="0"/>
              <a:t>Sales Order Header criteria:	</a:t>
            </a:r>
            <a:r>
              <a:rPr lang="en-US" noProof="0" dirty="0"/>
              <a:t>List of relevant </a:t>
            </a:r>
            <a:r>
              <a:rPr lang="en-US" b="1" noProof="0" dirty="0"/>
              <a:t>Sales Order types:</a:t>
            </a:r>
          </a:p>
          <a:p>
            <a:r>
              <a:rPr lang="en-US" noProof="0" dirty="0"/>
              <a:t>				</a:t>
            </a:r>
          </a:p>
          <a:p>
            <a:endParaRPr lang="en-US" noProof="0" dirty="0"/>
          </a:p>
          <a:p>
            <a:endParaRPr lang="en-US" noProof="0" dirty="0"/>
          </a:p>
          <a:p>
            <a:endParaRPr lang="en-US" noProof="0" dirty="0"/>
          </a:p>
          <a:p>
            <a:endParaRPr lang="en-US" noProof="0" dirty="0"/>
          </a:p>
          <a:p>
            <a:endParaRPr lang="en-US" noProof="0" dirty="0"/>
          </a:p>
          <a:p>
            <a:pPr marL="3676650"/>
            <a:r>
              <a:rPr lang="en-US" noProof="0" dirty="0"/>
              <a:t>Excluding the Rush Order types, Consignment Issue or Return orders.</a:t>
            </a:r>
          </a:p>
          <a:p>
            <a:pPr marL="3676650"/>
            <a:endParaRPr lang="en-US" noProof="0" dirty="0"/>
          </a:p>
          <a:p>
            <a:pPr marL="3676650"/>
            <a:endParaRPr lang="en-US" noProof="0" dirty="0"/>
          </a:p>
          <a:p>
            <a:pPr marL="3676650"/>
            <a:r>
              <a:rPr lang="en-US" noProof="0" dirty="0"/>
              <a:t>List of </a:t>
            </a:r>
            <a:r>
              <a:rPr lang="en-US" b="1" noProof="0" dirty="0"/>
              <a:t>Order Reasons:</a:t>
            </a:r>
          </a:p>
          <a:p>
            <a:pPr marL="3676650"/>
            <a:r>
              <a:rPr lang="en-US" noProof="0" dirty="0"/>
              <a:t>Including or Excluding values</a:t>
            </a:r>
          </a:p>
        </p:txBody>
      </p:sp>
      <p:graphicFrame>
        <p:nvGraphicFramePr>
          <p:cNvPr id="6" name="Tableau 5">
            <a:extLst>
              <a:ext uri="{FF2B5EF4-FFF2-40B4-BE49-F238E27FC236}">
                <a16:creationId xmlns:a16="http://schemas.microsoft.com/office/drawing/2014/main" id="{C60A420B-BF56-EA8B-755A-D2F017FBAE79}"/>
              </a:ext>
            </a:extLst>
          </p:cNvPr>
          <p:cNvGraphicFramePr>
            <a:graphicFrameLocks noGrp="1"/>
          </p:cNvGraphicFramePr>
          <p:nvPr>
            <p:extLst>
              <p:ext uri="{D42A27DB-BD31-4B8C-83A1-F6EECF244321}">
                <p14:modId xmlns:p14="http://schemas.microsoft.com/office/powerpoint/2010/main" val="2810426038"/>
              </p:ext>
            </p:extLst>
          </p:nvPr>
        </p:nvGraphicFramePr>
        <p:xfrm>
          <a:off x="5091953" y="2185448"/>
          <a:ext cx="2451100" cy="1676400"/>
        </p:xfrm>
        <a:graphic>
          <a:graphicData uri="http://schemas.openxmlformats.org/drawingml/2006/table">
            <a:tbl>
              <a:tblPr/>
              <a:tblGrid>
                <a:gridCol w="940538">
                  <a:extLst>
                    <a:ext uri="{9D8B030D-6E8A-4147-A177-3AD203B41FA5}">
                      <a16:colId xmlns:a16="http://schemas.microsoft.com/office/drawing/2014/main" val="1133634368"/>
                    </a:ext>
                  </a:extLst>
                </a:gridCol>
                <a:gridCol w="1510562">
                  <a:extLst>
                    <a:ext uri="{9D8B030D-6E8A-4147-A177-3AD203B41FA5}">
                      <a16:colId xmlns:a16="http://schemas.microsoft.com/office/drawing/2014/main" val="1333095471"/>
                    </a:ext>
                  </a:extLst>
                </a:gridCol>
              </a:tblGrid>
              <a:tr h="152400">
                <a:tc>
                  <a:txBody>
                    <a:bodyPr/>
                    <a:lstStyle/>
                    <a:p>
                      <a:pPr algn="l" fontAlgn="b"/>
                      <a:r>
                        <a:rPr lang="en-US" sz="900" b="0" i="0" u="none" strike="noStrike" noProof="0" dirty="0">
                          <a:solidFill>
                            <a:srgbClr val="000000"/>
                          </a:solidFill>
                          <a:effectLst/>
                          <a:latin typeface="Calibri" panose="020F0502020204030204" pitchFamily="34" charset="0"/>
                        </a:rPr>
                        <a:t>Sales order type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900" b="0" i="0" u="none" strike="noStrike" noProof="0" dirty="0">
                          <a:solidFill>
                            <a:srgbClr val="000000"/>
                          </a:solidFill>
                          <a:effectLst/>
                          <a:latin typeface="Calibri" panose="020F0502020204030204" pitchFamily="34" charset="0"/>
                        </a:rPr>
                        <a:t>Description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916940629"/>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ZCQ</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Quantity Contract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6836919"/>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ZFOC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Free of Charge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6304581"/>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ZIC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Inter Company Sales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4431619"/>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ZICQ</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Qty Contract RTL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1548598"/>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ZKB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 Fill-up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81827"/>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ZKBR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 </a:t>
                      </a:r>
                      <a:r>
                        <a:rPr lang="en-US" sz="900" b="0" i="0" u="none" strike="noStrike" noProof="0" dirty="0" err="1">
                          <a:solidFill>
                            <a:srgbClr val="000000"/>
                          </a:solidFill>
                          <a:effectLst/>
                          <a:latin typeface="Calibri" panose="020F0502020204030204" pitchFamily="34" charset="0"/>
                        </a:rPr>
                        <a:t>FUp</a:t>
                      </a:r>
                      <a:r>
                        <a:rPr lang="en-US" sz="900" b="0" i="0" u="none" strike="noStrike" noProof="0" dirty="0">
                          <a:solidFill>
                            <a:srgbClr val="000000"/>
                          </a:solidFill>
                          <a:effectLst/>
                          <a:latin typeface="Calibri" panose="020F0502020204030204" pitchFamily="34" charset="0"/>
                        </a:rPr>
                        <a:t> ref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8645171"/>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ZPOP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QS POP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139993"/>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ZSAM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Sample Order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0537514"/>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ZSO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Standard order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9722568"/>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ZTRA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Transfer Order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174203"/>
                  </a:ext>
                </a:extLst>
              </a:tr>
            </a:tbl>
          </a:graphicData>
        </a:graphic>
      </p:graphicFrame>
    </p:spTree>
    <p:extLst>
      <p:ext uri="{BB962C8B-B14F-4D97-AF65-F5344CB8AC3E}">
        <p14:creationId xmlns:p14="http://schemas.microsoft.com/office/powerpoint/2010/main" val="329879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3"/>
            </a:pPr>
            <a:r>
              <a:rPr lang="en-US" noProof="0" dirty="0"/>
              <a:t>Requirements Filter</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27" name="Rectangle : coins arrondis 26">
            <a:extLst>
              <a:ext uri="{FF2B5EF4-FFF2-40B4-BE49-F238E27FC236}">
                <a16:creationId xmlns:a16="http://schemas.microsoft.com/office/drawing/2014/main" id="{FE064296-67C6-41D2-AC0E-6A1249653518}"/>
              </a:ext>
            </a:extLst>
          </p:cNvPr>
          <p:cNvSpPr/>
          <p:nvPr/>
        </p:nvSpPr>
        <p:spPr>
          <a:xfrm>
            <a:off x="176177" y="1707041"/>
            <a:ext cx="1498322" cy="1035760"/>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90981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A673A7F-2170-4FBC-9655-3E86E984D865}"/>
              </a:ext>
            </a:extLst>
          </p:cNvPr>
          <p:cNvSpPr>
            <a:spLocks noGrp="1"/>
          </p:cNvSpPr>
          <p:nvPr>
            <p:ph type="title"/>
          </p:nvPr>
        </p:nvSpPr>
        <p:spPr/>
        <p:txBody>
          <a:bodyPr/>
          <a:lstStyle/>
          <a:p>
            <a:pPr marL="457200" indent="-457200">
              <a:buFont typeface="+mj-lt"/>
              <a:buAutoNum type="arabicPeriod" startAt="3"/>
            </a:pPr>
            <a:r>
              <a:rPr lang="en-US" noProof="0" dirty="0"/>
              <a:t>Requirements Filter</a:t>
            </a:r>
          </a:p>
        </p:txBody>
      </p:sp>
      <p:sp>
        <p:nvSpPr>
          <p:cNvPr id="4" name="Espace réservé du contenu 3">
            <a:extLst>
              <a:ext uri="{FF2B5EF4-FFF2-40B4-BE49-F238E27FC236}">
                <a16:creationId xmlns:a16="http://schemas.microsoft.com/office/drawing/2014/main" id="{C368B603-523A-43BE-9836-B981D8E23737}"/>
              </a:ext>
            </a:extLst>
          </p:cNvPr>
          <p:cNvSpPr>
            <a:spLocks noGrp="1"/>
          </p:cNvSpPr>
          <p:nvPr>
            <p:ph sz="quarter" idx="11"/>
          </p:nvPr>
        </p:nvSpPr>
        <p:spPr/>
        <p:txBody>
          <a:bodyPr/>
          <a:lstStyle/>
          <a:p>
            <a:pPr marL="285750" indent="-285750">
              <a:buFont typeface="Arial" panose="020B0604020202020204" pitchFamily="34" charset="0"/>
              <a:buChar char="•"/>
            </a:pPr>
            <a:r>
              <a:rPr lang="en-US" noProof="0" dirty="0"/>
              <a:t>The selected orders will then have a check on the following criteria. If it fails, then they are excluded from the Allocation Run:</a:t>
            </a:r>
          </a:p>
          <a:p>
            <a:pPr marL="285750" indent="-285750">
              <a:buFont typeface="Arial" panose="020B0604020202020204" pitchFamily="34" charset="0"/>
              <a:buChar char="•"/>
            </a:pPr>
            <a:endParaRPr lang="en-US" noProof="0" dirty="0"/>
          </a:p>
          <a:p>
            <a:r>
              <a:rPr lang="en-US" noProof="0" dirty="0"/>
              <a:t>		    </a:t>
            </a:r>
            <a:r>
              <a:rPr lang="en-US" b="1" noProof="0" dirty="0"/>
              <a:t>EMEA</a:t>
            </a:r>
            <a:r>
              <a:rPr lang="en-US" noProof="0" dirty="0"/>
              <a:t>						    </a:t>
            </a:r>
            <a:r>
              <a:rPr lang="en-US" b="1" noProof="0" dirty="0"/>
              <a:t>US</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b="1" i="1" noProof="0" dirty="0"/>
              <a:t>EMEA - Sales Order Header/Item Cancel date:</a:t>
            </a:r>
          </a:p>
          <a:p>
            <a:r>
              <a:rPr lang="en-US" i="1" noProof="0" dirty="0"/>
              <a:t>If the Cancel date is &lt;= (</a:t>
            </a:r>
            <a:r>
              <a:rPr lang="en-US" i="1" noProof="0" dirty="0" err="1"/>
              <a:t>ARun</a:t>
            </a:r>
            <a:r>
              <a:rPr lang="en-US" i="1" noProof="0" dirty="0"/>
              <a:t> date + 5 working days), the sales order is not allocated, or allocation is not updated.</a:t>
            </a:r>
          </a:p>
          <a:p>
            <a:endParaRPr lang="en-US" noProof="0" dirty="0"/>
          </a:p>
        </p:txBody>
      </p:sp>
      <p:pic>
        <p:nvPicPr>
          <p:cNvPr id="12" name="Image 11">
            <a:extLst>
              <a:ext uri="{FF2B5EF4-FFF2-40B4-BE49-F238E27FC236}">
                <a16:creationId xmlns:a16="http://schemas.microsoft.com/office/drawing/2014/main" id="{5C0FD541-2654-4587-8221-5C78D134C446}"/>
              </a:ext>
            </a:extLst>
          </p:cNvPr>
          <p:cNvPicPr>
            <a:picLocks noChangeAspect="1"/>
          </p:cNvPicPr>
          <p:nvPr/>
        </p:nvPicPr>
        <p:blipFill>
          <a:blip r:embed="rId2"/>
          <a:stretch>
            <a:fillRect/>
          </a:stretch>
        </p:blipFill>
        <p:spPr>
          <a:xfrm>
            <a:off x="6521972" y="2438261"/>
            <a:ext cx="4496427" cy="1981477"/>
          </a:xfrm>
          <a:prstGeom prst="rect">
            <a:avLst/>
          </a:prstGeom>
        </p:spPr>
      </p:pic>
      <p:pic>
        <p:nvPicPr>
          <p:cNvPr id="14" name="Image 13">
            <a:extLst>
              <a:ext uri="{FF2B5EF4-FFF2-40B4-BE49-F238E27FC236}">
                <a16:creationId xmlns:a16="http://schemas.microsoft.com/office/drawing/2014/main" id="{57C13689-2C2A-4E6B-99C0-813A5E86326E}"/>
              </a:ext>
            </a:extLst>
          </p:cNvPr>
          <p:cNvPicPr>
            <a:picLocks noChangeAspect="1"/>
          </p:cNvPicPr>
          <p:nvPr/>
        </p:nvPicPr>
        <p:blipFill>
          <a:blip r:embed="rId3"/>
          <a:stretch>
            <a:fillRect/>
          </a:stretch>
        </p:blipFill>
        <p:spPr>
          <a:xfrm>
            <a:off x="1183122" y="2462077"/>
            <a:ext cx="4477375" cy="1933845"/>
          </a:xfrm>
          <a:prstGeom prst="rect">
            <a:avLst/>
          </a:prstGeom>
        </p:spPr>
      </p:pic>
    </p:spTree>
    <p:extLst>
      <p:ext uri="{BB962C8B-B14F-4D97-AF65-F5344CB8AC3E}">
        <p14:creationId xmlns:p14="http://schemas.microsoft.com/office/powerpoint/2010/main" val="545112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4"/>
            </a:pPr>
            <a:r>
              <a:rPr lang="en-US" noProof="0" dirty="0"/>
              <a:t>Stock Selection</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27" name="Rectangle : coins arrondis 26">
            <a:extLst>
              <a:ext uri="{FF2B5EF4-FFF2-40B4-BE49-F238E27FC236}">
                <a16:creationId xmlns:a16="http://schemas.microsoft.com/office/drawing/2014/main" id="{1FE6E947-B7AE-4C67-AB93-BA12F5369D27}"/>
              </a:ext>
            </a:extLst>
          </p:cNvPr>
          <p:cNvSpPr/>
          <p:nvPr/>
        </p:nvSpPr>
        <p:spPr>
          <a:xfrm>
            <a:off x="1915596" y="1581595"/>
            <a:ext cx="2220139" cy="1035760"/>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82518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A673A7F-2170-4FBC-9655-3E86E984D865}"/>
              </a:ext>
            </a:extLst>
          </p:cNvPr>
          <p:cNvSpPr>
            <a:spLocks noGrp="1"/>
          </p:cNvSpPr>
          <p:nvPr>
            <p:ph type="title"/>
          </p:nvPr>
        </p:nvSpPr>
        <p:spPr/>
        <p:txBody>
          <a:bodyPr/>
          <a:lstStyle/>
          <a:p>
            <a:pPr marL="457200" indent="-457200">
              <a:buFont typeface="+mj-lt"/>
              <a:buAutoNum type="arabicPeriod" startAt="4"/>
            </a:pPr>
            <a:r>
              <a:rPr lang="en-US" noProof="0" dirty="0"/>
              <a:t>Stock Selection</a:t>
            </a:r>
          </a:p>
        </p:txBody>
      </p:sp>
      <p:sp>
        <p:nvSpPr>
          <p:cNvPr id="4" name="Espace réservé du contenu 3">
            <a:extLst>
              <a:ext uri="{FF2B5EF4-FFF2-40B4-BE49-F238E27FC236}">
                <a16:creationId xmlns:a16="http://schemas.microsoft.com/office/drawing/2014/main" id="{C368B603-523A-43BE-9836-B981D8E23737}"/>
              </a:ext>
            </a:extLst>
          </p:cNvPr>
          <p:cNvSpPr>
            <a:spLocks noGrp="1"/>
          </p:cNvSpPr>
          <p:nvPr>
            <p:ph sz="quarter" idx="11"/>
          </p:nvPr>
        </p:nvSpPr>
        <p:spPr/>
        <p:txBody>
          <a:bodyPr/>
          <a:lstStyle/>
          <a:p>
            <a:pPr marL="0" lvl="1" indent="0">
              <a:buNone/>
            </a:pPr>
            <a:r>
              <a:rPr lang="en-US" sz="1400" noProof="0" dirty="0"/>
              <a:t>“</a:t>
            </a:r>
            <a:r>
              <a:rPr lang="en-US" sz="1400" b="1" noProof="0" dirty="0"/>
              <a:t>Regular Allocation Run”</a:t>
            </a:r>
            <a:r>
              <a:rPr lang="en-US" sz="1400" noProof="0" dirty="0"/>
              <a:t> considers current available physical stock :</a:t>
            </a:r>
          </a:p>
          <a:p>
            <a:pPr marL="0" lvl="1" indent="0">
              <a:buNone/>
            </a:pPr>
            <a:endParaRPr lang="en-US" sz="1400" b="1" noProof="0" dirty="0"/>
          </a:p>
          <a:p>
            <a:pPr marL="0" lvl="1" indent="0">
              <a:buNone/>
            </a:pPr>
            <a:endParaRPr lang="en-US" sz="1400" b="1" noProof="0" dirty="0"/>
          </a:p>
          <a:p>
            <a:pPr lvl="1"/>
            <a:r>
              <a:rPr lang="en-US" sz="1400" noProof="0" dirty="0"/>
              <a:t>Batch Stock</a:t>
            </a:r>
          </a:p>
          <a:p>
            <a:pPr lvl="1"/>
            <a:endParaRPr lang="en-US" sz="1400" noProof="0" dirty="0"/>
          </a:p>
          <a:p>
            <a:pPr lvl="1"/>
            <a:endParaRPr lang="en-US" sz="1400" noProof="0" dirty="0"/>
          </a:p>
          <a:p>
            <a:pPr lvl="1"/>
            <a:r>
              <a:rPr lang="en-US" sz="1400" noProof="0" dirty="0"/>
              <a:t>Customer Consignment Stock	</a:t>
            </a:r>
            <a:r>
              <a:rPr lang="en-US" sz="1400" i="1" noProof="0" dirty="0"/>
              <a:t> -&gt; selected only for Consignment process flows. </a:t>
            </a:r>
          </a:p>
          <a:p>
            <a:pPr lvl="1"/>
            <a:endParaRPr lang="en-US" sz="1400" noProof="0" dirty="0"/>
          </a:p>
          <a:p>
            <a:pPr lvl="1"/>
            <a:endParaRPr lang="en-US" sz="1400" b="1" noProof="0" dirty="0"/>
          </a:p>
          <a:p>
            <a:pPr lvl="1"/>
            <a:r>
              <a:rPr lang="en-US" sz="1400" noProof="0" dirty="0"/>
              <a:t>MTO/PTO Stock		 </a:t>
            </a:r>
            <a:r>
              <a:rPr lang="en-US" sz="1400" i="1" noProof="0" dirty="0"/>
              <a:t>-&gt; only used through X-Dock and Drop Ship dedicated Z t-code</a:t>
            </a:r>
          </a:p>
        </p:txBody>
      </p:sp>
    </p:spTree>
    <p:extLst>
      <p:ext uri="{BB962C8B-B14F-4D97-AF65-F5344CB8AC3E}">
        <p14:creationId xmlns:p14="http://schemas.microsoft.com/office/powerpoint/2010/main" val="2407484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58548-6058-C1D6-A10E-5C274B8F24FA}"/>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6666ED5-39C9-4FD3-8233-A460CDF9F3F6}"/>
              </a:ext>
            </a:extLst>
          </p:cNvPr>
          <p:cNvSpPr>
            <a:spLocks noGrp="1"/>
          </p:cNvSpPr>
          <p:nvPr>
            <p:ph type="title"/>
          </p:nvPr>
        </p:nvSpPr>
        <p:spPr/>
        <p:txBody>
          <a:bodyPr/>
          <a:lstStyle/>
          <a:p>
            <a:pPr marL="457200" indent="-457200">
              <a:buFont typeface="+mj-lt"/>
              <a:buAutoNum type="arabicPeriod" startAt="4"/>
            </a:pPr>
            <a:r>
              <a:rPr lang="en-US" noProof="0" dirty="0"/>
              <a:t>Stock Selection</a:t>
            </a:r>
          </a:p>
        </p:txBody>
      </p:sp>
      <p:sp>
        <p:nvSpPr>
          <p:cNvPr id="4" name="Espace réservé du contenu 3">
            <a:extLst>
              <a:ext uri="{FF2B5EF4-FFF2-40B4-BE49-F238E27FC236}">
                <a16:creationId xmlns:a16="http://schemas.microsoft.com/office/drawing/2014/main" id="{E71DDEB4-B863-1203-CF8F-9FE750063A66}"/>
              </a:ext>
            </a:extLst>
          </p:cNvPr>
          <p:cNvSpPr>
            <a:spLocks noGrp="1"/>
          </p:cNvSpPr>
          <p:nvPr>
            <p:ph sz="quarter" idx="11"/>
          </p:nvPr>
        </p:nvSpPr>
        <p:spPr/>
        <p:txBody>
          <a:bodyPr/>
          <a:lstStyle/>
          <a:p>
            <a:pPr marL="0" lvl="1" indent="0">
              <a:buNone/>
            </a:pPr>
            <a:r>
              <a:rPr lang="en-US" sz="1400" b="1" noProof="0" dirty="0"/>
              <a:t>“Early Allocation Run”</a:t>
            </a:r>
            <a:r>
              <a:rPr lang="en-US" sz="1400" noProof="0" dirty="0"/>
              <a:t> (also called “Allocation Run on Future Receipts”) considers the following stocks types:</a:t>
            </a:r>
          </a:p>
          <a:p>
            <a:pPr marL="457189" lvl="1" indent="0">
              <a:buNone/>
            </a:pPr>
            <a:endParaRPr lang="en-US" sz="1400" b="1" noProof="0" dirty="0"/>
          </a:p>
          <a:p>
            <a:pPr marL="457189" lvl="1" indent="0">
              <a:buNone/>
            </a:pPr>
            <a:endParaRPr lang="en-US" sz="1400" b="1" noProof="0" dirty="0"/>
          </a:p>
          <a:p>
            <a:r>
              <a:rPr lang="en-US" u="sng" noProof="0" dirty="0"/>
              <a:t>Current Physical Stock:</a:t>
            </a:r>
          </a:p>
          <a:p>
            <a:pPr lvl="1"/>
            <a:r>
              <a:rPr lang="en-US" sz="1400" b="1" noProof="0" dirty="0"/>
              <a:t>Batch Stock</a:t>
            </a:r>
          </a:p>
          <a:p>
            <a:endParaRPr lang="en-US" noProof="0" dirty="0"/>
          </a:p>
          <a:p>
            <a:r>
              <a:rPr lang="en-US" noProof="0" dirty="0"/>
              <a:t>And</a:t>
            </a:r>
          </a:p>
          <a:p>
            <a:endParaRPr lang="en-US" u="sng" noProof="0" dirty="0"/>
          </a:p>
          <a:p>
            <a:r>
              <a:rPr lang="en-US" u="sng" noProof="0" dirty="0"/>
              <a:t>Future Receipts:</a:t>
            </a:r>
            <a:endParaRPr lang="en-US" sz="1400" noProof="0" dirty="0"/>
          </a:p>
          <a:p>
            <a:pPr lvl="1"/>
            <a:r>
              <a:rPr lang="en-US" sz="1400" b="1" noProof="0" dirty="0"/>
              <a:t>Purchase Orders </a:t>
            </a:r>
            <a:r>
              <a:rPr lang="en-US" sz="1400" noProof="0" dirty="0"/>
              <a:t>(including STO for the requirements of the STO receiving plant)</a:t>
            </a:r>
          </a:p>
          <a:p>
            <a:pPr lvl="1"/>
            <a:r>
              <a:rPr lang="en-US" sz="1400" b="1" noProof="0" dirty="0"/>
              <a:t>Shipping Notifications</a:t>
            </a:r>
          </a:p>
          <a:p>
            <a:pPr marL="457189" lvl="1" indent="0">
              <a:buNone/>
            </a:pPr>
            <a:endParaRPr lang="en-US" sz="1400" b="1" noProof="0" dirty="0"/>
          </a:p>
          <a:p>
            <a:pPr marL="457189" lvl="1" indent="0">
              <a:buNone/>
            </a:pPr>
            <a:r>
              <a:rPr lang="en-US" sz="1400" i="1" noProof="0" dirty="0"/>
              <a:t>Production Orders are not taken into account in the </a:t>
            </a:r>
            <a:r>
              <a:rPr lang="en-US" sz="1400" i="1" noProof="0" dirty="0" err="1"/>
              <a:t>ARun</a:t>
            </a:r>
            <a:r>
              <a:rPr lang="en-US" sz="1400" i="1" noProof="0" dirty="0"/>
              <a:t> execution at BOARDRIDERS but only external procurements.</a:t>
            </a:r>
          </a:p>
          <a:p>
            <a:pPr marL="457189" lvl="1" indent="0">
              <a:buNone/>
            </a:pPr>
            <a:endParaRPr lang="en-US" sz="1400" i="1" noProof="0" dirty="0"/>
          </a:p>
          <a:p>
            <a:pPr marL="457189" lvl="1" indent="0">
              <a:buNone/>
            </a:pPr>
            <a:r>
              <a:rPr lang="en-US" sz="1400" i="1" noProof="0" dirty="0"/>
              <a:t>Purchase Requisitions and Planned Orders are not relevant for the Early Allocation Run but for the </a:t>
            </a:r>
            <a:r>
              <a:rPr lang="en-US" sz="1400" i="1" noProof="0" dirty="0" err="1"/>
              <a:t>ARun</a:t>
            </a:r>
            <a:r>
              <a:rPr lang="en-US" sz="1400" i="1" noProof="0" dirty="0"/>
              <a:t> Preview only.</a:t>
            </a:r>
          </a:p>
        </p:txBody>
      </p:sp>
    </p:spTree>
    <p:extLst>
      <p:ext uri="{BB962C8B-B14F-4D97-AF65-F5344CB8AC3E}">
        <p14:creationId xmlns:p14="http://schemas.microsoft.com/office/powerpoint/2010/main" val="1764990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5"/>
            </a:pPr>
            <a:r>
              <a:rPr lang="en-US" noProof="0" dirty="0"/>
              <a:t>Requirements Sorting</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48" name="Rectangle : coins arrondis 47">
            <a:extLst>
              <a:ext uri="{FF2B5EF4-FFF2-40B4-BE49-F238E27FC236}">
                <a16:creationId xmlns:a16="http://schemas.microsoft.com/office/drawing/2014/main" id="{AC38E19A-0672-4974-8AF5-301CB8A2FE77}"/>
              </a:ext>
            </a:extLst>
          </p:cNvPr>
          <p:cNvSpPr/>
          <p:nvPr/>
        </p:nvSpPr>
        <p:spPr>
          <a:xfrm>
            <a:off x="5958476" y="800638"/>
            <a:ext cx="1895238" cy="709951"/>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98372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7B53629-E33E-43BA-9343-E21B37FF8039}"/>
              </a:ext>
            </a:extLst>
          </p:cNvPr>
          <p:cNvSpPr>
            <a:spLocks noGrp="1"/>
          </p:cNvSpPr>
          <p:nvPr>
            <p:ph type="title"/>
          </p:nvPr>
        </p:nvSpPr>
        <p:spPr/>
        <p:txBody>
          <a:bodyPr/>
          <a:lstStyle/>
          <a:p>
            <a:pPr marL="457200" indent="-457200">
              <a:buFont typeface="+mj-lt"/>
              <a:buAutoNum type="arabicPeriod" startAt="5"/>
            </a:pPr>
            <a:r>
              <a:rPr lang="en-US" noProof="0" dirty="0"/>
              <a:t>Requirements Sorting</a:t>
            </a:r>
          </a:p>
        </p:txBody>
      </p:sp>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200" y="1102179"/>
            <a:ext cx="10515600" cy="4974155"/>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For EMEA, allocatable Requirements (excluding Samples Orders) will be sorted with the following priorities within individual allocation set:</a:t>
            </a:r>
          </a:p>
          <a:p>
            <a:endParaRPr lang="en-US" noProof="0" dirty="0"/>
          </a:p>
          <a:p>
            <a:pPr marL="342900" indent="-342900">
              <a:buFont typeface="+mj-lt"/>
              <a:buAutoNum type="arabicPeriod"/>
            </a:pPr>
            <a:r>
              <a:rPr lang="en-US" noProof="0" dirty="0"/>
              <a:t>Customer Group 1 </a:t>
            </a:r>
            <a:r>
              <a:rPr lang="en-US" i="1" noProof="0" dirty="0"/>
              <a:t>(applies to Wholesale allocation sets only)</a:t>
            </a:r>
          </a:p>
          <a:p>
            <a:pPr marL="342900" indent="-342900">
              <a:buFont typeface="+mj-lt"/>
              <a:buAutoNum type="arabicPeriod"/>
            </a:pPr>
            <a:endParaRPr lang="en-US" noProof="0" dirty="0"/>
          </a:p>
          <a:p>
            <a:pPr marL="342900" indent="-342900">
              <a:buFont typeface="+mj-lt"/>
              <a:buAutoNum type="arabicPeriod"/>
            </a:pPr>
            <a:endParaRPr lang="en-US" noProof="0" dirty="0"/>
          </a:p>
          <a:p>
            <a:pPr marL="342900" indent="-342900">
              <a:buFont typeface="+mj-lt"/>
              <a:buAutoNum type="arabicPeriod"/>
            </a:pPr>
            <a:endParaRPr lang="en-US" noProof="0" dirty="0"/>
          </a:p>
          <a:p>
            <a:pPr marL="342900" indent="-342900">
              <a:buFont typeface="+mj-lt"/>
              <a:buAutoNum type="arabicPeriod"/>
            </a:pPr>
            <a:endParaRPr lang="en-US" noProof="0" dirty="0"/>
          </a:p>
          <a:p>
            <a:pPr marL="342900" indent="-342900">
              <a:buFont typeface="+mj-lt"/>
              <a:buAutoNum type="arabicPeriod"/>
            </a:pPr>
            <a:endParaRPr lang="en-US" noProof="0" dirty="0"/>
          </a:p>
          <a:p>
            <a:pPr marL="342900" indent="-342900">
              <a:buFont typeface="+mj-lt"/>
              <a:buAutoNum type="arabicPeriod"/>
            </a:pPr>
            <a:endParaRPr lang="en-US" noProof="0" dirty="0"/>
          </a:p>
          <a:p>
            <a:pPr marL="342900" indent="-342900">
              <a:buFont typeface="+mj-lt"/>
              <a:buAutoNum type="arabicPeriod"/>
            </a:pPr>
            <a:endParaRPr lang="en-US" noProof="0" dirty="0"/>
          </a:p>
          <a:p>
            <a:pPr marL="342900" indent="-342900">
              <a:buFont typeface="+mj-lt"/>
              <a:buAutoNum type="arabicPeriod"/>
            </a:pPr>
            <a:r>
              <a:rPr lang="en-US" noProof="0" dirty="0"/>
              <a:t>Delivery Priority indicator (Ascending sorting)</a:t>
            </a:r>
          </a:p>
          <a:p>
            <a:pPr marL="342900" indent="-342900">
              <a:buFont typeface="+mj-lt"/>
              <a:buAutoNum type="arabicPeriod"/>
            </a:pPr>
            <a:r>
              <a:rPr lang="en-US" noProof="0" dirty="0"/>
              <a:t>Sales Orders Creation Date (Ascending sorting)</a:t>
            </a:r>
          </a:p>
          <a:p>
            <a:pPr marL="342900" indent="-342900">
              <a:buFont typeface="+mj-lt"/>
              <a:buAutoNum type="arabicPeriod"/>
            </a:pPr>
            <a:r>
              <a:rPr lang="en-US" noProof="0" dirty="0"/>
              <a:t>Sales Orders number (Ascending sorting)</a:t>
            </a:r>
          </a:p>
          <a:p>
            <a:endParaRPr lang="en-US" noProof="0" dirty="0"/>
          </a:p>
          <a:p>
            <a:r>
              <a:rPr lang="en-US" i="1" noProof="0" dirty="0"/>
              <a:t>Steps 3 &amp; 4 were implemented so the contracts were not allocated last.</a:t>
            </a:r>
          </a:p>
        </p:txBody>
      </p:sp>
      <p:graphicFrame>
        <p:nvGraphicFramePr>
          <p:cNvPr id="5" name="Tableau 4">
            <a:extLst>
              <a:ext uri="{FF2B5EF4-FFF2-40B4-BE49-F238E27FC236}">
                <a16:creationId xmlns:a16="http://schemas.microsoft.com/office/drawing/2014/main" id="{4731E2DC-C876-4B70-B013-7AFB8064DB10}"/>
              </a:ext>
            </a:extLst>
          </p:cNvPr>
          <p:cNvGraphicFramePr>
            <a:graphicFrameLocks noGrp="1"/>
          </p:cNvGraphicFramePr>
          <p:nvPr>
            <p:extLst>
              <p:ext uri="{D42A27DB-BD31-4B8C-83A1-F6EECF244321}">
                <p14:modId xmlns:p14="http://schemas.microsoft.com/office/powerpoint/2010/main" val="3680006814"/>
              </p:ext>
            </p:extLst>
          </p:nvPr>
        </p:nvGraphicFramePr>
        <p:xfrm>
          <a:off x="1283368" y="2223249"/>
          <a:ext cx="5130785" cy="2188169"/>
        </p:xfrm>
        <a:graphic>
          <a:graphicData uri="http://schemas.openxmlformats.org/drawingml/2006/table">
            <a:tbl>
              <a:tblPr/>
              <a:tblGrid>
                <a:gridCol w="610808">
                  <a:extLst>
                    <a:ext uri="{9D8B030D-6E8A-4147-A177-3AD203B41FA5}">
                      <a16:colId xmlns:a16="http://schemas.microsoft.com/office/drawing/2014/main" val="1094142973"/>
                    </a:ext>
                  </a:extLst>
                </a:gridCol>
                <a:gridCol w="1267478">
                  <a:extLst>
                    <a:ext uri="{9D8B030D-6E8A-4147-A177-3AD203B41FA5}">
                      <a16:colId xmlns:a16="http://schemas.microsoft.com/office/drawing/2014/main" val="1644499296"/>
                    </a:ext>
                  </a:extLst>
                </a:gridCol>
                <a:gridCol w="860156">
                  <a:extLst>
                    <a:ext uri="{9D8B030D-6E8A-4147-A177-3AD203B41FA5}">
                      <a16:colId xmlns:a16="http://schemas.microsoft.com/office/drawing/2014/main" val="472763563"/>
                    </a:ext>
                  </a:extLst>
                </a:gridCol>
                <a:gridCol w="1277619">
                  <a:extLst>
                    <a:ext uri="{9D8B030D-6E8A-4147-A177-3AD203B41FA5}">
                      <a16:colId xmlns:a16="http://schemas.microsoft.com/office/drawing/2014/main" val="3120831532"/>
                    </a:ext>
                  </a:extLst>
                </a:gridCol>
                <a:gridCol w="1114724">
                  <a:extLst>
                    <a:ext uri="{9D8B030D-6E8A-4147-A177-3AD203B41FA5}">
                      <a16:colId xmlns:a16="http://schemas.microsoft.com/office/drawing/2014/main" val="2185209610"/>
                    </a:ext>
                  </a:extLst>
                </a:gridCol>
              </a:tblGrid>
              <a:tr h="155756">
                <a:tc>
                  <a:txBody>
                    <a:bodyPr/>
                    <a:lstStyle/>
                    <a:p>
                      <a:pPr algn="ctr" fontAlgn="ctr"/>
                      <a:r>
                        <a:rPr lang="en-US" sz="800" b="1" i="1" u="none" strike="noStrike" noProof="0" dirty="0">
                          <a:solidFill>
                            <a:srgbClr val="0070C0"/>
                          </a:solidFill>
                          <a:effectLst/>
                          <a:latin typeface="Arial" panose="020B0604020202020204" pitchFamily="34" charset="0"/>
                        </a:rPr>
                        <a:t>Cust </a:t>
                      </a:r>
                      <a:r>
                        <a:rPr lang="en-US" sz="800" b="1" i="1" u="none" strike="noStrike" noProof="0" dirty="0" err="1">
                          <a:solidFill>
                            <a:srgbClr val="0070C0"/>
                          </a:solidFill>
                          <a:effectLst/>
                          <a:latin typeface="Arial" panose="020B0604020202020204" pitchFamily="34" charset="0"/>
                        </a:rPr>
                        <a:t>Gp</a:t>
                      </a:r>
                      <a:endParaRPr lang="en-US" sz="800" b="1" i="1" u="none" strike="noStrike" noProof="0" dirty="0">
                        <a:solidFill>
                          <a:srgbClr val="0070C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1" u="none" strike="noStrike" noProof="0" dirty="0">
                          <a:solidFill>
                            <a:srgbClr val="0070C0"/>
                          </a:solidFill>
                          <a:effectLst/>
                          <a:latin typeface="Arial" panose="020B060402020202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noProof="0" dirty="0">
                          <a:solidFill>
                            <a:srgbClr val="000000"/>
                          </a:solidFill>
                          <a:effectLst/>
                          <a:latin typeface="Arial" panose="020B0604020202020204" pitchFamily="34" charset="0"/>
                        </a:rPr>
                        <a:t>Cust </a:t>
                      </a:r>
                      <a:r>
                        <a:rPr lang="en-US" sz="800" b="1" i="0" u="none" strike="noStrike" noProof="0" dirty="0" err="1">
                          <a:solidFill>
                            <a:srgbClr val="000000"/>
                          </a:solidFill>
                          <a:effectLst/>
                          <a:latin typeface="Arial" panose="020B0604020202020204" pitchFamily="34" charset="0"/>
                        </a:rPr>
                        <a:t>Gp</a:t>
                      </a:r>
                      <a:r>
                        <a:rPr lang="en-US" sz="800" b="1" i="0" u="none" strike="noStrike" noProof="0" dirty="0">
                          <a:solidFill>
                            <a:srgbClr val="000000"/>
                          </a:solidFill>
                          <a:effectLst/>
                          <a:latin typeface="Arial" panose="020B0604020202020204" pitchFamily="34" charset="0"/>
                        </a:rPr>
                        <a:t>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noProof="0" dirty="0">
                          <a:solidFill>
                            <a:srgbClr val="000000"/>
                          </a:solidFill>
                          <a:effectLst/>
                          <a:latin typeface="Arial" panose="020B060402020202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noProof="0" dirty="0" err="1">
                          <a:solidFill>
                            <a:schemeClr val="tx1"/>
                          </a:solidFill>
                          <a:effectLst/>
                          <a:latin typeface="Arial" panose="020B0604020202020204" pitchFamily="34" charset="0"/>
                        </a:rPr>
                        <a:t>Alloc</a:t>
                      </a:r>
                      <a:r>
                        <a:rPr lang="en-US" sz="800" b="1" i="0" u="none" strike="noStrike" noProof="0" dirty="0">
                          <a:solidFill>
                            <a:schemeClr val="tx1"/>
                          </a:solidFill>
                          <a:effectLst/>
                          <a:latin typeface="Arial" panose="020B0604020202020204" pitchFamily="34" charset="0"/>
                        </a:rPr>
                        <a:t> Prio New (</a:t>
                      </a:r>
                      <a:r>
                        <a:rPr lang="en-US" sz="800" b="1" i="0" u="none" strike="noStrike" noProof="0" dirty="0" err="1">
                          <a:solidFill>
                            <a:schemeClr val="tx1"/>
                          </a:solidFill>
                          <a:effectLst/>
                          <a:latin typeface="Arial" panose="020B0604020202020204" pitchFamily="34" charset="0"/>
                        </a:rPr>
                        <a:t>Asc</a:t>
                      </a:r>
                      <a:r>
                        <a:rPr lang="en-US" sz="800" b="1" i="0" u="none" strike="noStrike" noProof="0" dirty="0">
                          <a:solidFill>
                            <a:schemeClr val="tx1"/>
                          </a:solidFill>
                          <a:effectLst/>
                          <a:latin typeface="Arial" panose="020B060402020202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116599642"/>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Ecommerce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lang="en-US" sz="800" b="0" i="0" u="none" strike="noStrike" noProof="0" dirty="0">
                          <a:effectLst/>
                          <a:latin typeface="Arial" panose="020B0604020202020204" pitchFamily="34" charset="0"/>
                        </a:rPr>
                        <a:t>G55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sz="800" b="0" i="0" u="none" strike="noStrike" noProof="0" dirty="0">
                          <a:effectLst/>
                          <a:latin typeface="Arial" panose="020B0604020202020204" pitchFamily="34" charset="0"/>
                        </a:rPr>
                        <a:t>Homesite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3590422"/>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Ecommerce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en-US" sz="800" b="0" i="0" u="none" strike="noStrike" noProof="0" dirty="0">
                          <a:effectLst/>
                          <a:latin typeface="Arial" panose="020B0604020202020204" pitchFamily="34" charset="0"/>
                        </a:rPr>
                        <a:t>Marketplace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14493402"/>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Key Account</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727628765"/>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Large Account</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598362729"/>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Franchise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80146424"/>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Small Account</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43519236"/>
                  </a:ext>
                </a:extLst>
              </a:tr>
              <a:tr h="163341">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Distributor</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3008236"/>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B2B</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219527963"/>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Promo</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774720344"/>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Licensee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39955616"/>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r>
                        <a:rPr lang="en-US" sz="800" b="0" i="0" u="none" strike="noStrike" noProof="0" dirty="0">
                          <a:effectLst/>
                          <a:latin typeface="Arial" panose="020B0604020202020204" pitchFamily="34" charset="0"/>
                        </a:rPr>
                        <a:t>Internal</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26230217"/>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Retail</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en-US" sz="800" b="0" i="0" u="none" strike="noStrike" noProof="0" dirty="0">
                          <a:effectLst/>
                          <a:latin typeface="Arial" panose="020B0604020202020204" pitchFamily="34" charset="0"/>
                        </a:rPr>
                        <a:t>Retail</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865537267"/>
                  </a:ext>
                </a:extLst>
              </a:tr>
              <a:tr h="155756">
                <a:tc>
                  <a:txBody>
                    <a:bodyPr/>
                    <a:lstStyle/>
                    <a:p>
                      <a:pPr algn="ctr" fontAlgn="ctr"/>
                      <a:r>
                        <a:rPr lang="en-US" sz="800" b="0" i="1" u="none" strike="noStrike" noProof="0" dirty="0">
                          <a:solidFill>
                            <a:srgbClr val="0070C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en-US" sz="800" b="0" i="1" u="none" strike="noStrike" noProof="0" dirty="0">
                          <a:solidFill>
                            <a:srgbClr val="0070C0"/>
                          </a:solidFill>
                          <a:effectLst/>
                          <a:latin typeface="Arial" panose="020B0604020202020204" pitchFamily="34" charset="0"/>
                        </a:rPr>
                        <a:t>Wholesale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US" sz="800" b="0" i="0" u="none" strike="noStrike" noProof="0" dirty="0">
                          <a:effectLst/>
                          <a:latin typeface="Arial" panose="020B0604020202020204" pitchFamily="34" charset="0"/>
                        </a:rPr>
                        <a:t>G35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en-US" sz="800" b="0" i="0" u="none" strike="noStrike" noProof="0" dirty="0">
                          <a:effectLst/>
                          <a:latin typeface="Arial" panose="020B0604020202020204" pitchFamily="34" charset="0"/>
                        </a:rPr>
                        <a:t>Clearance</a:t>
                      </a:r>
                    </a:p>
                  </a:txBody>
                  <a:tcPr marL="1143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US" sz="800" b="0" i="0" u="none" strike="noStrike" noProof="0" dirty="0">
                          <a:solidFill>
                            <a:schemeClr val="tx1"/>
                          </a:solidFill>
                          <a:effectLst/>
                          <a:latin typeface="Arial" panose="020B0604020202020204" pitchFamily="34" charset="0"/>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73279977"/>
                  </a:ext>
                </a:extLst>
              </a:tr>
            </a:tbl>
          </a:graphicData>
        </a:graphic>
      </p:graphicFrame>
    </p:spTree>
    <p:extLst>
      <p:ext uri="{BB962C8B-B14F-4D97-AF65-F5344CB8AC3E}">
        <p14:creationId xmlns:p14="http://schemas.microsoft.com/office/powerpoint/2010/main" val="4225134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6"/>
            </a:pPr>
            <a:r>
              <a:rPr lang="en-US" noProof="0" dirty="0"/>
              <a:t>Stock Sorting</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27" name="Rectangle : coins arrondis 26">
            <a:extLst>
              <a:ext uri="{FF2B5EF4-FFF2-40B4-BE49-F238E27FC236}">
                <a16:creationId xmlns:a16="http://schemas.microsoft.com/office/drawing/2014/main" id="{9F95F616-87F9-4A24-807B-D49CA8C22361}"/>
              </a:ext>
            </a:extLst>
          </p:cNvPr>
          <p:cNvSpPr/>
          <p:nvPr/>
        </p:nvSpPr>
        <p:spPr>
          <a:xfrm>
            <a:off x="5958476" y="1594269"/>
            <a:ext cx="1895238" cy="635400"/>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215396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7B53629-E33E-43BA-9343-E21B37FF8039}"/>
              </a:ext>
            </a:extLst>
          </p:cNvPr>
          <p:cNvSpPr>
            <a:spLocks noGrp="1"/>
          </p:cNvSpPr>
          <p:nvPr>
            <p:ph type="title"/>
          </p:nvPr>
        </p:nvSpPr>
        <p:spPr/>
        <p:txBody>
          <a:bodyPr/>
          <a:lstStyle/>
          <a:p>
            <a:pPr marL="457200" indent="-457200">
              <a:buFont typeface="+mj-lt"/>
              <a:buAutoNum type="arabicPeriod" startAt="6"/>
            </a:pPr>
            <a:r>
              <a:rPr lang="en-US" noProof="0" dirty="0"/>
              <a:t>Stock Sorting</a:t>
            </a:r>
          </a:p>
        </p:txBody>
      </p:sp>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Using the Early Allocation, EMEA allocatable stock is sorted with the following priorities:</a:t>
            </a:r>
          </a:p>
          <a:p>
            <a:endParaRPr lang="en-US" noProof="0" dirty="0"/>
          </a:p>
          <a:p>
            <a:pPr marL="342900" indent="-342900">
              <a:buFont typeface="+mj-lt"/>
              <a:buAutoNum type="arabicPeriod"/>
            </a:pPr>
            <a:r>
              <a:rPr lang="en-US" noProof="0" dirty="0"/>
              <a:t>Batch Stock (C)</a:t>
            </a:r>
          </a:p>
          <a:p>
            <a:pPr marL="342900" indent="-342900">
              <a:buFont typeface="+mj-lt"/>
              <a:buAutoNum type="arabicPeriod"/>
            </a:pPr>
            <a:r>
              <a:rPr lang="en-US" noProof="0" dirty="0"/>
              <a:t>Shipping Notifications (L)</a:t>
            </a:r>
          </a:p>
          <a:p>
            <a:pPr marL="342900" indent="-342900">
              <a:buFont typeface="+mj-lt"/>
              <a:buAutoNum type="arabicPeriod"/>
            </a:pPr>
            <a:r>
              <a:rPr lang="en-US" noProof="0" dirty="0"/>
              <a:t>Purchase Orders (B)</a:t>
            </a:r>
          </a:p>
          <a:p>
            <a:endParaRPr lang="en-US" noProof="0" dirty="0"/>
          </a:p>
        </p:txBody>
      </p:sp>
    </p:spTree>
    <p:extLst>
      <p:ext uri="{BB962C8B-B14F-4D97-AF65-F5344CB8AC3E}">
        <p14:creationId xmlns:p14="http://schemas.microsoft.com/office/powerpoint/2010/main" val="1842469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7"/>
            </a:pPr>
            <a:r>
              <a:rPr lang="en-US" noProof="0" dirty="0"/>
              <a:t>Stock/Requirements Allocation Rules</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27" name="Rectangle : coins arrondis 26">
            <a:extLst>
              <a:ext uri="{FF2B5EF4-FFF2-40B4-BE49-F238E27FC236}">
                <a16:creationId xmlns:a16="http://schemas.microsoft.com/office/drawing/2014/main" id="{E7A52245-21F3-44DD-BAD1-CCF5815BBE1B}"/>
              </a:ext>
            </a:extLst>
          </p:cNvPr>
          <p:cNvSpPr/>
          <p:nvPr/>
        </p:nvSpPr>
        <p:spPr>
          <a:xfrm>
            <a:off x="7928335" y="2068403"/>
            <a:ext cx="1795730" cy="776757"/>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46499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550C3-3C35-08F4-3746-37A7F6FEDA6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24C84CE-C8D1-25F5-BAB7-445F92A99D76}"/>
              </a:ext>
            </a:extLst>
          </p:cNvPr>
          <p:cNvSpPr>
            <a:spLocks noGrp="1"/>
          </p:cNvSpPr>
          <p:nvPr>
            <p:ph type="title"/>
          </p:nvPr>
        </p:nvSpPr>
        <p:spPr/>
        <p:txBody>
          <a:bodyPr/>
          <a:lstStyle/>
          <a:p>
            <a:pPr marL="457200" indent="-457200">
              <a:buFont typeface="+mj-lt"/>
              <a:buAutoNum type="arabicPeriod" startAt="7"/>
            </a:pPr>
            <a:r>
              <a:rPr lang="en-US" noProof="0" dirty="0"/>
              <a:t>Stock/Requirements Allocation Rules</a:t>
            </a:r>
          </a:p>
        </p:txBody>
      </p:sp>
      <p:sp>
        <p:nvSpPr>
          <p:cNvPr id="9" name="Espace réservé du contenu 9">
            <a:extLst>
              <a:ext uri="{FF2B5EF4-FFF2-40B4-BE49-F238E27FC236}">
                <a16:creationId xmlns:a16="http://schemas.microsoft.com/office/drawing/2014/main" id="{1F742E3F-AB6D-5BE7-75C1-E86132E5AF95}"/>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noProof="0" dirty="0"/>
              <a:t>Allocation rule defines how selected stock are assigned to selected requirements.</a:t>
            </a:r>
          </a:p>
          <a:p>
            <a:pPr algn="just"/>
            <a:r>
              <a:rPr lang="en-US" noProof="0" dirty="0"/>
              <a:t>Fixed assignments will then be done based on:</a:t>
            </a:r>
          </a:p>
          <a:p>
            <a:pPr algn="just"/>
            <a:endParaRPr lang="en-US" b="1" noProof="0" dirty="0"/>
          </a:p>
          <a:p>
            <a:pPr marL="342900" indent="-342900" algn="just">
              <a:buFont typeface="+mj-lt"/>
              <a:buAutoNum type="arabicParenR"/>
            </a:pPr>
            <a:r>
              <a:rPr lang="en-US" b="1" noProof="0" dirty="0"/>
              <a:t>Requirements and Stock Schedule Line Reference Dates</a:t>
            </a:r>
          </a:p>
          <a:p>
            <a:pPr marL="285750" indent="-285750" algn="just">
              <a:buFont typeface="Arial" panose="020B0604020202020204" pitchFamily="34" charset="0"/>
              <a:buChar char="•"/>
            </a:pPr>
            <a:r>
              <a:rPr lang="en-US" u="sng" noProof="0" dirty="0"/>
              <a:t>Requirements Date </a:t>
            </a:r>
            <a:r>
              <a:rPr lang="en-US" noProof="0" dirty="0"/>
              <a:t>= </a:t>
            </a:r>
            <a:r>
              <a:rPr lang="en-US" b="1" noProof="0" dirty="0"/>
              <a:t>Material Availability Date</a:t>
            </a:r>
            <a:r>
              <a:rPr lang="en-US" noProof="0" dirty="0"/>
              <a:t> (= RDD – 3 days)</a:t>
            </a:r>
            <a:endParaRPr lang="en-US" b="1" noProof="0" dirty="0"/>
          </a:p>
          <a:p>
            <a:pPr marL="2243138" algn="just"/>
            <a:r>
              <a:rPr lang="en-US" noProof="0" dirty="0"/>
              <a:t>or </a:t>
            </a:r>
            <a:r>
              <a:rPr lang="en-US" b="1" noProof="0" dirty="0"/>
              <a:t>Confirmed Delivery Date</a:t>
            </a:r>
            <a:r>
              <a:rPr lang="en-US" noProof="0" dirty="0"/>
              <a:t> (according to Process flow)</a:t>
            </a:r>
          </a:p>
          <a:p>
            <a:pPr marL="285750" indent="-285750" algn="just">
              <a:buFont typeface="Arial" panose="020B0604020202020204" pitchFamily="34" charset="0"/>
              <a:buChar char="•"/>
            </a:pPr>
            <a:r>
              <a:rPr lang="en-US" u="sng" noProof="0" dirty="0"/>
              <a:t>Stock Date </a:t>
            </a:r>
            <a:r>
              <a:rPr lang="en-US" noProof="0" dirty="0"/>
              <a:t>	    = </a:t>
            </a:r>
            <a:r>
              <a:rPr lang="en-US" b="1" noProof="0" dirty="0"/>
              <a:t>Goods Receipt Date</a:t>
            </a:r>
            <a:r>
              <a:rPr lang="en-US" noProof="0" dirty="0"/>
              <a:t> (= PO Delivery date + GR processing time), GR = 5 days in EMEA</a:t>
            </a:r>
          </a:p>
          <a:p>
            <a:pPr algn="just"/>
            <a:endParaRPr lang="en-US" noProof="0" dirty="0"/>
          </a:p>
          <a:p>
            <a:pPr marL="342900" indent="-342900" algn="just">
              <a:buFont typeface="+mj-lt"/>
              <a:buAutoNum type="arabicParenR" startAt="2"/>
            </a:pPr>
            <a:r>
              <a:rPr lang="en-US" b="1" noProof="0" dirty="0"/>
              <a:t>Item Storage Location Logic</a:t>
            </a:r>
          </a:p>
          <a:p>
            <a:pPr algn="just"/>
            <a:r>
              <a:rPr lang="en-US" noProof="0" dirty="0"/>
              <a:t>Storage Location strictly matches between Stock and Requirements when available in the Sales orders.</a:t>
            </a:r>
          </a:p>
          <a:p>
            <a:pPr algn="just"/>
            <a:r>
              <a:rPr lang="en-US" sz="1200" noProof="0" dirty="0"/>
              <a:t>-&gt; Automatic fill-in implemented of Storage Location 2000 in all Sales Orders and 2015 in Returns orders for EMEA.</a:t>
            </a:r>
            <a:endParaRPr lang="en-US" noProof="0" dirty="0"/>
          </a:p>
          <a:p>
            <a:pPr algn="just"/>
            <a:endParaRPr lang="en-US" b="1" noProof="0" dirty="0"/>
          </a:p>
          <a:p>
            <a:pPr marL="342900" indent="-342900" algn="just">
              <a:buFont typeface="+mj-lt"/>
              <a:buAutoNum type="arabicParenR" startAt="3"/>
            </a:pPr>
            <a:r>
              <a:rPr lang="en-US" b="1" noProof="0" dirty="0"/>
              <a:t>Schedule Line Stock Category Logic</a:t>
            </a:r>
          </a:p>
          <a:p>
            <a:pPr algn="just"/>
            <a:r>
              <a:rPr lang="en-US" noProof="0" dirty="0"/>
              <a:t>Stock Category matches the Requirement Category as maintained in the </a:t>
            </a:r>
            <a:r>
              <a:rPr lang="en-US" u="sng" noProof="0" dirty="0"/>
              <a:t>Coverage Strategy</a:t>
            </a:r>
            <a:r>
              <a:rPr lang="en-US" noProof="0" dirty="0"/>
              <a:t>.</a:t>
            </a:r>
          </a:p>
        </p:txBody>
      </p:sp>
    </p:spTree>
    <p:extLst>
      <p:ext uri="{BB962C8B-B14F-4D97-AF65-F5344CB8AC3E}">
        <p14:creationId xmlns:p14="http://schemas.microsoft.com/office/powerpoint/2010/main" val="1766612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7B53629-E33E-43BA-9343-E21B37FF8039}"/>
              </a:ext>
            </a:extLst>
          </p:cNvPr>
          <p:cNvSpPr>
            <a:spLocks noGrp="1"/>
          </p:cNvSpPr>
          <p:nvPr>
            <p:ph type="title"/>
          </p:nvPr>
        </p:nvSpPr>
        <p:spPr/>
        <p:txBody>
          <a:bodyPr/>
          <a:lstStyle/>
          <a:p>
            <a:pPr marL="457200" indent="-457200">
              <a:buFont typeface="+mj-lt"/>
              <a:buAutoNum type="arabicPeriod" startAt="7"/>
            </a:pPr>
            <a:r>
              <a:rPr lang="en-US" noProof="0" dirty="0"/>
              <a:t>Stock/Requirements Allocation Rules</a:t>
            </a:r>
          </a:p>
        </p:txBody>
      </p:sp>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102179"/>
            <a:ext cx="10515599" cy="4959255"/>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3"/>
            </a:pPr>
            <a:r>
              <a:rPr lang="en-US" b="1" noProof="0" dirty="0"/>
              <a:t>Stock </a:t>
            </a:r>
            <a:r>
              <a:rPr lang="en-US" b="1" noProof="0" dirty="0" err="1"/>
              <a:t>priorization</a:t>
            </a:r>
            <a:r>
              <a:rPr lang="en-US" b="1" noProof="0" dirty="0"/>
              <a:t> = Validity Horizon of allocation per stock type following priority</a:t>
            </a:r>
          </a:p>
          <a:p>
            <a:endParaRPr lang="en-US" b="1" u="sng" noProof="0" dirty="0"/>
          </a:p>
          <a:p>
            <a:r>
              <a:rPr lang="en-US" b="1" u="sng" noProof="0" dirty="0"/>
              <a:t>Physical Stock Prioritization:</a:t>
            </a:r>
          </a:p>
          <a:p>
            <a:r>
              <a:rPr lang="en-US" noProof="0" dirty="0"/>
              <a:t>This determines the point in time (days) when physical stock can be allocated. Based on this, the system calculates a horizon within which the Schedule Line confirmed date (= MAD) must lie to allow physical stock to be allocated.</a:t>
            </a:r>
          </a:p>
          <a:p>
            <a:r>
              <a:rPr lang="en-US" b="1" noProof="0" dirty="0"/>
              <a:t>Batch stock </a:t>
            </a:r>
            <a:r>
              <a:rPr lang="en-US" noProof="0" dirty="0"/>
              <a:t>allocation horizon starts from </a:t>
            </a:r>
            <a:r>
              <a:rPr lang="en-US" b="1" noProof="0" dirty="0" err="1"/>
              <a:t>ARun</a:t>
            </a:r>
            <a:r>
              <a:rPr lang="en-US" b="1" noProof="0" dirty="0"/>
              <a:t> execution Date</a:t>
            </a:r>
            <a:r>
              <a:rPr lang="en-US" noProof="0" dirty="0"/>
              <a:t>.</a:t>
            </a:r>
          </a:p>
          <a:p>
            <a:endParaRPr lang="en-US" noProof="0" dirty="0"/>
          </a:p>
          <a:p>
            <a:endParaRPr lang="en-US" noProof="0" dirty="0"/>
          </a:p>
          <a:p>
            <a:r>
              <a:rPr lang="en-US" b="1" u="sng" noProof="0" dirty="0"/>
              <a:t>Future Stock Prioritization:</a:t>
            </a:r>
          </a:p>
          <a:p>
            <a:r>
              <a:rPr lang="en-US" noProof="0" dirty="0"/>
              <a:t>An allocation window is defined for a stock element. If the requirement date is within the window, then this stock can be allocated.</a:t>
            </a:r>
          </a:p>
          <a:p>
            <a:endParaRPr lang="en-US" b="1" noProof="0" dirty="0"/>
          </a:p>
          <a:p>
            <a:r>
              <a:rPr lang="en-US" b="1" noProof="0" dirty="0"/>
              <a:t>ASN and PO </a:t>
            </a:r>
            <a:r>
              <a:rPr lang="en-US" noProof="0" dirty="0"/>
              <a:t>allocation horizons are calculated « backwards » and « forwards » starting from the </a:t>
            </a:r>
            <a:r>
              <a:rPr lang="en-US" b="1" noProof="0" dirty="0"/>
              <a:t>Sales Order Schedule Line MAD</a:t>
            </a:r>
            <a:endParaRPr lang="en-US" noProof="0" dirty="0"/>
          </a:p>
          <a:p>
            <a:endParaRPr lang="en-US" noProof="0" dirty="0"/>
          </a:p>
          <a:p>
            <a:r>
              <a:rPr lang="en-US" b="1" noProof="0" dirty="0"/>
              <a:t>ASN and PO reference date </a:t>
            </a:r>
            <a:r>
              <a:rPr lang="en-US" noProof="0" dirty="0"/>
              <a:t>for the allocation horizon is the Goods Receipt Date = PO Delivery date + GR processing time, also called as </a:t>
            </a:r>
            <a:r>
              <a:rPr lang="en-US" b="1" noProof="0" dirty="0"/>
              <a:t>ASN/PO MAD</a:t>
            </a:r>
            <a:r>
              <a:rPr lang="en-US" noProof="0" dirty="0"/>
              <a:t>.</a:t>
            </a:r>
          </a:p>
        </p:txBody>
      </p:sp>
    </p:spTree>
    <p:extLst>
      <p:ext uri="{BB962C8B-B14F-4D97-AF65-F5344CB8AC3E}">
        <p14:creationId xmlns:p14="http://schemas.microsoft.com/office/powerpoint/2010/main" val="1948619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A6561-68A7-88DF-DFF7-D8CF2F68968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C264A5D-F037-E8D0-5A68-8F05C526A5A9}"/>
              </a:ext>
            </a:extLst>
          </p:cNvPr>
          <p:cNvSpPr>
            <a:spLocks noGrp="1"/>
          </p:cNvSpPr>
          <p:nvPr>
            <p:ph type="title"/>
          </p:nvPr>
        </p:nvSpPr>
        <p:spPr/>
        <p:txBody>
          <a:bodyPr/>
          <a:lstStyle/>
          <a:p>
            <a:pPr marL="457200" indent="-457200">
              <a:buFont typeface="+mj-lt"/>
              <a:buAutoNum type="arabicPeriod" startAt="7"/>
            </a:pPr>
            <a:r>
              <a:rPr lang="en-US" noProof="0" dirty="0"/>
              <a:t>Stock/Requirements Allocation Rules</a:t>
            </a:r>
          </a:p>
        </p:txBody>
      </p:sp>
      <p:pic>
        <p:nvPicPr>
          <p:cNvPr id="6" name="Image 5">
            <a:extLst>
              <a:ext uri="{FF2B5EF4-FFF2-40B4-BE49-F238E27FC236}">
                <a16:creationId xmlns:a16="http://schemas.microsoft.com/office/drawing/2014/main" id="{FDD1144E-B10E-E95D-80BF-104A619CCF07}"/>
              </a:ext>
            </a:extLst>
          </p:cNvPr>
          <p:cNvPicPr>
            <a:picLocks noChangeAspect="1"/>
          </p:cNvPicPr>
          <p:nvPr/>
        </p:nvPicPr>
        <p:blipFill>
          <a:blip r:embed="rId2"/>
          <a:stretch>
            <a:fillRect/>
          </a:stretch>
        </p:blipFill>
        <p:spPr>
          <a:xfrm>
            <a:off x="197407" y="1420400"/>
            <a:ext cx="11797186" cy="4174516"/>
          </a:xfrm>
          <a:prstGeom prst="rect">
            <a:avLst/>
          </a:prstGeom>
        </p:spPr>
      </p:pic>
    </p:spTree>
    <p:extLst>
      <p:ext uri="{BB962C8B-B14F-4D97-AF65-F5344CB8AC3E}">
        <p14:creationId xmlns:p14="http://schemas.microsoft.com/office/powerpoint/2010/main" val="1609072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7B53629-E33E-43BA-9343-E21B37FF8039}"/>
              </a:ext>
            </a:extLst>
          </p:cNvPr>
          <p:cNvSpPr>
            <a:spLocks noGrp="1"/>
          </p:cNvSpPr>
          <p:nvPr>
            <p:ph type="title"/>
          </p:nvPr>
        </p:nvSpPr>
        <p:spPr/>
        <p:txBody>
          <a:bodyPr/>
          <a:lstStyle/>
          <a:p>
            <a:pPr marL="457200" indent="-457200">
              <a:buFont typeface="+mj-lt"/>
              <a:buAutoNum type="arabicPeriod" startAt="7"/>
            </a:pPr>
            <a:r>
              <a:rPr lang="en-US" noProof="0" dirty="0"/>
              <a:t>Stock/Requirements Allocation Rules</a:t>
            </a:r>
          </a:p>
        </p:txBody>
      </p:sp>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683" lvl="1" indent="-342900">
              <a:buFont typeface="+mj-lt"/>
              <a:buAutoNum type="alphaLcParenR"/>
            </a:pPr>
            <a:r>
              <a:rPr lang="en-US" u="sng" noProof="0" dirty="0"/>
              <a:t>EMEA Samples Orders Horizon:</a:t>
            </a:r>
          </a:p>
          <a:p>
            <a:endParaRPr lang="en-US" u="sng"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dirty="0"/>
          </a:p>
          <a:p>
            <a:endParaRPr lang="en-US" noProof="0" dirty="0"/>
          </a:p>
          <a:p>
            <a:endParaRPr lang="en-US" dirty="0"/>
          </a:p>
          <a:p>
            <a:endParaRPr lang="en-US" noProof="0" dirty="0"/>
          </a:p>
          <a:p>
            <a:pPr algn="r"/>
            <a:endParaRPr lang="en-US" sz="1050" i="1" dirty="0"/>
          </a:p>
          <a:p>
            <a:pPr algn="r"/>
            <a:r>
              <a:rPr lang="en-US" sz="1000" i="1" dirty="0"/>
              <a:t>Horizons are defined according to seasons’ delivery dates – see Appendix for details</a:t>
            </a:r>
            <a:endParaRPr lang="en-US" sz="1000" i="1" noProof="0" dirty="0"/>
          </a:p>
        </p:txBody>
      </p:sp>
      <p:graphicFrame>
        <p:nvGraphicFramePr>
          <p:cNvPr id="5" name="Tableau 4">
            <a:extLst>
              <a:ext uri="{FF2B5EF4-FFF2-40B4-BE49-F238E27FC236}">
                <a16:creationId xmlns:a16="http://schemas.microsoft.com/office/drawing/2014/main" id="{2BDF630B-6336-47B6-A399-6D955865F3D5}"/>
              </a:ext>
            </a:extLst>
          </p:cNvPr>
          <p:cNvGraphicFramePr>
            <a:graphicFrameLocks noGrp="1"/>
          </p:cNvGraphicFramePr>
          <p:nvPr>
            <p:extLst>
              <p:ext uri="{D42A27DB-BD31-4B8C-83A1-F6EECF244321}">
                <p14:modId xmlns:p14="http://schemas.microsoft.com/office/powerpoint/2010/main" val="3560745298"/>
              </p:ext>
            </p:extLst>
          </p:nvPr>
        </p:nvGraphicFramePr>
        <p:xfrm>
          <a:off x="4425648" y="1579870"/>
          <a:ext cx="2311400" cy="609600"/>
        </p:xfrm>
        <a:graphic>
          <a:graphicData uri="http://schemas.openxmlformats.org/drawingml/2006/table">
            <a:tbl>
              <a:tblPr/>
              <a:tblGrid>
                <a:gridCol w="697542">
                  <a:extLst>
                    <a:ext uri="{9D8B030D-6E8A-4147-A177-3AD203B41FA5}">
                      <a16:colId xmlns:a16="http://schemas.microsoft.com/office/drawing/2014/main" val="2795189815"/>
                    </a:ext>
                  </a:extLst>
                </a:gridCol>
                <a:gridCol w="1078019">
                  <a:extLst>
                    <a:ext uri="{9D8B030D-6E8A-4147-A177-3AD203B41FA5}">
                      <a16:colId xmlns:a16="http://schemas.microsoft.com/office/drawing/2014/main" val="4108699181"/>
                    </a:ext>
                  </a:extLst>
                </a:gridCol>
                <a:gridCol w="294870">
                  <a:extLst>
                    <a:ext uri="{9D8B030D-6E8A-4147-A177-3AD203B41FA5}">
                      <a16:colId xmlns:a16="http://schemas.microsoft.com/office/drawing/2014/main" val="2447828319"/>
                    </a:ext>
                  </a:extLst>
                </a:gridCol>
                <a:gridCol w="240969">
                  <a:extLst>
                    <a:ext uri="{9D8B030D-6E8A-4147-A177-3AD203B41FA5}">
                      <a16:colId xmlns:a16="http://schemas.microsoft.com/office/drawing/2014/main" val="3627392717"/>
                    </a:ext>
                  </a:extLst>
                </a:gridCol>
              </a:tblGrid>
              <a:tr h="152400">
                <a:tc>
                  <a:txBody>
                    <a:bodyPr/>
                    <a:lstStyle/>
                    <a:p>
                      <a:pPr algn="ctr" fontAlgn="b"/>
                      <a:r>
                        <a:rPr lang="en-US" sz="800" b="0" i="0" u="none" strike="noStrike" noProof="0" dirty="0">
                          <a:effectLst/>
                          <a:latin typeface="Arial" panose="020B0604020202020204" pitchFamily="34" charset="0"/>
                        </a:rPr>
                        <a:t>Prio. Of Stock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noProof="0" dirty="0">
                          <a:effectLst/>
                          <a:latin typeface="Arial" panose="020B0604020202020204" pitchFamily="34" charset="0"/>
                        </a:rPr>
                        <a:t>Stock Type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noProof="0" dirty="0">
                          <a:effectLst/>
                          <a:latin typeface="Arial" panose="020B0604020202020204" pitchFamily="34" charset="0"/>
                        </a:rPr>
                        <a:t>From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noProof="0" dirty="0">
                          <a:effectLst/>
                          <a:latin typeface="Arial" panose="020B0604020202020204" pitchFamily="34" charset="0"/>
                        </a:rPr>
                        <a:t>To</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98942356"/>
                  </a:ext>
                </a:extLst>
              </a:tr>
              <a:tr h="152400">
                <a:tc>
                  <a:txBody>
                    <a:bodyPr/>
                    <a:lstStyle/>
                    <a:p>
                      <a:pPr algn="ctr" fontAlgn="b"/>
                      <a:r>
                        <a:rPr lang="en-US" sz="800" b="0" i="0" u="none" strike="noStrike" noProof="0" dirty="0">
                          <a:effectLst/>
                          <a:latin typeface="Arial" panose="020B06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800" b="0" i="0" u="none" strike="noStrike" noProof="0" dirty="0">
                          <a:effectLst/>
                          <a:latin typeface="Arial" panose="020B0604020202020204" pitchFamily="34" charset="0"/>
                        </a:rPr>
                        <a:t>C Batches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800" b="0" i="0" u="none" strike="noStrike" noProof="0" dirty="0">
                          <a:effectLst/>
                          <a:latin typeface="Arial" panose="020B0604020202020204" pitchFamily="34" charset="0"/>
                        </a:rPr>
                        <a:t>150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800" b="0" i="0" u="none" strike="noStrike" noProof="0" dirty="0">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67479766"/>
                  </a:ext>
                </a:extLst>
              </a:tr>
              <a:tr h="152400">
                <a:tc>
                  <a:txBody>
                    <a:bodyPr/>
                    <a:lstStyle/>
                    <a:p>
                      <a:pPr algn="ctr" fontAlgn="b"/>
                      <a:r>
                        <a:rPr lang="en-US" sz="800" b="0" i="0" u="none" strike="noStrike" noProof="0" dirty="0">
                          <a:effectLst/>
                          <a:latin typeface="Arial" panose="020B06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b"/>
                      <a:r>
                        <a:rPr lang="en-US" sz="800" b="0" i="0" u="none" strike="noStrike" noProof="0" dirty="0">
                          <a:effectLst/>
                          <a:latin typeface="Arial" panose="020B0604020202020204" pitchFamily="34" charset="0"/>
                        </a:rPr>
                        <a:t>L Confirmations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US" sz="800" b="0" i="0" u="none" strike="noStrike" noProof="0" dirty="0">
                          <a:effectLst/>
                          <a:latin typeface="Arial" panose="020B0604020202020204" pitchFamily="34" charset="0"/>
                        </a:rPr>
                        <a:t>120-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US" sz="800" b="0" i="0" u="none" strike="noStrike" noProof="0" dirty="0">
                          <a:effectLst/>
                          <a:latin typeface="Arial" panose="020B0604020202020204" pitchFamily="34" charset="0"/>
                        </a:rPr>
                        <a:t>150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32892920"/>
                  </a:ext>
                </a:extLst>
              </a:tr>
              <a:tr h="152400">
                <a:tc>
                  <a:txBody>
                    <a:bodyPr/>
                    <a:lstStyle/>
                    <a:p>
                      <a:pPr algn="ctr" fontAlgn="b"/>
                      <a:r>
                        <a:rPr lang="en-US" sz="800" b="0" i="0" u="none" strike="noStrike" noProof="0" dirty="0">
                          <a:effectLst/>
                          <a:latin typeface="Arial" panose="020B06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b"/>
                      <a:r>
                        <a:rPr lang="en-US" sz="800" b="0" i="0" u="none" strike="noStrike" noProof="0" dirty="0">
                          <a:effectLst/>
                          <a:latin typeface="Arial" panose="020B0604020202020204" pitchFamily="34" charset="0"/>
                        </a:rPr>
                        <a:t>B Purchase Orders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800" b="0" i="0" u="none" strike="noStrike" noProof="0" dirty="0">
                          <a:effectLst/>
                          <a:latin typeface="Arial" panose="020B0604020202020204" pitchFamily="34" charset="0"/>
                        </a:rPr>
                        <a:t>120-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800" b="0" i="0" u="none" strike="noStrike" noProof="0" dirty="0">
                          <a:effectLst/>
                          <a:latin typeface="Arial" panose="020B0604020202020204" pitchFamily="34" charset="0"/>
                        </a:rPr>
                        <a:t>150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84112604"/>
                  </a:ext>
                </a:extLst>
              </a:tr>
            </a:tbl>
          </a:graphicData>
        </a:graphic>
      </p:graphicFrame>
      <p:pic>
        <p:nvPicPr>
          <p:cNvPr id="6" name="Image 5">
            <a:extLst>
              <a:ext uri="{FF2B5EF4-FFF2-40B4-BE49-F238E27FC236}">
                <a16:creationId xmlns:a16="http://schemas.microsoft.com/office/drawing/2014/main" id="{7898D475-AEF4-DE58-522D-FD668148D51F}"/>
              </a:ext>
            </a:extLst>
          </p:cNvPr>
          <p:cNvPicPr>
            <a:picLocks noChangeAspect="1"/>
          </p:cNvPicPr>
          <p:nvPr/>
        </p:nvPicPr>
        <p:blipFill>
          <a:blip r:embed="rId2"/>
          <a:stretch>
            <a:fillRect/>
          </a:stretch>
        </p:blipFill>
        <p:spPr>
          <a:xfrm>
            <a:off x="0" y="2680689"/>
            <a:ext cx="12192000" cy="2117717"/>
          </a:xfrm>
          <a:prstGeom prst="rect">
            <a:avLst/>
          </a:prstGeom>
        </p:spPr>
      </p:pic>
    </p:spTree>
    <p:extLst>
      <p:ext uri="{BB962C8B-B14F-4D97-AF65-F5344CB8AC3E}">
        <p14:creationId xmlns:p14="http://schemas.microsoft.com/office/powerpoint/2010/main" val="2404477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Image 1">
            <a:extLst>
              <a:ext uri="{FF2B5EF4-FFF2-40B4-BE49-F238E27FC236}">
                <a16:creationId xmlns:a16="http://schemas.microsoft.com/office/drawing/2014/main" id="{1F7EC539-028B-43D0-B29F-28E8F9B002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85" y="2647603"/>
            <a:ext cx="11957842" cy="236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re 2">
            <a:extLst>
              <a:ext uri="{FF2B5EF4-FFF2-40B4-BE49-F238E27FC236}">
                <a16:creationId xmlns:a16="http://schemas.microsoft.com/office/drawing/2014/main" id="{43B3C86B-6CF4-49A0-B81B-0BAB9C662C84}"/>
              </a:ext>
            </a:extLst>
          </p:cNvPr>
          <p:cNvSpPr>
            <a:spLocks noGrp="1"/>
          </p:cNvSpPr>
          <p:nvPr>
            <p:ph type="title"/>
          </p:nvPr>
        </p:nvSpPr>
        <p:spPr/>
        <p:txBody>
          <a:bodyPr/>
          <a:lstStyle/>
          <a:p>
            <a:pPr marL="457200" indent="-457200">
              <a:buFont typeface="+mj-lt"/>
              <a:buAutoNum type="arabicPeriod" startAt="7"/>
            </a:pPr>
            <a:r>
              <a:rPr lang="en-US" noProof="0" dirty="0"/>
              <a:t>Stock/Requirements Allocation Rules</a:t>
            </a:r>
          </a:p>
        </p:txBody>
      </p:sp>
      <p:sp>
        <p:nvSpPr>
          <p:cNvPr id="20" name="ZoneTexte 19">
            <a:extLst>
              <a:ext uri="{FF2B5EF4-FFF2-40B4-BE49-F238E27FC236}">
                <a16:creationId xmlns:a16="http://schemas.microsoft.com/office/drawing/2014/main" id="{9EEA613C-46D3-4742-B61E-5AB10DD819DC}"/>
              </a:ext>
            </a:extLst>
          </p:cNvPr>
          <p:cNvSpPr txBox="1"/>
          <p:nvPr/>
        </p:nvSpPr>
        <p:spPr>
          <a:xfrm>
            <a:off x="495755" y="1840948"/>
            <a:ext cx="3068158" cy="369332"/>
          </a:xfrm>
          <a:prstGeom prst="rect">
            <a:avLst/>
          </a:prstGeom>
          <a:noFill/>
          <a:ln>
            <a:solidFill>
              <a:schemeClr val="accent3">
                <a:lumMod val="50000"/>
              </a:schemeClr>
            </a:solidFill>
          </a:ln>
        </p:spPr>
        <p:txBody>
          <a:bodyPr wrap="square" rtlCol="0">
            <a:spAutoFit/>
          </a:bodyPr>
          <a:lstStyle/>
          <a:p>
            <a:r>
              <a:rPr lang="en-US" sz="800" b="1" noProof="0" dirty="0"/>
              <a:t>Stock</a:t>
            </a:r>
            <a:r>
              <a:rPr lang="en-US" sz="900" b="1" noProof="0" dirty="0"/>
              <a:t> on-hand : max to +60 days as 1</a:t>
            </a:r>
            <a:r>
              <a:rPr lang="en-US" sz="900" b="1" baseline="30000" noProof="0" dirty="0"/>
              <a:t>st</a:t>
            </a:r>
            <a:r>
              <a:rPr lang="en-US" sz="900" b="1" noProof="0" dirty="0"/>
              <a:t> allocation priority vs customer MAD</a:t>
            </a:r>
          </a:p>
        </p:txBody>
      </p:sp>
      <p:cxnSp>
        <p:nvCxnSpPr>
          <p:cNvPr id="27" name="Connecteur droit avec flèche 26">
            <a:extLst>
              <a:ext uri="{FF2B5EF4-FFF2-40B4-BE49-F238E27FC236}">
                <a16:creationId xmlns:a16="http://schemas.microsoft.com/office/drawing/2014/main" id="{401CFC3B-5D96-4D72-8F5A-C9CC75956734}"/>
              </a:ext>
            </a:extLst>
          </p:cNvPr>
          <p:cNvCxnSpPr>
            <a:cxnSpLocks/>
            <a:stCxn id="20" idx="2"/>
          </p:cNvCxnSpPr>
          <p:nvPr/>
        </p:nvCxnSpPr>
        <p:spPr>
          <a:xfrm>
            <a:off x="2029834" y="2210280"/>
            <a:ext cx="0" cy="1328357"/>
          </a:xfrm>
          <a:prstGeom prst="straightConnector1">
            <a:avLst/>
          </a:prstGeom>
          <a:ln w="19050">
            <a:solidFill>
              <a:schemeClr val="accent3">
                <a:lumMod val="50000"/>
              </a:scheme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ZoneTexte 39">
            <a:extLst>
              <a:ext uri="{FF2B5EF4-FFF2-40B4-BE49-F238E27FC236}">
                <a16:creationId xmlns:a16="http://schemas.microsoft.com/office/drawing/2014/main" id="{E4E26756-A7A4-4BD9-9201-19E086548A2A}"/>
              </a:ext>
            </a:extLst>
          </p:cNvPr>
          <p:cNvSpPr txBox="1"/>
          <p:nvPr/>
        </p:nvSpPr>
        <p:spPr>
          <a:xfrm>
            <a:off x="239570" y="5040327"/>
            <a:ext cx="4899016" cy="1200329"/>
          </a:xfrm>
          <a:prstGeom prst="rect">
            <a:avLst/>
          </a:prstGeom>
          <a:noFill/>
          <a:ln>
            <a:solidFill>
              <a:schemeClr val="accent3">
                <a:lumMod val="50000"/>
              </a:schemeClr>
            </a:solidFill>
          </a:ln>
        </p:spPr>
        <p:txBody>
          <a:bodyPr wrap="square" rtlCol="0">
            <a:spAutoFit/>
          </a:bodyPr>
          <a:lstStyle/>
          <a:p>
            <a:r>
              <a:rPr lang="en-US" sz="900" b="1" noProof="0" dirty="0"/>
              <a:t>“On-time” Future receipts : delivered max </a:t>
            </a:r>
            <a:r>
              <a:rPr lang="en-US" sz="900" b="1" u="sng" noProof="0" dirty="0"/>
              <a:t>90 days before</a:t>
            </a:r>
            <a:r>
              <a:rPr lang="en-US" sz="900" b="1" noProof="0" dirty="0"/>
              <a:t> customer MAD</a:t>
            </a:r>
          </a:p>
          <a:p>
            <a:pPr marL="285750" indent="-285750">
              <a:buFontTx/>
              <a:buChar char="-"/>
            </a:pPr>
            <a:r>
              <a:rPr lang="en-US" sz="900" noProof="0" dirty="0"/>
              <a:t>Prioritize “Shipped PO (ASN)” VS “PO WIP”. ASN dates &amp; quantities are less about to be adjusted</a:t>
            </a:r>
          </a:p>
          <a:p>
            <a:pPr marL="285750" indent="-285750">
              <a:buFontTx/>
              <a:buChar char="-"/>
            </a:pPr>
            <a:r>
              <a:rPr lang="en-US" sz="900" noProof="0" dirty="0"/>
              <a:t>Searching for documents delivered prior to MAD to maximize “on-time” customer delivery, with a risk of immobilizing inventory (once received in DC) for 60 days (+ 30 days compared to on-hand strategy)</a:t>
            </a:r>
          </a:p>
          <a:p>
            <a:pPr marL="285750" indent="-285750">
              <a:buFontTx/>
              <a:buChar char="-"/>
            </a:pPr>
            <a:r>
              <a:rPr lang="en-US" sz="900" noProof="0" dirty="0"/>
              <a:t>Searching for documents in “backwards” mode to limit stock immobilization once received in DC</a:t>
            </a:r>
          </a:p>
        </p:txBody>
      </p:sp>
      <p:cxnSp>
        <p:nvCxnSpPr>
          <p:cNvPr id="44" name="Connecteur droit avec flèche 43">
            <a:extLst>
              <a:ext uri="{FF2B5EF4-FFF2-40B4-BE49-F238E27FC236}">
                <a16:creationId xmlns:a16="http://schemas.microsoft.com/office/drawing/2014/main" id="{21C4280E-6BC9-49FF-9C16-E44ACBCDA659}"/>
              </a:ext>
            </a:extLst>
          </p:cNvPr>
          <p:cNvCxnSpPr>
            <a:cxnSpLocks/>
            <a:stCxn id="40" idx="0"/>
          </p:cNvCxnSpPr>
          <p:nvPr/>
        </p:nvCxnSpPr>
        <p:spPr>
          <a:xfrm flipV="1">
            <a:off x="2689078" y="3926629"/>
            <a:ext cx="0" cy="1113698"/>
          </a:xfrm>
          <a:prstGeom prst="straightConnector1">
            <a:avLst/>
          </a:prstGeom>
          <a:ln w="19050">
            <a:solidFill>
              <a:schemeClr val="accent3">
                <a:lumMod val="50000"/>
              </a:scheme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5EF11454-C812-4A1E-B24C-84C6AD540CDB}"/>
              </a:ext>
            </a:extLst>
          </p:cNvPr>
          <p:cNvCxnSpPr>
            <a:cxnSpLocks/>
            <a:stCxn id="40" idx="0"/>
          </p:cNvCxnSpPr>
          <p:nvPr/>
        </p:nvCxnSpPr>
        <p:spPr>
          <a:xfrm flipV="1">
            <a:off x="2689078" y="4175185"/>
            <a:ext cx="192145" cy="865142"/>
          </a:xfrm>
          <a:prstGeom prst="straightConnector1">
            <a:avLst/>
          </a:prstGeom>
          <a:ln w="19050">
            <a:solidFill>
              <a:schemeClr val="accent3">
                <a:lumMod val="50000"/>
              </a:scheme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ZoneTexte 55">
            <a:extLst>
              <a:ext uri="{FF2B5EF4-FFF2-40B4-BE49-F238E27FC236}">
                <a16:creationId xmlns:a16="http://schemas.microsoft.com/office/drawing/2014/main" id="{90F9920C-EC03-4984-9FBA-4EC55E0AF361}"/>
              </a:ext>
            </a:extLst>
          </p:cNvPr>
          <p:cNvSpPr txBox="1"/>
          <p:nvPr/>
        </p:nvSpPr>
        <p:spPr>
          <a:xfrm>
            <a:off x="7290259" y="923953"/>
            <a:ext cx="4261771" cy="1615827"/>
          </a:xfrm>
          <a:prstGeom prst="rect">
            <a:avLst/>
          </a:prstGeom>
          <a:noFill/>
          <a:ln>
            <a:solidFill>
              <a:schemeClr val="accent3">
                <a:lumMod val="50000"/>
              </a:schemeClr>
            </a:solidFill>
          </a:ln>
        </p:spPr>
        <p:txBody>
          <a:bodyPr wrap="square" rtlCol="0">
            <a:spAutoFit/>
          </a:bodyPr>
          <a:lstStyle/>
          <a:p>
            <a:r>
              <a:rPr lang="en-US" sz="900" b="1" noProof="0" dirty="0"/>
              <a:t>“Late” Future receipts : delivered max </a:t>
            </a:r>
            <a:r>
              <a:rPr lang="en-US" sz="900" b="1" u="sng" noProof="0" dirty="0"/>
              <a:t>180 days after</a:t>
            </a:r>
            <a:r>
              <a:rPr lang="en-US" sz="900" b="1" noProof="0" dirty="0"/>
              <a:t> customer MAD</a:t>
            </a:r>
          </a:p>
          <a:p>
            <a:pPr marL="285750" indent="-285750">
              <a:buFontTx/>
              <a:buChar char="-"/>
            </a:pPr>
            <a:r>
              <a:rPr lang="en-US" sz="900" noProof="0" dirty="0"/>
              <a:t>Prioritize “Shipped PO (ASN)” VS “PO WIP”. ASN dates &amp; quantities are less about to be adjusted</a:t>
            </a:r>
          </a:p>
          <a:p>
            <a:pPr marL="285750" indent="-285750">
              <a:buFontTx/>
              <a:buChar char="-"/>
            </a:pPr>
            <a:r>
              <a:rPr lang="en-US" sz="900" noProof="0" dirty="0"/>
              <a:t>Searching for documents delivered after MAD, accepting late deliveries, and giving visibility on it (SO, Customer, PO)</a:t>
            </a:r>
          </a:p>
          <a:p>
            <a:pPr marL="285750" indent="-285750">
              <a:buFontTx/>
              <a:buChar char="-"/>
            </a:pPr>
            <a:r>
              <a:rPr lang="en-US" sz="900" noProof="0" dirty="0"/>
              <a:t>Searching for documents in “forwards” mode to limit gap between customer MAD &amp; effective delivery</a:t>
            </a:r>
          </a:p>
          <a:p>
            <a:pPr marL="285750" indent="-285750">
              <a:buFontTx/>
              <a:buChar char="-"/>
            </a:pPr>
            <a:r>
              <a:rPr lang="en-US" sz="900" noProof="0" dirty="0"/>
              <a:t>Assigning through 90 days late will provide detailed analysis on late (SO, Customer, Channel, PO, Airfreight) with a risk of changes in those 90 days (Asia Hub, XDK…) that will need to be adjusted if massive </a:t>
            </a:r>
          </a:p>
          <a:p>
            <a:pPr marL="285750" indent="-285750">
              <a:buFontTx/>
              <a:buChar char="-"/>
            </a:pPr>
            <a:r>
              <a:rPr lang="en-US" sz="900" noProof="0" dirty="0"/>
              <a:t>Current Supply / Demand analysis is set to +/-14 days</a:t>
            </a:r>
          </a:p>
        </p:txBody>
      </p:sp>
      <p:cxnSp>
        <p:nvCxnSpPr>
          <p:cNvPr id="57" name="Connecteur droit avec flèche 56">
            <a:extLst>
              <a:ext uri="{FF2B5EF4-FFF2-40B4-BE49-F238E27FC236}">
                <a16:creationId xmlns:a16="http://schemas.microsoft.com/office/drawing/2014/main" id="{D2EC8D78-6223-4252-8AAC-98D781599A98}"/>
              </a:ext>
            </a:extLst>
          </p:cNvPr>
          <p:cNvCxnSpPr>
            <a:cxnSpLocks/>
            <a:stCxn id="56" idx="2"/>
          </p:cNvCxnSpPr>
          <p:nvPr/>
        </p:nvCxnSpPr>
        <p:spPr>
          <a:xfrm flipH="1">
            <a:off x="7220309" y="2539780"/>
            <a:ext cx="2200836" cy="1997714"/>
          </a:xfrm>
          <a:prstGeom prst="straightConnector1">
            <a:avLst/>
          </a:prstGeom>
          <a:ln w="19050">
            <a:solidFill>
              <a:schemeClr val="accent3">
                <a:lumMod val="50000"/>
              </a:scheme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ACACEF8E-2D3B-4B8A-A27C-F29FB86A4F44}"/>
              </a:ext>
            </a:extLst>
          </p:cNvPr>
          <p:cNvCxnSpPr>
            <a:cxnSpLocks/>
            <a:stCxn id="56" idx="2"/>
          </p:cNvCxnSpPr>
          <p:nvPr/>
        </p:nvCxnSpPr>
        <p:spPr>
          <a:xfrm flipH="1">
            <a:off x="7220309" y="2539780"/>
            <a:ext cx="2200836" cy="2230628"/>
          </a:xfrm>
          <a:prstGeom prst="straightConnector1">
            <a:avLst/>
          </a:prstGeom>
          <a:ln w="19050">
            <a:solidFill>
              <a:schemeClr val="accent3">
                <a:lumMod val="50000"/>
              </a:scheme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2" name="ZoneTexte 111">
            <a:extLst>
              <a:ext uri="{FF2B5EF4-FFF2-40B4-BE49-F238E27FC236}">
                <a16:creationId xmlns:a16="http://schemas.microsoft.com/office/drawing/2014/main" id="{F07C7025-6009-4D3F-BBBA-B3C870E64055}"/>
              </a:ext>
            </a:extLst>
          </p:cNvPr>
          <p:cNvSpPr txBox="1"/>
          <p:nvPr/>
        </p:nvSpPr>
        <p:spPr>
          <a:xfrm>
            <a:off x="8483872" y="5034707"/>
            <a:ext cx="3068158" cy="507831"/>
          </a:xfrm>
          <a:prstGeom prst="rect">
            <a:avLst/>
          </a:prstGeom>
          <a:noFill/>
          <a:ln>
            <a:solidFill>
              <a:schemeClr val="accent3">
                <a:lumMod val="50000"/>
              </a:schemeClr>
            </a:solidFill>
          </a:ln>
        </p:spPr>
        <p:txBody>
          <a:bodyPr wrap="square" rtlCol="0">
            <a:spAutoFit/>
          </a:bodyPr>
          <a:lstStyle/>
          <a:p>
            <a:r>
              <a:rPr lang="en-US" sz="900" b="1" noProof="0" dirty="0"/>
              <a:t>Stock on-hand : max to +365 days</a:t>
            </a:r>
          </a:p>
          <a:p>
            <a:r>
              <a:rPr lang="en-US" sz="900" noProof="0" dirty="0"/>
              <a:t>Catch all exceptions and reserve existing inventory before late goods receipts.</a:t>
            </a:r>
          </a:p>
        </p:txBody>
      </p:sp>
      <p:cxnSp>
        <p:nvCxnSpPr>
          <p:cNvPr id="113" name="Connecteur droit avec flèche 112">
            <a:extLst>
              <a:ext uri="{FF2B5EF4-FFF2-40B4-BE49-F238E27FC236}">
                <a16:creationId xmlns:a16="http://schemas.microsoft.com/office/drawing/2014/main" id="{EAC7AE6D-4BB8-4D58-B6C3-C76EEDEBA5D1}"/>
              </a:ext>
            </a:extLst>
          </p:cNvPr>
          <p:cNvCxnSpPr>
            <a:cxnSpLocks/>
            <a:stCxn id="112" idx="0"/>
          </p:cNvCxnSpPr>
          <p:nvPr/>
        </p:nvCxnSpPr>
        <p:spPr>
          <a:xfrm flipH="1" flipV="1">
            <a:off x="9669816" y="4347713"/>
            <a:ext cx="348135" cy="686994"/>
          </a:xfrm>
          <a:prstGeom prst="straightConnector1">
            <a:avLst/>
          </a:prstGeom>
          <a:ln w="19050">
            <a:solidFill>
              <a:schemeClr val="accent3">
                <a:lumMod val="50000"/>
              </a:scheme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Espace réservé du contenu 9">
            <a:extLst>
              <a:ext uri="{FF2B5EF4-FFF2-40B4-BE49-F238E27FC236}">
                <a16:creationId xmlns:a16="http://schemas.microsoft.com/office/drawing/2014/main" id="{F4143BE4-B3FF-470D-807A-0F3EAD550EF2}"/>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683" lvl="1" indent="-342900">
              <a:buFont typeface="+mj-lt"/>
              <a:buAutoNum type="alphaLcParenR" startAt="2"/>
            </a:pPr>
            <a:r>
              <a:rPr lang="en-US" u="sng" noProof="0" dirty="0"/>
              <a:t>EMEA Customers/Bulk Orders:</a:t>
            </a:r>
          </a:p>
          <a:p>
            <a:endParaRPr lang="en-US" noProof="0" dirty="0"/>
          </a:p>
          <a:p>
            <a:endParaRPr lang="en-US" noProof="0" dirty="0"/>
          </a:p>
          <a:p>
            <a:endParaRPr lang="en-US" noProof="0" dirty="0"/>
          </a:p>
          <a:p>
            <a:endParaRPr lang="en-US" dirty="0"/>
          </a:p>
          <a:p>
            <a:endParaRPr lang="en-US" noProof="0" dirty="0"/>
          </a:p>
          <a:p>
            <a:endParaRPr lang="en-US" dirty="0"/>
          </a:p>
          <a:p>
            <a:endParaRPr lang="en-US" noProof="0" dirty="0"/>
          </a:p>
          <a:p>
            <a:endParaRPr lang="en-US" dirty="0"/>
          </a:p>
          <a:p>
            <a:endParaRPr lang="en-US" noProof="0" dirty="0"/>
          </a:p>
          <a:p>
            <a:endParaRPr lang="en-US" dirty="0"/>
          </a:p>
          <a:p>
            <a:endParaRPr lang="en-US" noProof="0" dirty="0"/>
          </a:p>
          <a:p>
            <a:endParaRPr lang="en-US" dirty="0"/>
          </a:p>
          <a:p>
            <a:endParaRPr lang="en-US" noProof="0" dirty="0"/>
          </a:p>
          <a:p>
            <a:endParaRPr lang="en-US" dirty="0"/>
          </a:p>
          <a:p>
            <a:pPr algn="r"/>
            <a:r>
              <a:rPr lang="en-US" sz="1000" i="1" dirty="0"/>
              <a:t>Horizons are defined according to seasons’ delivery dates – see Appendix for details</a:t>
            </a:r>
            <a:endParaRPr lang="en-US" i="1" dirty="0"/>
          </a:p>
        </p:txBody>
      </p:sp>
      <p:graphicFrame>
        <p:nvGraphicFramePr>
          <p:cNvPr id="22" name="Tableau 21">
            <a:extLst>
              <a:ext uri="{FF2B5EF4-FFF2-40B4-BE49-F238E27FC236}">
                <a16:creationId xmlns:a16="http://schemas.microsoft.com/office/drawing/2014/main" id="{FCC51B9D-60A7-4B19-BA14-F01724B9A1F1}"/>
              </a:ext>
            </a:extLst>
          </p:cNvPr>
          <p:cNvGraphicFramePr>
            <a:graphicFrameLocks noGrp="1"/>
          </p:cNvGraphicFramePr>
          <p:nvPr>
            <p:extLst>
              <p:ext uri="{D42A27DB-BD31-4B8C-83A1-F6EECF244321}">
                <p14:modId xmlns:p14="http://schemas.microsoft.com/office/powerpoint/2010/main" val="512379631"/>
              </p:ext>
            </p:extLst>
          </p:nvPr>
        </p:nvGraphicFramePr>
        <p:xfrm>
          <a:off x="4395044" y="1099864"/>
          <a:ext cx="2311400" cy="1074420"/>
        </p:xfrm>
        <a:graphic>
          <a:graphicData uri="http://schemas.openxmlformats.org/drawingml/2006/table">
            <a:tbl>
              <a:tblPr/>
              <a:tblGrid>
                <a:gridCol w="697542">
                  <a:extLst>
                    <a:ext uri="{9D8B030D-6E8A-4147-A177-3AD203B41FA5}">
                      <a16:colId xmlns:a16="http://schemas.microsoft.com/office/drawing/2014/main" val="408248629"/>
                    </a:ext>
                  </a:extLst>
                </a:gridCol>
                <a:gridCol w="1078019">
                  <a:extLst>
                    <a:ext uri="{9D8B030D-6E8A-4147-A177-3AD203B41FA5}">
                      <a16:colId xmlns:a16="http://schemas.microsoft.com/office/drawing/2014/main" val="2716909176"/>
                    </a:ext>
                  </a:extLst>
                </a:gridCol>
                <a:gridCol w="294870">
                  <a:extLst>
                    <a:ext uri="{9D8B030D-6E8A-4147-A177-3AD203B41FA5}">
                      <a16:colId xmlns:a16="http://schemas.microsoft.com/office/drawing/2014/main" val="2336325452"/>
                    </a:ext>
                  </a:extLst>
                </a:gridCol>
                <a:gridCol w="240969">
                  <a:extLst>
                    <a:ext uri="{9D8B030D-6E8A-4147-A177-3AD203B41FA5}">
                      <a16:colId xmlns:a16="http://schemas.microsoft.com/office/drawing/2014/main" val="2238116329"/>
                    </a:ext>
                  </a:extLst>
                </a:gridCol>
              </a:tblGrid>
              <a:tr h="152400">
                <a:tc>
                  <a:txBody>
                    <a:bodyPr/>
                    <a:lstStyle/>
                    <a:p>
                      <a:pPr algn="ctr" fontAlgn="b"/>
                      <a:r>
                        <a:rPr lang="en-US" sz="800" b="0" i="0" u="none" strike="noStrike" noProof="0" dirty="0">
                          <a:effectLst/>
                          <a:latin typeface="Arial" panose="020B0604020202020204" pitchFamily="34" charset="0"/>
                        </a:rPr>
                        <a:t>Prio. Of Stock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noProof="0" dirty="0">
                          <a:effectLst/>
                          <a:latin typeface="Arial" panose="020B0604020202020204" pitchFamily="34" charset="0"/>
                        </a:rPr>
                        <a:t>Stock Type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noProof="0" dirty="0">
                          <a:effectLst/>
                          <a:latin typeface="Arial" panose="020B0604020202020204" pitchFamily="34" charset="0"/>
                        </a:rPr>
                        <a:t>From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noProof="0" dirty="0">
                          <a:effectLst/>
                          <a:latin typeface="Arial" panose="020B0604020202020204" pitchFamily="34" charset="0"/>
                        </a:rPr>
                        <a:t>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03783579"/>
                  </a:ext>
                </a:extLst>
              </a:tr>
              <a:tr h="152400">
                <a:tc>
                  <a:txBody>
                    <a:bodyPr/>
                    <a:lstStyle/>
                    <a:p>
                      <a:pPr algn="ctr" fontAlgn="b"/>
                      <a:r>
                        <a:rPr lang="en-US" sz="800" b="0" i="0" u="none" strike="noStrike" noProof="0" dirty="0">
                          <a:effectLst/>
                          <a:latin typeface="Arial" panose="020B06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800" b="0" i="0" u="none" strike="noStrike" noProof="0" dirty="0">
                          <a:effectLst/>
                          <a:latin typeface="Arial" panose="020B0604020202020204" pitchFamily="34" charset="0"/>
                        </a:rPr>
                        <a:t>C Batches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800" b="0" i="0" u="none" strike="noStrike" noProof="0" dirty="0">
                          <a:effectLst/>
                          <a:latin typeface="Arial" panose="020B0604020202020204" pitchFamily="34" charset="0"/>
                        </a:rPr>
                        <a:t>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800" b="0" i="0" u="none" strike="noStrike" noProof="0" dirty="0">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069656738"/>
                  </a:ext>
                </a:extLst>
              </a:tr>
              <a:tr h="152400">
                <a:tc>
                  <a:txBody>
                    <a:bodyPr/>
                    <a:lstStyle/>
                    <a:p>
                      <a:pPr algn="ctr" fontAlgn="b"/>
                      <a:r>
                        <a:rPr lang="en-US" sz="800" b="0" i="0" u="none" strike="noStrike" noProof="0" dirty="0">
                          <a:effectLst/>
                          <a:latin typeface="Arial" panose="020B06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b"/>
                      <a:r>
                        <a:rPr lang="en-US" sz="800" b="0" i="0" u="none" strike="noStrike" noProof="0" dirty="0">
                          <a:effectLst/>
                          <a:latin typeface="Arial" panose="020B0604020202020204" pitchFamily="34" charset="0"/>
                        </a:rPr>
                        <a:t>L Confirmations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US" sz="800" b="0" i="0" u="none" strike="noStrike" noProof="0" dirty="0">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US" sz="800" b="0" i="0" u="none" strike="noStrike" noProof="0" dirty="0">
                          <a:effectLst/>
                          <a:latin typeface="Arial" panose="020B0604020202020204" pitchFamily="34" charset="0"/>
                        </a:rPr>
                        <a:t>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845855729"/>
                  </a:ext>
                </a:extLst>
              </a:tr>
              <a:tr h="152400">
                <a:tc>
                  <a:txBody>
                    <a:bodyPr/>
                    <a:lstStyle/>
                    <a:p>
                      <a:pPr algn="ctr" fontAlgn="b"/>
                      <a:r>
                        <a:rPr lang="en-US" sz="800" b="0" i="0" u="none" strike="noStrike" noProof="0" dirty="0">
                          <a:effectLst/>
                          <a:latin typeface="Arial" panose="020B06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b"/>
                      <a:r>
                        <a:rPr lang="en-US" sz="800" b="0" i="0" u="none" strike="noStrike" noProof="0" dirty="0">
                          <a:effectLst/>
                          <a:latin typeface="Arial" panose="020B0604020202020204" pitchFamily="34" charset="0"/>
                        </a:rPr>
                        <a:t>B Purchase Orders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800" b="0" i="0" u="none" strike="noStrike" noProof="0" dirty="0">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800" b="0" i="0" u="none" strike="noStrike" noProof="0" dirty="0">
                          <a:effectLst/>
                          <a:latin typeface="Arial" panose="020B0604020202020204" pitchFamily="34" charset="0"/>
                        </a:rPr>
                        <a:t>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66459619"/>
                  </a:ext>
                </a:extLst>
              </a:tr>
              <a:tr h="152400">
                <a:tc>
                  <a:txBody>
                    <a:bodyPr/>
                    <a:lstStyle/>
                    <a:p>
                      <a:pPr algn="ctr" fontAlgn="b"/>
                      <a:r>
                        <a:rPr lang="en-US" sz="800" b="0" i="0" u="none" strike="noStrike" noProof="0" dirty="0">
                          <a:effectLst/>
                          <a:latin typeface="Arial" panose="020B060402020202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800" b="0" i="0" u="none" strike="noStrike" noProof="0" dirty="0">
                          <a:effectLst/>
                          <a:latin typeface="Arial" panose="020B0604020202020204" pitchFamily="34" charset="0"/>
                        </a:rPr>
                        <a:t>C Batches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800" b="0" i="0" u="none" strike="noStrike" noProof="0" dirty="0">
                          <a:effectLst/>
                          <a:latin typeface="Arial" panose="020B0604020202020204" pitchFamily="34" charset="0"/>
                        </a:rPr>
                        <a:t>365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800" b="0" i="0" u="none" strike="noStrike" noProof="0" dirty="0">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512248811"/>
                  </a:ext>
                </a:extLst>
              </a:tr>
              <a:tr h="152400">
                <a:tc>
                  <a:txBody>
                    <a:bodyPr/>
                    <a:lstStyle/>
                    <a:p>
                      <a:pPr algn="ctr" fontAlgn="b"/>
                      <a:r>
                        <a:rPr lang="en-US" sz="800" b="0" i="0" u="none" strike="noStrike" noProof="0" dirty="0">
                          <a:effectLst/>
                          <a:latin typeface="Arial" panose="020B06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b"/>
                      <a:r>
                        <a:rPr lang="en-US" sz="800" b="0" i="0" u="none" strike="noStrike" noProof="0" dirty="0">
                          <a:effectLst/>
                          <a:latin typeface="Arial" panose="020B0604020202020204" pitchFamily="34" charset="0"/>
                        </a:rPr>
                        <a:t>L Confirmations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US" sz="800" b="0" i="0" u="none" strike="noStrike" noProof="0" dirty="0">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r>
                        <a:rPr lang="en-US" sz="800" b="0" i="0" u="none" strike="noStrike" noProof="0" dirty="0">
                          <a:effectLst/>
                          <a:latin typeface="Arial" panose="020B0604020202020204" pitchFamily="34" charset="0"/>
                        </a:rPr>
                        <a:t>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05646478"/>
                  </a:ext>
                </a:extLst>
              </a:tr>
              <a:tr h="160020">
                <a:tc>
                  <a:txBody>
                    <a:bodyPr/>
                    <a:lstStyle/>
                    <a:p>
                      <a:pPr algn="ctr" fontAlgn="b"/>
                      <a:r>
                        <a:rPr lang="en-US" sz="800" b="0" i="0" u="none" strike="noStrike" noProof="0" dirty="0">
                          <a:effectLst/>
                          <a:latin typeface="Arial" panose="020B06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b"/>
                      <a:r>
                        <a:rPr lang="en-US" sz="800" b="0" i="0" u="none" strike="noStrike" noProof="0" dirty="0">
                          <a:effectLst/>
                          <a:latin typeface="Arial" panose="020B0604020202020204" pitchFamily="34" charset="0"/>
                        </a:rPr>
                        <a:t>B Purchase Orders</a:t>
                      </a:r>
                    </a:p>
                  </a:txBody>
                  <a:tcPr marL="114300"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800" b="0" i="0" u="none" strike="noStrike" noProof="0" dirty="0">
                          <a:effectLst/>
                          <a:latin typeface="Arial" panose="020B06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US" sz="800" b="0" i="0" u="none" strike="noStrike" noProof="0" dirty="0">
                          <a:effectLst/>
                          <a:latin typeface="Arial" panose="020B0604020202020204" pitchFamily="34" charset="0"/>
                        </a:rPr>
                        <a:t>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6326264"/>
                  </a:ext>
                </a:extLst>
              </a:tr>
            </a:tbl>
          </a:graphicData>
        </a:graphic>
      </p:graphicFrame>
    </p:spTree>
    <p:extLst>
      <p:ext uri="{BB962C8B-B14F-4D97-AF65-F5344CB8AC3E}">
        <p14:creationId xmlns:p14="http://schemas.microsoft.com/office/powerpoint/2010/main" val="637242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31E15-ED9C-4709-B126-B75A2EF56879}"/>
              </a:ext>
            </a:extLst>
          </p:cNvPr>
          <p:cNvSpPr>
            <a:spLocks noGrp="1"/>
          </p:cNvSpPr>
          <p:nvPr>
            <p:ph type="title"/>
          </p:nvPr>
        </p:nvSpPr>
        <p:spPr/>
        <p:txBody>
          <a:bodyPr/>
          <a:lstStyle/>
          <a:p>
            <a:pPr marL="457200" indent="-457200">
              <a:buFont typeface="+mj-lt"/>
              <a:buAutoNum type="arabicPeriod" startAt="8"/>
            </a:pPr>
            <a:r>
              <a:rPr lang="en-US" noProof="0" dirty="0"/>
              <a:t>Release Rules</a:t>
            </a:r>
          </a:p>
        </p:txBody>
      </p:sp>
      <p:grpSp>
        <p:nvGrpSpPr>
          <p:cNvPr id="10" name="Groupe 9">
            <a:extLst>
              <a:ext uri="{FF2B5EF4-FFF2-40B4-BE49-F238E27FC236}">
                <a16:creationId xmlns:a16="http://schemas.microsoft.com/office/drawing/2014/main" id="{BCFC69A7-16E5-4E9D-83CA-0EA8273939D7}"/>
              </a:ext>
            </a:extLst>
          </p:cNvPr>
          <p:cNvGrpSpPr/>
          <p:nvPr/>
        </p:nvGrpSpPr>
        <p:grpSpPr>
          <a:xfrm>
            <a:off x="159083" y="840449"/>
            <a:ext cx="11577704" cy="4664780"/>
            <a:chOff x="91569" y="490334"/>
            <a:chExt cx="11577704" cy="4664780"/>
          </a:xfrm>
        </p:grpSpPr>
        <p:grpSp>
          <p:nvGrpSpPr>
            <p:cNvPr id="12" name="Groupe 11">
              <a:extLst>
                <a:ext uri="{FF2B5EF4-FFF2-40B4-BE49-F238E27FC236}">
                  <a16:creationId xmlns:a16="http://schemas.microsoft.com/office/drawing/2014/main" id="{67CD8998-C368-4D9C-B288-5217C35273E7}"/>
                </a:ext>
              </a:extLst>
            </p:cNvPr>
            <p:cNvGrpSpPr/>
            <p:nvPr/>
          </p:nvGrpSpPr>
          <p:grpSpPr>
            <a:xfrm>
              <a:off x="1075037" y="4522599"/>
              <a:ext cx="8343283" cy="632515"/>
              <a:chOff x="1075037" y="4522599"/>
              <a:chExt cx="8343283" cy="632515"/>
            </a:xfrm>
          </p:grpSpPr>
          <p:pic>
            <p:nvPicPr>
              <p:cNvPr id="26" name="Image 25">
                <a:extLst>
                  <a:ext uri="{FF2B5EF4-FFF2-40B4-BE49-F238E27FC236}">
                    <a16:creationId xmlns:a16="http://schemas.microsoft.com/office/drawing/2014/main" id="{5ADE6010-1731-4A70-869E-6C700960283E}"/>
                  </a:ext>
                </a:extLst>
              </p:cNvPr>
              <p:cNvPicPr>
                <a:picLocks noChangeAspect="1"/>
              </p:cNvPicPr>
              <p:nvPr/>
            </p:nvPicPr>
            <p:blipFill>
              <a:blip r:embed="rId2"/>
              <a:stretch>
                <a:fillRect/>
              </a:stretch>
            </p:blipFill>
            <p:spPr>
              <a:xfrm>
                <a:off x="1075037" y="4522599"/>
                <a:ext cx="4028186" cy="632515"/>
              </a:xfrm>
              <a:prstGeom prst="rect">
                <a:avLst/>
              </a:prstGeom>
            </p:spPr>
          </p:pic>
          <p:pic>
            <p:nvPicPr>
              <p:cNvPr id="28" name="Image 27">
                <a:extLst>
                  <a:ext uri="{FF2B5EF4-FFF2-40B4-BE49-F238E27FC236}">
                    <a16:creationId xmlns:a16="http://schemas.microsoft.com/office/drawing/2014/main" id="{D782B41B-4669-4B31-B021-C9924669636D}"/>
                  </a:ext>
                </a:extLst>
              </p:cNvPr>
              <p:cNvPicPr>
                <a:picLocks noChangeAspect="1"/>
              </p:cNvPicPr>
              <p:nvPr/>
            </p:nvPicPr>
            <p:blipFill>
              <a:blip r:embed="rId2"/>
              <a:stretch>
                <a:fillRect/>
              </a:stretch>
            </p:blipFill>
            <p:spPr>
              <a:xfrm>
                <a:off x="4480560" y="4522599"/>
                <a:ext cx="1615440" cy="632515"/>
              </a:xfrm>
              <a:prstGeom prst="rect">
                <a:avLst/>
              </a:prstGeom>
            </p:spPr>
          </p:pic>
          <p:pic>
            <p:nvPicPr>
              <p:cNvPr id="29" name="Image 28">
                <a:extLst>
                  <a:ext uri="{FF2B5EF4-FFF2-40B4-BE49-F238E27FC236}">
                    <a16:creationId xmlns:a16="http://schemas.microsoft.com/office/drawing/2014/main" id="{F7CF82B5-696F-4AA0-99F3-ED1FBC1667CD}"/>
                  </a:ext>
                </a:extLst>
              </p:cNvPr>
              <p:cNvPicPr>
                <a:picLocks noChangeAspect="1"/>
              </p:cNvPicPr>
              <p:nvPr/>
            </p:nvPicPr>
            <p:blipFill>
              <a:blip r:embed="rId2"/>
              <a:stretch>
                <a:fillRect/>
              </a:stretch>
            </p:blipFill>
            <p:spPr>
              <a:xfrm>
                <a:off x="7802880" y="4522599"/>
                <a:ext cx="1615440" cy="632515"/>
              </a:xfrm>
              <a:prstGeom prst="rect">
                <a:avLst/>
              </a:prstGeom>
            </p:spPr>
          </p:pic>
        </p:grpSp>
        <p:grpSp>
          <p:nvGrpSpPr>
            <p:cNvPr id="13" name="Groupe 12">
              <a:extLst>
                <a:ext uri="{FF2B5EF4-FFF2-40B4-BE49-F238E27FC236}">
                  <a16:creationId xmlns:a16="http://schemas.microsoft.com/office/drawing/2014/main" id="{31229D69-4671-44C3-A442-4496E57B228C}"/>
                </a:ext>
              </a:extLst>
            </p:cNvPr>
            <p:cNvGrpSpPr/>
            <p:nvPr/>
          </p:nvGrpSpPr>
          <p:grpSpPr>
            <a:xfrm>
              <a:off x="91569" y="490334"/>
              <a:ext cx="11577704" cy="4506962"/>
              <a:chOff x="80319" y="1378382"/>
              <a:chExt cx="11577704" cy="4506962"/>
            </a:xfrm>
          </p:grpSpPr>
          <p:pic>
            <p:nvPicPr>
              <p:cNvPr id="20" name="Image 19">
                <a:extLst>
                  <a:ext uri="{FF2B5EF4-FFF2-40B4-BE49-F238E27FC236}">
                    <a16:creationId xmlns:a16="http://schemas.microsoft.com/office/drawing/2014/main" id="{D7A40CD7-2B3B-4779-93BF-AA945814A528}"/>
                  </a:ext>
                </a:extLst>
              </p:cNvPr>
              <p:cNvPicPr>
                <a:picLocks noChangeAspect="1"/>
              </p:cNvPicPr>
              <p:nvPr/>
            </p:nvPicPr>
            <p:blipFill>
              <a:blip r:embed="rId3"/>
              <a:stretch>
                <a:fillRect/>
              </a:stretch>
            </p:blipFill>
            <p:spPr>
              <a:xfrm>
                <a:off x="80319" y="3204917"/>
                <a:ext cx="11460892" cy="2680427"/>
              </a:xfrm>
              <a:prstGeom prst="rect">
                <a:avLst/>
              </a:prstGeom>
            </p:spPr>
          </p:pic>
          <p:sp>
            <p:nvSpPr>
              <p:cNvPr id="21" name="ZoneTexte 20">
                <a:extLst>
                  <a:ext uri="{FF2B5EF4-FFF2-40B4-BE49-F238E27FC236}">
                    <a16:creationId xmlns:a16="http://schemas.microsoft.com/office/drawing/2014/main" id="{F8CECF79-12B1-47F5-9DA8-D87E008DBF75}"/>
                  </a:ext>
                </a:extLst>
              </p:cNvPr>
              <p:cNvSpPr txBox="1"/>
              <p:nvPr/>
            </p:nvSpPr>
            <p:spPr>
              <a:xfrm>
                <a:off x="1787907" y="1387409"/>
                <a:ext cx="2544151" cy="1754326"/>
              </a:xfrm>
              <a:prstGeom prst="rect">
                <a:avLst/>
              </a:prstGeom>
              <a:noFill/>
            </p:spPr>
            <p:txBody>
              <a:bodyPr wrap="square" rtlCol="0">
                <a:spAutoFit/>
              </a:bodyPr>
              <a:lstStyle/>
              <a:p>
                <a:r>
                  <a:rPr lang="en-US" sz="1200" b="1" noProof="0" dirty="0">
                    <a:solidFill>
                      <a:srgbClr val="0070C0"/>
                    </a:solidFill>
                    <a:highlight>
                      <a:srgbClr val="00FFFF"/>
                    </a:highlight>
                  </a:rPr>
                  <a:t>Requirements Selection</a:t>
                </a:r>
              </a:p>
              <a:p>
                <a:pPr marL="171450" indent="-171450">
                  <a:buFont typeface="Arial" panose="020B0604020202020204" pitchFamily="34" charset="0"/>
                  <a:buChar char="•"/>
                </a:pPr>
                <a:r>
                  <a:rPr lang="en-US" sz="1200" noProof="0" dirty="0">
                    <a:solidFill>
                      <a:srgbClr val="0070C0"/>
                    </a:solidFill>
                  </a:rPr>
                  <a:t>Global selection: order types</a:t>
                </a:r>
              </a:p>
              <a:p>
                <a:pPr marL="171450" indent="-171450">
                  <a:buFont typeface="Arial" panose="020B0604020202020204" pitchFamily="34" charset="0"/>
                  <a:buChar char="•"/>
                </a:pPr>
                <a:r>
                  <a:rPr lang="en-US" sz="1200" noProof="0" dirty="0">
                    <a:solidFill>
                      <a:srgbClr val="0070C0"/>
                    </a:solidFill>
                  </a:rPr>
                  <a:t>Customized Allocation sets</a:t>
                </a:r>
              </a:p>
              <a:p>
                <a:pPr marL="171450" indent="-171450">
                  <a:buFont typeface="Arial" panose="020B0604020202020204" pitchFamily="34" charset="0"/>
                  <a:buChar char="•"/>
                </a:pPr>
                <a:endParaRPr lang="en-US" sz="1200" noProof="0" dirty="0">
                  <a:solidFill>
                    <a:srgbClr val="0070C0"/>
                  </a:solidFill>
                </a:endParaRPr>
              </a:p>
              <a:p>
                <a:r>
                  <a:rPr lang="en-US" sz="1200" b="1" noProof="0" dirty="0">
                    <a:solidFill>
                      <a:srgbClr val="0070C0"/>
                    </a:solidFill>
                    <a:highlight>
                      <a:srgbClr val="FFFF00"/>
                    </a:highlight>
                  </a:rPr>
                  <a:t>Rules for stock selection</a:t>
                </a:r>
                <a:r>
                  <a:rPr lang="en-US" sz="1200" b="1" noProof="0" dirty="0">
                    <a:solidFill>
                      <a:srgbClr val="0070C0"/>
                    </a:solidFill>
                  </a:rPr>
                  <a:t> </a:t>
                </a:r>
              </a:p>
              <a:p>
                <a:pPr marL="171450" indent="-171450">
                  <a:buFont typeface="Arial" panose="020B0604020202020204" pitchFamily="34" charset="0"/>
                  <a:buChar char="•"/>
                </a:pPr>
                <a:r>
                  <a:rPr lang="en-US" sz="1200" noProof="0" dirty="0">
                    <a:solidFill>
                      <a:srgbClr val="0070C0"/>
                    </a:solidFill>
                  </a:rPr>
                  <a:t>Stock on-hand</a:t>
                </a:r>
              </a:p>
              <a:p>
                <a:pPr marL="171450" indent="-171450">
                  <a:buFont typeface="Arial" panose="020B0604020202020204" pitchFamily="34" charset="0"/>
                  <a:buChar char="•"/>
                </a:pPr>
                <a:r>
                  <a:rPr lang="en-US" sz="1200" noProof="0" dirty="0">
                    <a:solidFill>
                      <a:srgbClr val="0070C0"/>
                    </a:solidFill>
                  </a:rPr>
                  <a:t>Stock segments</a:t>
                </a:r>
              </a:p>
              <a:p>
                <a:pPr marL="171450" indent="-171450">
                  <a:buFont typeface="Arial" panose="020B0604020202020204" pitchFamily="34" charset="0"/>
                  <a:buChar char="•"/>
                </a:pPr>
                <a:r>
                  <a:rPr lang="en-US" sz="1200" b="1" noProof="0" dirty="0">
                    <a:solidFill>
                      <a:srgbClr val="FF0000"/>
                    </a:solidFill>
                  </a:rPr>
                  <a:t>Future stocks </a:t>
                </a:r>
                <a:r>
                  <a:rPr lang="en-US" sz="1200" noProof="0" dirty="0">
                    <a:solidFill>
                      <a:srgbClr val="FF0000"/>
                    </a:solidFill>
                  </a:rPr>
                  <a:t>(Purchase Orders, Inbound deliveries...)</a:t>
                </a:r>
              </a:p>
            </p:txBody>
          </p:sp>
          <p:sp>
            <p:nvSpPr>
              <p:cNvPr id="22" name="ZoneTexte 21">
                <a:extLst>
                  <a:ext uri="{FF2B5EF4-FFF2-40B4-BE49-F238E27FC236}">
                    <a16:creationId xmlns:a16="http://schemas.microsoft.com/office/drawing/2014/main" id="{A831515F-D40B-4688-B4C3-BDF06DC27C20}"/>
                  </a:ext>
                </a:extLst>
              </p:cNvPr>
              <p:cNvSpPr txBox="1"/>
              <p:nvPr/>
            </p:nvSpPr>
            <p:spPr>
              <a:xfrm>
                <a:off x="4195003" y="1382606"/>
                <a:ext cx="1581662" cy="1384995"/>
              </a:xfrm>
              <a:prstGeom prst="rect">
                <a:avLst/>
              </a:prstGeom>
              <a:noFill/>
            </p:spPr>
            <p:txBody>
              <a:bodyPr wrap="square" rtlCol="0">
                <a:spAutoFit/>
              </a:bodyPr>
              <a:lstStyle/>
              <a:p>
                <a:r>
                  <a:rPr lang="en-US" sz="1200" b="1" i="1" noProof="0" dirty="0">
                    <a:solidFill>
                      <a:schemeClr val="tx1">
                        <a:lumMod val="50000"/>
                        <a:lumOff val="50000"/>
                      </a:schemeClr>
                    </a:solidFill>
                  </a:rPr>
                  <a:t>Temporary grouping during runtime</a:t>
                </a:r>
              </a:p>
              <a:p>
                <a:r>
                  <a:rPr lang="en-US" sz="1200" i="1" noProof="0" dirty="0">
                    <a:solidFill>
                      <a:schemeClr val="tx1">
                        <a:lumMod val="50000"/>
                        <a:lumOff val="50000"/>
                      </a:schemeClr>
                    </a:solidFill>
                  </a:rPr>
                  <a:t>according to fields used in sales orders</a:t>
                </a:r>
              </a:p>
              <a:p>
                <a:r>
                  <a:rPr lang="en-US" sz="1200" i="1" u="sng" noProof="0" dirty="0">
                    <a:solidFill>
                      <a:schemeClr val="tx1">
                        <a:lumMod val="50000"/>
                        <a:lumOff val="50000"/>
                      </a:schemeClr>
                    </a:solidFill>
                  </a:rPr>
                  <a:t>(not supported by Parallel </a:t>
                </a:r>
                <a:r>
                  <a:rPr lang="en-US" sz="1200" i="1" u="sng" noProof="0" dirty="0" err="1">
                    <a:solidFill>
                      <a:schemeClr val="tx1">
                        <a:lumMod val="50000"/>
                        <a:lumOff val="50000"/>
                      </a:schemeClr>
                    </a:solidFill>
                  </a:rPr>
                  <a:t>ARun</a:t>
                </a:r>
                <a:r>
                  <a:rPr lang="en-US" sz="1200" i="1" u="sng" noProof="0" dirty="0">
                    <a:solidFill>
                      <a:schemeClr val="tx1">
                        <a:lumMod val="50000"/>
                        <a:lumOff val="50000"/>
                      </a:schemeClr>
                    </a:solidFill>
                  </a:rPr>
                  <a:t>)</a:t>
                </a:r>
              </a:p>
            </p:txBody>
          </p:sp>
          <p:sp>
            <p:nvSpPr>
              <p:cNvPr id="23" name="ZoneTexte 22">
                <a:extLst>
                  <a:ext uri="{FF2B5EF4-FFF2-40B4-BE49-F238E27FC236}">
                    <a16:creationId xmlns:a16="http://schemas.microsoft.com/office/drawing/2014/main" id="{1187A57C-B57D-495D-9940-FA8C04A87776}"/>
                  </a:ext>
                </a:extLst>
              </p:cNvPr>
              <p:cNvSpPr txBox="1"/>
              <p:nvPr/>
            </p:nvSpPr>
            <p:spPr>
              <a:xfrm>
                <a:off x="5862646" y="1386567"/>
                <a:ext cx="1915933" cy="1384995"/>
              </a:xfrm>
              <a:prstGeom prst="rect">
                <a:avLst/>
              </a:prstGeom>
              <a:noFill/>
            </p:spPr>
            <p:txBody>
              <a:bodyPr wrap="square" rtlCol="0">
                <a:spAutoFit/>
              </a:bodyPr>
              <a:lstStyle/>
              <a:p>
                <a:r>
                  <a:rPr lang="en-US" sz="1200" b="1" noProof="0" dirty="0">
                    <a:solidFill>
                      <a:srgbClr val="0070C0"/>
                    </a:solidFill>
                    <a:highlight>
                      <a:srgbClr val="00FFFF"/>
                    </a:highlight>
                  </a:rPr>
                  <a:t>Sorting of requirements </a:t>
                </a:r>
                <a:r>
                  <a:rPr lang="en-US" sz="1200" noProof="0" dirty="0">
                    <a:solidFill>
                      <a:srgbClr val="0070C0"/>
                    </a:solidFill>
                  </a:rPr>
                  <a:t>according to fields used in sales orders</a:t>
                </a:r>
              </a:p>
              <a:p>
                <a:endParaRPr lang="en-US" sz="1200" noProof="0" dirty="0">
                  <a:solidFill>
                    <a:srgbClr val="0070C0"/>
                  </a:solidFill>
                </a:endParaRPr>
              </a:p>
              <a:p>
                <a:r>
                  <a:rPr lang="en-US" sz="1200" b="1" noProof="0" dirty="0">
                    <a:solidFill>
                      <a:srgbClr val="0070C0"/>
                    </a:solidFill>
                    <a:highlight>
                      <a:srgbClr val="FFFF00"/>
                    </a:highlight>
                  </a:rPr>
                  <a:t>Sorting of stocks</a:t>
                </a:r>
                <a:endParaRPr lang="en-US" sz="1200" b="1" noProof="0" dirty="0">
                  <a:solidFill>
                    <a:srgbClr val="0070C0"/>
                  </a:solidFill>
                </a:endParaRPr>
              </a:p>
              <a:p>
                <a:r>
                  <a:rPr lang="en-US" sz="1200" noProof="0" dirty="0">
                    <a:solidFill>
                      <a:srgbClr val="FF0000"/>
                    </a:solidFill>
                  </a:rPr>
                  <a:t>according to stock specific criteria</a:t>
                </a:r>
              </a:p>
            </p:txBody>
          </p:sp>
          <p:sp>
            <p:nvSpPr>
              <p:cNvPr id="24" name="ZoneTexte 23">
                <a:extLst>
                  <a:ext uri="{FF2B5EF4-FFF2-40B4-BE49-F238E27FC236}">
                    <a16:creationId xmlns:a16="http://schemas.microsoft.com/office/drawing/2014/main" id="{CB4E2B23-2E7F-46C0-84C1-844F4FCBF805}"/>
                  </a:ext>
                </a:extLst>
              </p:cNvPr>
              <p:cNvSpPr txBox="1"/>
              <p:nvPr/>
            </p:nvSpPr>
            <p:spPr>
              <a:xfrm>
                <a:off x="9645301" y="1379549"/>
                <a:ext cx="2012722" cy="1754326"/>
              </a:xfrm>
              <a:prstGeom prst="rect">
                <a:avLst/>
              </a:prstGeom>
              <a:noFill/>
            </p:spPr>
            <p:txBody>
              <a:bodyPr wrap="square" rtlCol="0">
                <a:spAutoFit/>
              </a:bodyPr>
              <a:lstStyle/>
              <a:p>
                <a:r>
                  <a:rPr lang="en-US" sz="1200" b="1" noProof="0" dirty="0">
                    <a:solidFill>
                      <a:srgbClr val="0070C0"/>
                    </a:solidFill>
                    <a:highlight>
                      <a:srgbClr val="00FFFF"/>
                    </a:highlight>
                  </a:rPr>
                  <a:t>Release Rule</a:t>
                </a:r>
              </a:p>
              <a:p>
                <a:pPr marL="171450" indent="-171450">
                  <a:buFont typeface="Arial" panose="020B0604020202020204" pitchFamily="34" charset="0"/>
                  <a:buChar char="•"/>
                </a:pPr>
                <a:r>
                  <a:rPr lang="en-US" sz="1200" noProof="0" dirty="0">
                    <a:solidFill>
                      <a:srgbClr val="0070C0"/>
                    </a:solidFill>
                  </a:rPr>
                  <a:t>Fulfillment Percentage driven checks on allocated qty at different levels in order (header, item…)</a:t>
                </a:r>
              </a:p>
              <a:p>
                <a:pPr marL="171450" indent="-171450">
                  <a:buFont typeface="Arial" panose="020B0604020202020204" pitchFamily="34" charset="0"/>
                  <a:buChar char="•"/>
                </a:pPr>
                <a:r>
                  <a:rPr lang="en-US" sz="1200" noProof="0" dirty="0">
                    <a:solidFill>
                      <a:srgbClr val="0070C0"/>
                    </a:solidFill>
                  </a:rPr>
                  <a:t>Flexible release rule determination</a:t>
                </a:r>
              </a:p>
              <a:p>
                <a:pPr marL="171450" indent="-171450">
                  <a:buFont typeface="Arial" panose="020B0604020202020204" pitchFamily="34" charset="0"/>
                  <a:buChar char="•"/>
                </a:pPr>
                <a:r>
                  <a:rPr lang="en-US" sz="1200" noProof="0" dirty="0" err="1">
                    <a:solidFill>
                      <a:srgbClr val="0070C0"/>
                    </a:solidFill>
                  </a:rPr>
                  <a:t>ARun</a:t>
                </a:r>
                <a:r>
                  <a:rPr lang="en-US" sz="1200" noProof="0" dirty="0">
                    <a:solidFill>
                      <a:srgbClr val="0070C0"/>
                    </a:solidFill>
                  </a:rPr>
                  <a:t> rejection check</a:t>
                </a:r>
              </a:p>
            </p:txBody>
          </p:sp>
          <p:sp>
            <p:nvSpPr>
              <p:cNvPr id="25" name="ZoneTexte 24">
                <a:extLst>
                  <a:ext uri="{FF2B5EF4-FFF2-40B4-BE49-F238E27FC236}">
                    <a16:creationId xmlns:a16="http://schemas.microsoft.com/office/drawing/2014/main" id="{A72D6C60-FE25-4C8F-8626-57D9C9FCE2C7}"/>
                  </a:ext>
                </a:extLst>
              </p:cNvPr>
              <p:cNvSpPr txBox="1"/>
              <p:nvPr/>
            </p:nvSpPr>
            <p:spPr>
              <a:xfrm>
                <a:off x="7810901" y="1378382"/>
                <a:ext cx="1915933" cy="2031325"/>
              </a:xfrm>
              <a:prstGeom prst="rect">
                <a:avLst/>
              </a:prstGeom>
              <a:noFill/>
            </p:spPr>
            <p:txBody>
              <a:bodyPr wrap="square" rtlCol="0">
                <a:spAutoFit/>
              </a:bodyPr>
              <a:lstStyle/>
              <a:p>
                <a:r>
                  <a:rPr lang="en-US" sz="1200" b="1" noProof="0" dirty="0">
                    <a:solidFill>
                      <a:srgbClr val="0070C0"/>
                    </a:solidFill>
                  </a:rPr>
                  <a:t>Allocation logic</a:t>
                </a:r>
              </a:p>
              <a:p>
                <a:pPr marL="171450" indent="-171450">
                  <a:buFont typeface="Arial" panose="020B0604020202020204" pitchFamily="34" charset="0"/>
                  <a:buChar char="•"/>
                </a:pPr>
                <a:r>
                  <a:rPr lang="en-US" sz="1200" b="1" noProof="0" dirty="0">
                    <a:solidFill>
                      <a:srgbClr val="0070C0"/>
                    </a:solidFill>
                  </a:rPr>
                  <a:t>FIFO</a:t>
                </a:r>
                <a:r>
                  <a:rPr lang="en-US" sz="1200" noProof="0" dirty="0">
                    <a:solidFill>
                      <a:srgbClr val="0070C0"/>
                    </a:solidFill>
                  </a:rPr>
                  <a:t> (based on requirements sorting)</a:t>
                </a:r>
              </a:p>
              <a:p>
                <a:pPr marL="171450" indent="-171450">
                  <a:buFont typeface="Arial" panose="020B0604020202020204" pitchFamily="34" charset="0"/>
                  <a:buChar char="•"/>
                </a:pPr>
                <a:r>
                  <a:rPr lang="en-US" sz="1050" i="1" noProof="0" dirty="0">
                    <a:solidFill>
                      <a:schemeClr val="tx1">
                        <a:lumMod val="50000"/>
                        <a:lumOff val="50000"/>
                      </a:schemeClr>
                    </a:solidFill>
                  </a:rPr>
                  <a:t>SPREAD (equal stock distribution btw groups)</a:t>
                </a:r>
              </a:p>
              <a:p>
                <a:pPr marL="180975"/>
                <a:r>
                  <a:rPr lang="en-US" sz="1050" i="1" u="sng" noProof="0" dirty="0">
                    <a:solidFill>
                      <a:schemeClr val="tx1">
                        <a:lumMod val="50000"/>
                        <a:lumOff val="50000"/>
                      </a:schemeClr>
                    </a:solidFill>
                  </a:rPr>
                  <a:t>(not supported by Parallel </a:t>
                </a:r>
                <a:r>
                  <a:rPr lang="en-US" sz="1050" i="1" u="sng" noProof="0" dirty="0" err="1">
                    <a:solidFill>
                      <a:schemeClr val="tx1">
                        <a:lumMod val="50000"/>
                        <a:lumOff val="50000"/>
                      </a:schemeClr>
                    </a:solidFill>
                  </a:rPr>
                  <a:t>ARun</a:t>
                </a:r>
                <a:r>
                  <a:rPr lang="en-US" sz="1050" i="1" u="sng" noProof="0" dirty="0">
                    <a:solidFill>
                      <a:schemeClr val="tx1">
                        <a:lumMod val="50000"/>
                        <a:lumOff val="50000"/>
                      </a:schemeClr>
                    </a:solidFill>
                  </a:rPr>
                  <a:t>)</a:t>
                </a:r>
              </a:p>
              <a:p>
                <a:r>
                  <a:rPr lang="en-US" sz="1200" b="1" noProof="0" dirty="0">
                    <a:solidFill>
                      <a:srgbClr val="0070C0"/>
                    </a:solidFill>
                    <a:highlight>
                      <a:srgbClr val="FFFF00"/>
                    </a:highlight>
                  </a:rPr>
                  <a:t>Allocation rule</a:t>
                </a:r>
              </a:p>
              <a:p>
                <a:pPr marL="171450" indent="-171450">
                  <a:buFont typeface="Arial" panose="020B0604020202020204" pitchFamily="34" charset="0"/>
                  <a:buChar char="•"/>
                </a:pPr>
                <a:r>
                  <a:rPr lang="en-US" sz="1200" noProof="0" dirty="0">
                    <a:solidFill>
                      <a:srgbClr val="0070C0"/>
                    </a:solidFill>
                  </a:rPr>
                  <a:t>Reference dates</a:t>
                </a:r>
              </a:p>
              <a:p>
                <a:pPr marL="171450" indent="-171450">
                  <a:buFont typeface="Arial" panose="020B0604020202020204" pitchFamily="34" charset="0"/>
                  <a:buChar char="•"/>
                </a:pPr>
                <a:r>
                  <a:rPr lang="en-US" sz="1200" noProof="0" dirty="0">
                    <a:solidFill>
                      <a:srgbClr val="0070C0"/>
                    </a:solidFill>
                  </a:rPr>
                  <a:t>Fields check</a:t>
                </a:r>
              </a:p>
              <a:p>
                <a:pPr marL="171450" indent="-171450">
                  <a:buFont typeface="Arial" panose="020B0604020202020204" pitchFamily="34" charset="0"/>
                  <a:buChar char="•"/>
                </a:pPr>
                <a:r>
                  <a:rPr lang="en-US" sz="1200" noProof="0" dirty="0">
                    <a:solidFill>
                      <a:srgbClr val="FF0000"/>
                    </a:solidFill>
                  </a:rPr>
                  <a:t>Dynamic stock validity</a:t>
                </a:r>
              </a:p>
            </p:txBody>
          </p:sp>
        </p:grpSp>
        <p:pic>
          <p:nvPicPr>
            <p:cNvPr id="15" name="Image 14">
              <a:extLst>
                <a:ext uri="{FF2B5EF4-FFF2-40B4-BE49-F238E27FC236}">
                  <a16:creationId xmlns:a16="http://schemas.microsoft.com/office/drawing/2014/main" id="{31058CEC-D47F-4529-B429-EB871AFA9117}"/>
                </a:ext>
              </a:extLst>
            </p:cNvPr>
            <p:cNvPicPr>
              <a:picLocks noChangeAspect="1"/>
            </p:cNvPicPr>
            <p:nvPr/>
          </p:nvPicPr>
          <p:blipFill>
            <a:blip r:embed="rId4"/>
            <a:stretch>
              <a:fillRect/>
            </a:stretch>
          </p:blipFill>
          <p:spPr>
            <a:xfrm>
              <a:off x="8534393" y="4808942"/>
              <a:ext cx="76207" cy="76207"/>
            </a:xfrm>
            <a:prstGeom prst="rect">
              <a:avLst/>
            </a:prstGeom>
          </p:spPr>
        </p:pic>
        <p:pic>
          <p:nvPicPr>
            <p:cNvPr id="16" name="Image 15">
              <a:extLst>
                <a:ext uri="{FF2B5EF4-FFF2-40B4-BE49-F238E27FC236}">
                  <a16:creationId xmlns:a16="http://schemas.microsoft.com/office/drawing/2014/main" id="{C4F02139-ADE6-4F7B-821B-55EF959AA54C}"/>
                </a:ext>
              </a:extLst>
            </p:cNvPr>
            <p:cNvPicPr>
              <a:picLocks noChangeAspect="1"/>
            </p:cNvPicPr>
            <p:nvPr/>
          </p:nvPicPr>
          <p:blipFill>
            <a:blip r:embed="rId4"/>
            <a:stretch>
              <a:fillRect/>
            </a:stretch>
          </p:blipFill>
          <p:spPr>
            <a:xfrm>
              <a:off x="4899054" y="4809864"/>
              <a:ext cx="76207" cy="76207"/>
            </a:xfrm>
            <a:prstGeom prst="rect">
              <a:avLst/>
            </a:prstGeom>
          </p:spPr>
        </p:pic>
      </p:grpSp>
      <p:sp>
        <p:nvSpPr>
          <p:cNvPr id="4" name="Rectangle : coins arrondis 3">
            <a:extLst>
              <a:ext uri="{FF2B5EF4-FFF2-40B4-BE49-F238E27FC236}">
                <a16:creationId xmlns:a16="http://schemas.microsoft.com/office/drawing/2014/main" id="{48951E5D-B458-40B6-BEAD-71ECEABA7FF9}"/>
              </a:ext>
            </a:extLst>
          </p:cNvPr>
          <p:cNvSpPr/>
          <p:nvPr/>
        </p:nvSpPr>
        <p:spPr>
          <a:xfrm>
            <a:off x="4135736" y="5608132"/>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Automatic</a:t>
            </a:r>
          </a:p>
          <a:p>
            <a:pPr algn="ctr"/>
            <a:r>
              <a:rPr lang="en-US" sz="2000" noProof="0" dirty="0" err="1">
                <a:solidFill>
                  <a:schemeClr val="tx1"/>
                </a:solidFill>
              </a:rPr>
              <a:t>ARun</a:t>
            </a:r>
            <a:endParaRPr lang="en-US" sz="2000" noProof="0" dirty="0">
              <a:solidFill>
                <a:schemeClr val="tx1"/>
              </a:solidFill>
            </a:endParaRPr>
          </a:p>
        </p:txBody>
      </p:sp>
      <p:cxnSp>
        <p:nvCxnSpPr>
          <p:cNvPr id="6" name="Connecteur droit avec flèche 5">
            <a:extLst>
              <a:ext uri="{FF2B5EF4-FFF2-40B4-BE49-F238E27FC236}">
                <a16:creationId xmlns:a16="http://schemas.microsoft.com/office/drawing/2014/main" id="{3AC2D448-E551-4FCD-BECC-10945C2F92FB}"/>
              </a:ext>
            </a:extLst>
          </p:cNvPr>
          <p:cNvCxnSpPr>
            <a:cxnSpLocks/>
            <a:endCxn id="4" idx="0"/>
          </p:cNvCxnSpPr>
          <p:nvPr/>
        </p:nvCxnSpPr>
        <p:spPr>
          <a:xfrm>
            <a:off x="4974967" y="5347411"/>
            <a:ext cx="0" cy="2607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Rectangle : coins arrondis 29">
            <a:extLst>
              <a:ext uri="{FF2B5EF4-FFF2-40B4-BE49-F238E27FC236}">
                <a16:creationId xmlns:a16="http://schemas.microsoft.com/office/drawing/2014/main" id="{CAF30B07-3056-42FF-BA8F-FD308D74646C}"/>
              </a:ext>
            </a:extLst>
          </p:cNvPr>
          <p:cNvSpPr/>
          <p:nvPr/>
        </p:nvSpPr>
        <p:spPr>
          <a:xfrm>
            <a:off x="6876044" y="5596630"/>
            <a:ext cx="1678462" cy="632515"/>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err="1">
                <a:solidFill>
                  <a:schemeClr val="tx1"/>
                </a:solidFill>
              </a:rPr>
              <a:t>ARun</a:t>
            </a:r>
            <a:r>
              <a:rPr lang="en-US" sz="2000" noProof="0" dirty="0">
                <a:solidFill>
                  <a:schemeClr val="tx1"/>
                </a:solidFill>
              </a:rPr>
              <a:t> Optimizer</a:t>
            </a:r>
          </a:p>
        </p:txBody>
      </p:sp>
      <p:cxnSp>
        <p:nvCxnSpPr>
          <p:cNvPr id="31" name="Connecteur droit avec flèche 30">
            <a:extLst>
              <a:ext uri="{FF2B5EF4-FFF2-40B4-BE49-F238E27FC236}">
                <a16:creationId xmlns:a16="http://schemas.microsoft.com/office/drawing/2014/main" id="{5208E7BD-D3BE-4987-A8CE-F468F8CEBDDA}"/>
              </a:ext>
            </a:extLst>
          </p:cNvPr>
          <p:cNvCxnSpPr>
            <a:cxnSpLocks/>
            <a:endCxn id="30" idx="0"/>
          </p:cNvCxnSpPr>
          <p:nvPr/>
        </p:nvCxnSpPr>
        <p:spPr>
          <a:xfrm>
            <a:off x="7710476" y="5055079"/>
            <a:ext cx="4799" cy="5415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Rectangle : coins arrondis 35">
            <a:extLst>
              <a:ext uri="{FF2B5EF4-FFF2-40B4-BE49-F238E27FC236}">
                <a16:creationId xmlns:a16="http://schemas.microsoft.com/office/drawing/2014/main" id="{DFEED91C-AF04-4768-AAAE-84AA31A8FCF9}"/>
              </a:ext>
            </a:extLst>
          </p:cNvPr>
          <p:cNvSpPr/>
          <p:nvPr/>
        </p:nvSpPr>
        <p:spPr>
          <a:xfrm>
            <a:off x="222145" y="1132821"/>
            <a:ext cx="1452353" cy="540704"/>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rPr>
              <a:t>Checks</a:t>
            </a:r>
          </a:p>
        </p:txBody>
      </p:sp>
      <p:cxnSp>
        <p:nvCxnSpPr>
          <p:cNvPr id="7" name="Connecteur : en angle 6">
            <a:extLst>
              <a:ext uri="{FF2B5EF4-FFF2-40B4-BE49-F238E27FC236}">
                <a16:creationId xmlns:a16="http://schemas.microsoft.com/office/drawing/2014/main" id="{6572C408-E52D-479B-877B-9785D9DDE855}"/>
              </a:ext>
            </a:extLst>
          </p:cNvPr>
          <p:cNvCxnSpPr>
            <a:cxnSpLocks/>
            <a:endCxn id="36" idx="0"/>
          </p:cNvCxnSpPr>
          <p:nvPr/>
        </p:nvCxnSpPr>
        <p:spPr>
          <a:xfrm rot="10800000" flipV="1">
            <a:off x="948322" y="1017915"/>
            <a:ext cx="992622" cy="114906"/>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
        <p:nvSpPr>
          <p:cNvPr id="33" name="ZoneTexte 32">
            <a:extLst>
              <a:ext uri="{FF2B5EF4-FFF2-40B4-BE49-F238E27FC236}">
                <a16:creationId xmlns:a16="http://schemas.microsoft.com/office/drawing/2014/main" id="{86A1F681-40CA-4048-93D9-A69B0CE7BF8F}"/>
              </a:ext>
            </a:extLst>
          </p:cNvPr>
          <p:cNvSpPr txBox="1"/>
          <p:nvPr/>
        </p:nvSpPr>
        <p:spPr>
          <a:xfrm>
            <a:off x="138555" y="1700331"/>
            <a:ext cx="1622203" cy="1015663"/>
          </a:xfrm>
          <a:prstGeom prst="rect">
            <a:avLst/>
          </a:prstGeom>
          <a:noFill/>
        </p:spPr>
        <p:txBody>
          <a:bodyPr wrap="square" rtlCol="0">
            <a:spAutoFit/>
          </a:bodyPr>
          <a:lstStyle/>
          <a:p>
            <a:r>
              <a:rPr lang="en-US" sz="1200" b="1" noProof="0" dirty="0">
                <a:solidFill>
                  <a:srgbClr val="0070C0"/>
                </a:solidFill>
                <a:highlight>
                  <a:srgbClr val="00FFFF"/>
                </a:highlight>
              </a:rPr>
              <a:t>Global Filter within Req. Selection</a:t>
            </a:r>
          </a:p>
          <a:p>
            <a:r>
              <a:rPr lang="en-US" sz="1200" noProof="0" dirty="0">
                <a:solidFill>
                  <a:srgbClr val="0070C0"/>
                </a:solidFill>
              </a:rPr>
              <a:t>according to fields used in sales orders (i.e. Cancel date)</a:t>
            </a:r>
          </a:p>
        </p:txBody>
      </p:sp>
      <p:sp>
        <p:nvSpPr>
          <p:cNvPr id="45" name="ZoneTexte 44">
            <a:extLst>
              <a:ext uri="{FF2B5EF4-FFF2-40B4-BE49-F238E27FC236}">
                <a16:creationId xmlns:a16="http://schemas.microsoft.com/office/drawing/2014/main" id="{EADEC2A0-E636-40BB-A49E-2C1AF0771E7C}"/>
              </a:ext>
            </a:extLst>
          </p:cNvPr>
          <p:cNvSpPr txBox="1"/>
          <p:nvPr/>
        </p:nvSpPr>
        <p:spPr>
          <a:xfrm>
            <a:off x="514726" y="6280919"/>
            <a:ext cx="1255649" cy="577081"/>
          </a:xfrm>
          <a:prstGeom prst="rect">
            <a:avLst/>
          </a:prstGeom>
          <a:noFill/>
        </p:spPr>
        <p:txBody>
          <a:bodyPr wrap="square" rtlCol="0">
            <a:spAutoFit/>
          </a:bodyPr>
          <a:lstStyle/>
          <a:p>
            <a:r>
              <a:rPr lang="en-US" sz="1050" b="1" noProof="0" dirty="0">
                <a:solidFill>
                  <a:srgbClr val="0070C0"/>
                </a:solidFill>
                <a:highlight>
                  <a:srgbClr val="00FFFF"/>
                </a:highlight>
              </a:rPr>
              <a:t>Requirements</a:t>
            </a:r>
            <a:endParaRPr lang="en-US" sz="1050" noProof="0" dirty="0">
              <a:solidFill>
                <a:srgbClr val="0070C0"/>
              </a:solidFill>
            </a:endParaRPr>
          </a:p>
          <a:p>
            <a:r>
              <a:rPr lang="en-US" sz="1050" b="1" noProof="0" dirty="0">
                <a:solidFill>
                  <a:srgbClr val="0070C0"/>
                </a:solidFill>
                <a:highlight>
                  <a:srgbClr val="FFFF00"/>
                </a:highlight>
              </a:rPr>
              <a:t>Stocks</a:t>
            </a:r>
            <a:endParaRPr lang="en-US" sz="1050" b="1" noProof="0" dirty="0">
              <a:solidFill>
                <a:srgbClr val="0070C0"/>
              </a:solidFill>
            </a:endParaRPr>
          </a:p>
          <a:p>
            <a:r>
              <a:rPr lang="en-US" sz="1050" noProof="0" dirty="0">
                <a:solidFill>
                  <a:srgbClr val="FF0000"/>
                </a:solidFill>
              </a:rPr>
              <a:t>Early Allocation</a:t>
            </a:r>
          </a:p>
        </p:txBody>
      </p:sp>
      <p:sp>
        <p:nvSpPr>
          <p:cNvPr id="27" name="Rectangle : coins arrondis 26">
            <a:extLst>
              <a:ext uri="{FF2B5EF4-FFF2-40B4-BE49-F238E27FC236}">
                <a16:creationId xmlns:a16="http://schemas.microsoft.com/office/drawing/2014/main" id="{E7A52245-21F3-44DD-BAD1-CCF5815BBE1B}"/>
              </a:ext>
            </a:extLst>
          </p:cNvPr>
          <p:cNvSpPr/>
          <p:nvPr/>
        </p:nvSpPr>
        <p:spPr>
          <a:xfrm>
            <a:off x="9724065" y="844673"/>
            <a:ext cx="1895910" cy="1751269"/>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90322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EB8BB7E-348C-4CCF-9624-CDA424ECDF52}"/>
              </a:ext>
            </a:extLst>
          </p:cNvPr>
          <p:cNvSpPr>
            <a:spLocks noGrp="1"/>
          </p:cNvSpPr>
          <p:nvPr>
            <p:ph type="title"/>
          </p:nvPr>
        </p:nvSpPr>
        <p:spPr/>
        <p:txBody>
          <a:bodyPr/>
          <a:lstStyle/>
          <a:p>
            <a:pPr marL="457200" indent="-457200">
              <a:buFont typeface="+mj-lt"/>
              <a:buAutoNum type="arabicPeriod" startAt="8"/>
            </a:pPr>
            <a:r>
              <a:rPr lang="en-US" noProof="0" dirty="0"/>
              <a:t>Release Rules: General settings</a:t>
            </a:r>
          </a:p>
        </p:txBody>
      </p:sp>
      <p:sp>
        <p:nvSpPr>
          <p:cNvPr id="4" name="Espace réservé du contenu 3">
            <a:extLst>
              <a:ext uri="{FF2B5EF4-FFF2-40B4-BE49-F238E27FC236}">
                <a16:creationId xmlns:a16="http://schemas.microsoft.com/office/drawing/2014/main" id="{7B8E9CD0-9CE2-400B-8577-CE6403578256}"/>
              </a:ext>
            </a:extLst>
          </p:cNvPr>
          <p:cNvSpPr>
            <a:spLocks noGrp="1"/>
          </p:cNvSpPr>
          <p:nvPr>
            <p:ph sz="quarter" idx="11"/>
          </p:nvPr>
        </p:nvSpPr>
        <p:spPr/>
        <p:txBody>
          <a:bodyPr/>
          <a:lstStyle/>
          <a:p>
            <a:pPr marL="285750" indent="-285750" algn="just">
              <a:buFont typeface="Arial" panose="020B0604020202020204" pitchFamily="34" charset="0"/>
              <a:buChar char="•"/>
            </a:pPr>
            <a:r>
              <a:rPr lang="en-US" noProof="0" dirty="0"/>
              <a:t>Requirements are allocated according to fill-up release rules where schedule lines can be reserved on Batch stock even if the final release check fails until it succeeds. Allocation Run will update the MRP status from </a:t>
            </a:r>
            <a:r>
              <a:rPr lang="en-US" b="1" noProof="0" dirty="0"/>
              <a:t>R</a:t>
            </a:r>
            <a:r>
              <a:rPr lang="en-US" noProof="0" dirty="0"/>
              <a:t> to </a:t>
            </a:r>
            <a:r>
              <a:rPr lang="en-US" b="1" noProof="0" dirty="0"/>
              <a:t>F</a:t>
            </a:r>
            <a:r>
              <a:rPr lang="en-US" noProof="0" dirty="0"/>
              <a:t> on Batch stock according to release rule and eventual new goods receipts.</a:t>
            </a:r>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All reserved requirements are not automatically deallocated and reallocated but analyzed in additional allocation runs for updates based on the existing reservation.</a:t>
            </a:r>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As long as quantities are allocated </a:t>
            </a:r>
            <a:r>
              <a:rPr lang="en-US" b="1" noProof="0" dirty="0"/>
              <a:t>R</a:t>
            </a:r>
            <a:r>
              <a:rPr lang="en-US" noProof="0" dirty="0"/>
              <a:t>eserved on a Shipping Notification or a PO, the next Allocation Runs will </a:t>
            </a:r>
            <a:r>
              <a:rPr lang="en-US" b="1" noProof="0" dirty="0"/>
              <a:t>keep</a:t>
            </a:r>
            <a:r>
              <a:rPr lang="en-US" noProof="0" dirty="0"/>
              <a:t> the same allocated ASN/PO.</a:t>
            </a:r>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Quantities allocated ‘</a:t>
            </a:r>
            <a:r>
              <a:rPr lang="en-US" b="1" noProof="0" dirty="0"/>
              <a:t>F</a:t>
            </a:r>
            <a:r>
              <a:rPr lang="en-US" noProof="0" dirty="0"/>
              <a:t>’ are not reallocated by the next allocation Runs. They are pending for delivery creation which is a different step.</a:t>
            </a:r>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Final action depends on release rule, but system is set up in a way that no blocking event drops any </a:t>
            </a:r>
            <a:r>
              <a:rPr lang="en-US" b="1" noProof="0" dirty="0"/>
              <a:t>R</a:t>
            </a:r>
            <a:r>
              <a:rPr lang="en-US" noProof="0" dirty="0"/>
              <a:t>eserved quantities during </a:t>
            </a:r>
            <a:r>
              <a:rPr lang="en-US" noProof="0" dirty="0" err="1"/>
              <a:t>ARun</a:t>
            </a:r>
            <a:r>
              <a:rPr lang="en-US" noProof="0" dirty="0"/>
              <a:t>.</a:t>
            </a:r>
          </a:p>
        </p:txBody>
      </p:sp>
    </p:spTree>
    <p:extLst>
      <p:ext uri="{BB962C8B-B14F-4D97-AF65-F5344CB8AC3E}">
        <p14:creationId xmlns:p14="http://schemas.microsoft.com/office/powerpoint/2010/main" val="1827635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C888B-2585-CD4B-29EB-873F6316383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5828E42-34E8-B7C8-14D2-9A5EACE30F12}"/>
              </a:ext>
            </a:extLst>
          </p:cNvPr>
          <p:cNvSpPr>
            <a:spLocks noGrp="1"/>
          </p:cNvSpPr>
          <p:nvPr>
            <p:ph type="title"/>
          </p:nvPr>
        </p:nvSpPr>
        <p:spPr/>
        <p:txBody>
          <a:bodyPr/>
          <a:lstStyle/>
          <a:p>
            <a:pPr marL="457200" indent="-457200">
              <a:buFont typeface="+mj-lt"/>
              <a:buAutoNum type="arabicPeriod" startAt="8"/>
            </a:pPr>
            <a:r>
              <a:rPr lang="en-US" noProof="0" dirty="0"/>
              <a:t>Release Rules: General settings</a:t>
            </a:r>
          </a:p>
        </p:txBody>
      </p:sp>
      <p:sp>
        <p:nvSpPr>
          <p:cNvPr id="7" name="Espace réservé du contenu 3">
            <a:extLst>
              <a:ext uri="{FF2B5EF4-FFF2-40B4-BE49-F238E27FC236}">
                <a16:creationId xmlns:a16="http://schemas.microsoft.com/office/drawing/2014/main" id="{447FE403-DBCE-8AE1-5EDF-58C3EC51F398}"/>
              </a:ext>
            </a:extLst>
          </p:cNvPr>
          <p:cNvSpPr>
            <a:spLocks noGrp="1"/>
          </p:cNvSpPr>
          <p:nvPr>
            <p:ph sz="quarter" idx="11"/>
          </p:nvPr>
        </p:nvSpPr>
        <p:spPr>
          <a:xfrm>
            <a:off x="838200" y="1102180"/>
            <a:ext cx="10515600" cy="4782928"/>
          </a:xfrm>
        </p:spPr>
        <p:txBody>
          <a:bodyPr/>
          <a:lstStyle/>
          <a:p>
            <a:pPr marL="285750" indent="-285750" algn="just">
              <a:buFont typeface="Arial" panose="020B0604020202020204" pitchFamily="34" charset="0"/>
              <a:buChar char="•"/>
            </a:pPr>
            <a:r>
              <a:rPr lang="en-US" noProof="0" dirty="0"/>
              <a:t>If contract is allocated « </a:t>
            </a:r>
            <a:r>
              <a:rPr lang="en-US" b="1" noProof="0" dirty="0"/>
              <a:t>R</a:t>
            </a:r>
            <a:r>
              <a:rPr lang="en-US" noProof="0" dirty="0"/>
              <a:t> »:</a:t>
            </a:r>
          </a:p>
          <a:p>
            <a:pPr marL="285750" indent="-285750" algn="just">
              <a:buFont typeface="Arial" panose="020B0604020202020204" pitchFamily="34" charset="0"/>
              <a:buChar char="•"/>
            </a:pPr>
            <a:endParaRPr lang="en-US" noProof="0" dirty="0"/>
          </a:p>
          <a:p>
            <a:pPr marL="971533" lvl="1" indent="-285750" algn="just"/>
            <a:r>
              <a:rPr lang="en-US" sz="1400" u="sng" noProof="0" dirty="0"/>
              <a:t>the call-off order will get the contract allocation</a:t>
            </a:r>
            <a:r>
              <a:rPr lang="en-US" sz="1400" noProof="0" dirty="0"/>
              <a:t> « </a:t>
            </a:r>
            <a:r>
              <a:rPr lang="en-US" sz="1400" b="1" noProof="0" dirty="0"/>
              <a:t>R</a:t>
            </a:r>
            <a:r>
              <a:rPr lang="en-US" sz="1400" noProof="0" dirty="0"/>
              <a:t> » and can be then updated to « </a:t>
            </a:r>
            <a:r>
              <a:rPr lang="en-US" sz="1400" b="1" noProof="0" dirty="0"/>
              <a:t>F</a:t>
            </a:r>
            <a:r>
              <a:rPr lang="en-US" sz="1400" noProof="0" dirty="0"/>
              <a:t> » if stock is available or Future Receipts are received.</a:t>
            </a:r>
          </a:p>
          <a:p>
            <a:pPr marL="285750" indent="-285750" algn="just">
              <a:buFont typeface="Arial" panose="020B0604020202020204" pitchFamily="34" charset="0"/>
              <a:buChar char="•"/>
            </a:pPr>
            <a:endParaRPr lang="en-US" noProof="0" dirty="0"/>
          </a:p>
          <a:p>
            <a:pPr marL="971533" lvl="1" indent="-285750" algn="just"/>
            <a:r>
              <a:rPr lang="en-US" sz="1400" noProof="0" dirty="0"/>
              <a:t>And if the call-off order quantity is rejected, deleted or reduced, the quantity goes </a:t>
            </a:r>
            <a:r>
              <a:rPr lang="en-US" sz="1400" u="sng" noProof="0" dirty="0"/>
              <a:t>back to the Contract with the initial allocation.</a:t>
            </a:r>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If contract is not yet allocated:</a:t>
            </a:r>
          </a:p>
          <a:p>
            <a:pPr marL="285750" indent="-285750" algn="just">
              <a:buFont typeface="Arial" panose="020B0604020202020204" pitchFamily="34" charset="0"/>
              <a:buChar char="•"/>
            </a:pPr>
            <a:endParaRPr lang="en-US" noProof="0" dirty="0"/>
          </a:p>
          <a:p>
            <a:pPr marL="971533" lvl="1" indent="-285750" algn="just"/>
            <a:r>
              <a:rPr lang="en-US" sz="1400" u="sng" noProof="0" dirty="0"/>
              <a:t>the call-off order can be allocated </a:t>
            </a:r>
            <a:r>
              <a:rPr lang="en-US" sz="1400" noProof="0" dirty="0"/>
              <a:t>by the next </a:t>
            </a:r>
            <a:r>
              <a:rPr lang="en-US" sz="1400" noProof="0" dirty="0" err="1"/>
              <a:t>ARun</a:t>
            </a:r>
            <a:r>
              <a:rPr lang="en-US" sz="1400" noProof="0" dirty="0"/>
              <a:t> execution, not the Contract anymore.</a:t>
            </a:r>
          </a:p>
          <a:p>
            <a:pPr marL="285750" indent="-285750" algn="just">
              <a:buFont typeface="Arial" panose="020B0604020202020204" pitchFamily="34" charset="0"/>
              <a:buChar char="•"/>
            </a:pPr>
            <a:endParaRPr lang="en-US" noProof="0" dirty="0"/>
          </a:p>
          <a:p>
            <a:pPr marL="971533" lvl="1" indent="-285750" algn="just"/>
            <a:r>
              <a:rPr lang="en-US" sz="1400" noProof="0" dirty="0"/>
              <a:t>And if the call-off order quantity is rejected, deleted or reduced, the quantity goes back to the Contract without the call-off allocation. </a:t>
            </a:r>
            <a:r>
              <a:rPr lang="en-US" sz="1400" u="sng" noProof="0" dirty="0"/>
              <a:t>The allocation is lost.</a:t>
            </a:r>
          </a:p>
          <a:p>
            <a:pPr lvl="1" indent="0" algn="just">
              <a:buNone/>
            </a:pPr>
            <a:endParaRPr lang="en-US" sz="1400" noProof="0" dirty="0"/>
          </a:p>
          <a:p>
            <a:pPr marL="285750" indent="-285750" algn="just">
              <a:buFont typeface="Arial" panose="020B0604020202020204" pitchFamily="34" charset="0"/>
              <a:buChar char="•"/>
            </a:pPr>
            <a:endParaRPr lang="en-US" noProof="0" dirty="0"/>
          </a:p>
        </p:txBody>
      </p:sp>
    </p:spTree>
    <p:extLst>
      <p:ext uri="{BB962C8B-B14F-4D97-AF65-F5344CB8AC3E}">
        <p14:creationId xmlns:p14="http://schemas.microsoft.com/office/powerpoint/2010/main" val="879493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076518E-64B3-4FCF-9DB9-26EE3C2836C3}"/>
              </a:ext>
            </a:extLst>
          </p:cNvPr>
          <p:cNvSpPr>
            <a:spLocks noGrp="1"/>
          </p:cNvSpPr>
          <p:nvPr>
            <p:ph type="title"/>
          </p:nvPr>
        </p:nvSpPr>
        <p:spPr/>
        <p:txBody>
          <a:bodyPr/>
          <a:lstStyle/>
          <a:p>
            <a:pPr marL="457200" indent="-457200">
              <a:buFont typeface="+mj-lt"/>
              <a:buAutoNum type="arabicPeriod" startAt="8"/>
            </a:pPr>
            <a:r>
              <a:rPr lang="en-US" noProof="0" dirty="0"/>
              <a:t>Release Rules: MRP Status update</a:t>
            </a:r>
          </a:p>
        </p:txBody>
      </p:sp>
      <p:pic>
        <p:nvPicPr>
          <p:cNvPr id="5" name="Espace réservé du contenu 4">
            <a:extLst>
              <a:ext uri="{FF2B5EF4-FFF2-40B4-BE49-F238E27FC236}">
                <a16:creationId xmlns:a16="http://schemas.microsoft.com/office/drawing/2014/main" id="{3EDD94F3-B4FA-45C7-A74B-C5142F504D9E}"/>
              </a:ext>
            </a:extLst>
          </p:cNvPr>
          <p:cNvPicPr>
            <a:picLocks noGrp="1" noChangeAspect="1"/>
          </p:cNvPicPr>
          <p:nvPr>
            <p:ph sz="quarter" idx="11"/>
          </p:nvPr>
        </p:nvPicPr>
        <p:blipFill>
          <a:blip r:embed="rId2"/>
          <a:stretch>
            <a:fillRect/>
          </a:stretch>
        </p:blipFill>
        <p:spPr>
          <a:xfrm>
            <a:off x="2800197" y="1002232"/>
            <a:ext cx="4419753" cy="2794967"/>
          </a:xfrm>
          <a:prstGeom prst="rect">
            <a:avLst/>
          </a:prstGeom>
        </p:spPr>
      </p:pic>
      <p:sp>
        <p:nvSpPr>
          <p:cNvPr id="7" name="ZoneTexte 6">
            <a:extLst>
              <a:ext uri="{FF2B5EF4-FFF2-40B4-BE49-F238E27FC236}">
                <a16:creationId xmlns:a16="http://schemas.microsoft.com/office/drawing/2014/main" id="{F0DEAAA6-7647-43CD-9C5B-935532F32D78}"/>
              </a:ext>
            </a:extLst>
          </p:cNvPr>
          <p:cNvSpPr txBox="1"/>
          <p:nvPr/>
        </p:nvSpPr>
        <p:spPr>
          <a:xfrm>
            <a:off x="914247" y="3885200"/>
            <a:ext cx="10439552" cy="2339102"/>
          </a:xfrm>
          <a:prstGeom prst="rect">
            <a:avLst/>
          </a:prstGeom>
          <a:noFill/>
        </p:spPr>
        <p:txBody>
          <a:bodyPr wrap="square" rtlCol="0">
            <a:spAutoFit/>
          </a:bodyPr>
          <a:lstStyle/>
          <a:p>
            <a:pPr>
              <a:spcAft>
                <a:spcPts val="300"/>
              </a:spcAft>
            </a:pPr>
            <a:r>
              <a:rPr lang="en-US" sz="1400" b="1" noProof="0" dirty="0">
                <a:latin typeface="Verdana" panose="020B0604030504040204" pitchFamily="34" charset="0"/>
                <a:ea typeface="Verdana" panose="020B0604030504040204" pitchFamily="34" charset="0"/>
              </a:rPr>
              <a:t>MRP main status:</a:t>
            </a:r>
          </a:p>
          <a:p>
            <a:pPr>
              <a:spcAft>
                <a:spcPts val="300"/>
              </a:spcAft>
            </a:pPr>
            <a:r>
              <a:rPr lang="en-US" sz="1400" b="1" noProof="0" dirty="0">
                <a:latin typeface="Verdana" panose="020B0604030504040204" pitchFamily="34" charset="0"/>
                <a:ea typeface="Verdana" panose="020B0604030504040204" pitchFamily="34" charset="0"/>
              </a:rPr>
              <a:t>A	</a:t>
            </a:r>
            <a:r>
              <a:rPr lang="en-US" sz="1400" noProof="0" dirty="0">
                <a:latin typeface="Verdana" panose="020B0604030504040204" pitchFamily="34" charset="0"/>
                <a:ea typeface="Verdana" panose="020B0604030504040204" pitchFamily="34" charset="0"/>
              </a:rPr>
              <a:t>: Freely available stock (Batch and/or </a:t>
            </a:r>
            <a:r>
              <a:rPr lang="en-US" sz="1400" u="sng" noProof="0" dirty="0">
                <a:latin typeface="Verdana" panose="020B0604030504040204" pitchFamily="34" charset="0"/>
                <a:ea typeface="Verdana" panose="020B0604030504040204" pitchFamily="34" charset="0"/>
              </a:rPr>
              <a:t>Future receipts</a:t>
            </a:r>
            <a:r>
              <a:rPr lang="en-US" sz="1400" noProof="0" dirty="0">
                <a:latin typeface="Verdana" panose="020B0604030504040204" pitchFamily="34" charset="0"/>
                <a:ea typeface="Verdana" panose="020B0604030504040204" pitchFamily="34" charset="0"/>
              </a:rPr>
              <a:t>)</a:t>
            </a:r>
          </a:p>
          <a:p>
            <a:pPr>
              <a:spcAft>
                <a:spcPts val="300"/>
              </a:spcAft>
            </a:pPr>
            <a:r>
              <a:rPr lang="en-US" sz="1400" b="1" noProof="0" dirty="0">
                <a:latin typeface="Verdana" panose="020B0604030504040204" pitchFamily="34" charset="0"/>
                <a:ea typeface="Verdana" panose="020B0604030504040204" pitchFamily="34" charset="0"/>
              </a:rPr>
              <a:t>B	</a:t>
            </a:r>
            <a:r>
              <a:rPr lang="en-US" sz="1400" noProof="0" dirty="0">
                <a:latin typeface="Verdana" panose="020B0604030504040204" pitchFamily="34" charset="0"/>
                <a:ea typeface="Verdana" panose="020B0604030504040204" pitchFamily="34" charset="0"/>
              </a:rPr>
              <a:t>: Blocked requirements (no supply can cover  the req., neither on-hand stock, nor </a:t>
            </a:r>
            <a:r>
              <a:rPr lang="en-US" sz="1400" u="sng" noProof="0" dirty="0">
                <a:latin typeface="Verdana" panose="020B0604030504040204" pitchFamily="34" charset="0"/>
                <a:ea typeface="Verdana" panose="020B0604030504040204" pitchFamily="34" charset="0"/>
              </a:rPr>
              <a:t>Future Receipts</a:t>
            </a:r>
            <a:r>
              <a:rPr lang="en-US" sz="1400" noProof="0" dirty="0">
                <a:latin typeface="Verdana" panose="020B0604030504040204" pitchFamily="34" charset="0"/>
                <a:ea typeface="Verdana" panose="020B0604030504040204" pitchFamily="34" charset="0"/>
              </a:rPr>
              <a:t>)</a:t>
            </a:r>
          </a:p>
          <a:p>
            <a:pPr>
              <a:spcAft>
                <a:spcPts val="300"/>
              </a:spcAft>
            </a:pPr>
            <a:r>
              <a:rPr lang="en-US" sz="1400" b="1" noProof="0" dirty="0">
                <a:latin typeface="Verdana" panose="020B0604030504040204" pitchFamily="34" charset="0"/>
                <a:ea typeface="Verdana" panose="020B0604030504040204" pitchFamily="34" charset="0"/>
              </a:rPr>
              <a:t>T	</a:t>
            </a:r>
            <a:r>
              <a:rPr lang="en-US" sz="1400" noProof="0" dirty="0">
                <a:latin typeface="Verdana" panose="020B0604030504040204" pitchFamily="34" charset="0"/>
                <a:ea typeface="Verdana" panose="020B0604030504040204" pitchFamily="34" charset="0"/>
              </a:rPr>
              <a:t>: Temporarily assigned (some on-hand stock or </a:t>
            </a:r>
            <a:r>
              <a:rPr lang="en-US" sz="1400" u="sng" noProof="0" dirty="0">
                <a:latin typeface="Verdana" panose="020B0604030504040204" pitchFamily="34" charset="0"/>
                <a:ea typeface="Verdana" panose="020B0604030504040204" pitchFamily="34" charset="0"/>
              </a:rPr>
              <a:t>Future Receipts</a:t>
            </a:r>
            <a:r>
              <a:rPr lang="en-US" sz="1400" noProof="0" dirty="0">
                <a:latin typeface="Verdana" panose="020B0604030504040204" pitchFamily="34" charset="0"/>
                <a:ea typeface="Verdana" panose="020B0604030504040204" pitchFamily="34" charset="0"/>
              </a:rPr>
              <a:t> supply covers the req. on a FIFO basis).</a:t>
            </a:r>
          </a:p>
          <a:p>
            <a:pPr>
              <a:spcAft>
                <a:spcPts val="300"/>
              </a:spcAft>
            </a:pPr>
            <a:r>
              <a:rPr lang="en-US" sz="1400" noProof="0" dirty="0">
                <a:latin typeface="Verdana" panose="020B0604030504040204" pitchFamily="34" charset="0"/>
                <a:ea typeface="Verdana" panose="020B0604030504040204" pitchFamily="34" charset="0"/>
              </a:rPr>
              <a:t>	  This supply was either created through MRP run or direct purchase documents creation.</a:t>
            </a:r>
          </a:p>
          <a:p>
            <a:pPr>
              <a:spcAft>
                <a:spcPts val="300"/>
              </a:spcAft>
            </a:pPr>
            <a:r>
              <a:rPr lang="en-US" sz="1400" b="1" noProof="0" dirty="0">
                <a:solidFill>
                  <a:srgbClr val="0070C0"/>
                </a:solidFill>
                <a:latin typeface="Verdana" panose="020B0604030504040204" pitchFamily="34" charset="0"/>
                <a:ea typeface="Verdana" panose="020B0604030504040204" pitchFamily="34" charset="0"/>
              </a:rPr>
              <a:t>R</a:t>
            </a:r>
            <a:r>
              <a:rPr lang="en-US" sz="1400" b="1" noProof="0" dirty="0">
                <a:latin typeface="Verdana" panose="020B0604030504040204" pitchFamily="34" charset="0"/>
                <a:ea typeface="Verdana" panose="020B0604030504040204" pitchFamily="34" charset="0"/>
              </a:rPr>
              <a:t>	</a:t>
            </a:r>
            <a:r>
              <a:rPr lang="en-US" sz="1400" noProof="0" dirty="0">
                <a:latin typeface="Verdana" panose="020B0604030504040204" pitchFamily="34" charset="0"/>
                <a:ea typeface="Verdana" panose="020B0604030504040204" pitchFamily="34" charset="0"/>
              </a:rPr>
              <a:t>: Reserved (Allocation Run was executed and reserved on-hand stock or </a:t>
            </a:r>
            <a:r>
              <a:rPr lang="en-US" sz="1400" u="sng" noProof="0" dirty="0">
                <a:latin typeface="Verdana" panose="020B0604030504040204" pitchFamily="34" charset="0"/>
                <a:ea typeface="Verdana" panose="020B0604030504040204" pitchFamily="34" charset="0"/>
              </a:rPr>
              <a:t>Future Receipts</a:t>
            </a:r>
            <a:r>
              <a:rPr lang="en-US" sz="1400" noProof="0" dirty="0">
                <a:latin typeface="Verdana" panose="020B0604030504040204" pitchFamily="34" charset="0"/>
                <a:ea typeface="Verdana" panose="020B0604030504040204" pitchFamily="34" charset="0"/>
              </a:rPr>
              <a:t> stock on req.</a:t>
            </a:r>
          </a:p>
          <a:p>
            <a:pPr>
              <a:spcAft>
                <a:spcPts val="300"/>
              </a:spcAft>
            </a:pPr>
            <a:r>
              <a:rPr lang="en-US" sz="1400" noProof="0" dirty="0">
                <a:latin typeface="Verdana" panose="020B0604030504040204" pitchFamily="34" charset="0"/>
                <a:ea typeface="Verdana" panose="020B0604030504040204" pitchFamily="34" charset="0"/>
              </a:rPr>
              <a:t>	  until release checks succeed to deliver the order)</a:t>
            </a:r>
          </a:p>
          <a:p>
            <a:pPr>
              <a:spcAft>
                <a:spcPts val="300"/>
              </a:spcAft>
            </a:pPr>
            <a:r>
              <a:rPr lang="en-US" sz="1400" b="1" noProof="0" dirty="0">
                <a:solidFill>
                  <a:srgbClr val="0070C0"/>
                </a:solidFill>
                <a:latin typeface="Verdana" panose="020B0604030504040204" pitchFamily="34" charset="0"/>
                <a:ea typeface="Verdana" panose="020B0604030504040204" pitchFamily="34" charset="0"/>
              </a:rPr>
              <a:t>F</a:t>
            </a:r>
            <a:r>
              <a:rPr lang="en-US" sz="1400" b="1" noProof="0" dirty="0">
                <a:latin typeface="Verdana" panose="020B0604030504040204" pitchFamily="34" charset="0"/>
                <a:ea typeface="Verdana" panose="020B0604030504040204" pitchFamily="34" charset="0"/>
              </a:rPr>
              <a:t>	</a:t>
            </a:r>
            <a:r>
              <a:rPr lang="en-US" sz="1400" noProof="0" dirty="0">
                <a:latin typeface="Verdana" panose="020B0604030504040204" pitchFamily="34" charset="0"/>
                <a:ea typeface="Verdana" panose="020B0604030504040204" pitchFamily="34" charset="0"/>
              </a:rPr>
              <a:t>: Fixed (Allocation Run was executed and fixed on-hand stock on req. which can now be delivered)</a:t>
            </a:r>
          </a:p>
          <a:p>
            <a:pPr>
              <a:spcAft>
                <a:spcPts val="300"/>
              </a:spcAft>
            </a:pPr>
            <a:r>
              <a:rPr lang="en-US" sz="1400" b="1" noProof="0" dirty="0">
                <a:latin typeface="Verdana" panose="020B0604030504040204" pitchFamily="34" charset="0"/>
                <a:ea typeface="Verdana" panose="020B0604030504040204" pitchFamily="34" charset="0"/>
              </a:rPr>
              <a:t>D	</a:t>
            </a:r>
            <a:r>
              <a:rPr lang="en-US" sz="1400" noProof="0" dirty="0">
                <a:latin typeface="Verdana" panose="020B0604030504040204" pitchFamily="34" charset="0"/>
                <a:ea typeface="Verdana" panose="020B0604030504040204" pitchFamily="34" charset="0"/>
              </a:rPr>
              <a:t>: Delivered (Delivery was create on Fixed orders)</a:t>
            </a:r>
          </a:p>
        </p:txBody>
      </p:sp>
      <p:sp>
        <p:nvSpPr>
          <p:cNvPr id="8" name="Espace réservé du contenu 3">
            <a:extLst>
              <a:ext uri="{FF2B5EF4-FFF2-40B4-BE49-F238E27FC236}">
                <a16:creationId xmlns:a16="http://schemas.microsoft.com/office/drawing/2014/main" id="{E4EAF998-C621-44B8-8EFF-9BF63AEE5EBC}"/>
              </a:ext>
            </a:extLst>
          </p:cNvPr>
          <p:cNvSpPr txBox="1">
            <a:spLocks/>
          </p:cNvSpPr>
          <p:nvPr/>
        </p:nvSpPr>
        <p:spPr>
          <a:xfrm>
            <a:off x="7496175" y="2105323"/>
            <a:ext cx="3933671" cy="1599901"/>
          </a:xfrm>
          <a:prstGeom prst="rect">
            <a:avLst/>
          </a:prstGeom>
          <a:ln>
            <a:solidFill>
              <a:srgbClr val="0070C0"/>
            </a:solidFill>
          </a:ln>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noProof="0" dirty="0" err="1">
                <a:solidFill>
                  <a:srgbClr val="0070C0"/>
                </a:solidFill>
              </a:rPr>
              <a:t>ARun</a:t>
            </a:r>
            <a:r>
              <a:rPr lang="en-US" noProof="0" dirty="0"/>
              <a:t> will chose the supply that covers the best the requirements according to business and customer rules (grouping, sorting and check rules), and stock selection and sorting, </a:t>
            </a:r>
            <a:r>
              <a:rPr lang="en-US" b="1" noProof="0" dirty="0"/>
              <a:t>before releasing the delivery</a:t>
            </a:r>
            <a:r>
              <a:rPr lang="en-US" noProof="0" dirty="0"/>
              <a:t>.</a:t>
            </a:r>
          </a:p>
          <a:p>
            <a:pPr algn="just"/>
            <a:r>
              <a:rPr lang="en-US" noProof="0" dirty="0"/>
              <a:t>Future Receipts can then be </a:t>
            </a:r>
            <a:r>
              <a:rPr lang="en-US" b="1" noProof="0" dirty="0"/>
              <a:t>R</a:t>
            </a:r>
            <a:r>
              <a:rPr lang="en-US" noProof="0" dirty="0"/>
              <a:t>eserved.</a:t>
            </a:r>
          </a:p>
          <a:p>
            <a:pPr algn="just"/>
            <a:endParaRPr lang="en-US" noProof="0" dirty="0"/>
          </a:p>
        </p:txBody>
      </p:sp>
      <p:sp>
        <p:nvSpPr>
          <p:cNvPr id="17" name="Rectangle 16">
            <a:extLst>
              <a:ext uri="{FF2B5EF4-FFF2-40B4-BE49-F238E27FC236}">
                <a16:creationId xmlns:a16="http://schemas.microsoft.com/office/drawing/2014/main" id="{5500D426-8D15-4421-872D-C9D3CAA163F3}"/>
              </a:ext>
            </a:extLst>
          </p:cNvPr>
          <p:cNvSpPr/>
          <p:nvPr/>
        </p:nvSpPr>
        <p:spPr>
          <a:xfrm>
            <a:off x="4648200" y="1002232"/>
            <a:ext cx="609600" cy="2794967"/>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85653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EB8BB7E-348C-4CCF-9624-CDA424ECDF52}"/>
              </a:ext>
            </a:extLst>
          </p:cNvPr>
          <p:cNvSpPr>
            <a:spLocks noGrp="1"/>
          </p:cNvSpPr>
          <p:nvPr>
            <p:ph type="title"/>
          </p:nvPr>
        </p:nvSpPr>
        <p:spPr/>
        <p:txBody>
          <a:bodyPr/>
          <a:lstStyle/>
          <a:p>
            <a:pPr marL="457200" indent="-457200">
              <a:buFont typeface="+mj-lt"/>
              <a:buAutoNum type="arabicPeriod" startAt="8"/>
            </a:pPr>
            <a:r>
              <a:rPr lang="en-US" noProof="0" dirty="0"/>
              <a:t>Release Rules: Backorders Rejection</a:t>
            </a:r>
          </a:p>
        </p:txBody>
      </p:sp>
      <p:sp>
        <p:nvSpPr>
          <p:cNvPr id="4" name="Espace réservé du contenu 3">
            <a:extLst>
              <a:ext uri="{FF2B5EF4-FFF2-40B4-BE49-F238E27FC236}">
                <a16:creationId xmlns:a16="http://schemas.microsoft.com/office/drawing/2014/main" id="{7B8E9CD0-9CE2-400B-8577-CE6403578256}"/>
              </a:ext>
            </a:extLst>
          </p:cNvPr>
          <p:cNvSpPr>
            <a:spLocks noGrp="1"/>
          </p:cNvSpPr>
          <p:nvPr>
            <p:ph sz="quarter" idx="11"/>
          </p:nvPr>
        </p:nvSpPr>
        <p:spPr/>
        <p:txBody>
          <a:bodyPr/>
          <a:lstStyle/>
          <a:p>
            <a:pPr marL="285750" indent="-285750">
              <a:buFont typeface="Arial" panose="020B0604020202020204" pitchFamily="34" charset="0"/>
              <a:buChar char="•"/>
            </a:pPr>
            <a:r>
              <a:rPr lang="en-US" noProof="0" dirty="0"/>
              <a:t>Open quantities are dropped by </a:t>
            </a:r>
            <a:r>
              <a:rPr lang="en-US" noProof="0" dirty="0" err="1"/>
              <a:t>ARun</a:t>
            </a:r>
            <a:r>
              <a:rPr lang="en-US" noProof="0" dirty="0"/>
              <a:t> only when using specific </a:t>
            </a:r>
            <a:r>
              <a:rPr lang="en-US" noProof="0" dirty="0" err="1"/>
              <a:t>ARun</a:t>
            </a:r>
            <a:r>
              <a:rPr lang="en-US" noProof="0" dirty="0"/>
              <a:t> Types as per Business needs:</a:t>
            </a:r>
          </a:p>
          <a:p>
            <a:endParaRPr lang="en-US" noProof="0" dirty="0"/>
          </a:p>
          <a:p>
            <a:pPr marL="971533" lvl="1" indent="-285750"/>
            <a:r>
              <a:rPr lang="en-US" sz="1400" b="1" noProof="0" dirty="0"/>
              <a:t>ZE - EU Rush orders Backorders </a:t>
            </a:r>
          </a:p>
          <a:p>
            <a:pPr lvl="1" indent="0">
              <a:buNone/>
            </a:pPr>
            <a:r>
              <a:rPr lang="en-US" sz="1400" noProof="0" dirty="0"/>
              <a:t>is used for Wholesale AMZ, EDI, ZRO « Replenishment Rush orders », and E-Commerce Marketplace replenishment orders by dropping all open quantities regardless allocation status. This rejection is proposed by </a:t>
            </a:r>
            <a:r>
              <a:rPr lang="en-US" sz="1400" noProof="0" dirty="0" err="1"/>
              <a:t>ARun</a:t>
            </a:r>
            <a:r>
              <a:rPr lang="en-US" sz="1400" noProof="0" dirty="0"/>
              <a:t> and applied after delivery creation by mass update (vs </a:t>
            </a:r>
            <a:r>
              <a:rPr lang="en-US" sz="1400" noProof="0" dirty="0" err="1"/>
              <a:t>ARun</a:t>
            </a:r>
            <a:r>
              <a:rPr lang="en-US" sz="1400" noProof="0" dirty="0"/>
              <a:t> rejection check). This way only open quantities not under delivery are dropped.</a:t>
            </a:r>
          </a:p>
          <a:p>
            <a:pPr lvl="1" indent="0">
              <a:buNone/>
            </a:pPr>
            <a:endParaRPr lang="en-US" sz="1400" noProof="0" dirty="0"/>
          </a:p>
          <a:p>
            <a:pPr lvl="1" indent="0">
              <a:buNone/>
            </a:pPr>
            <a:endParaRPr lang="en-US" sz="1400" noProof="0" dirty="0"/>
          </a:p>
          <a:p>
            <a:pPr marL="971533" lvl="1" indent="-285750"/>
            <a:r>
              <a:rPr lang="en-US" sz="1400" b="1" noProof="0" dirty="0"/>
              <a:t>ZD - EU Unallocated Rush orders</a:t>
            </a:r>
          </a:p>
          <a:p>
            <a:pPr lvl="1" indent="0">
              <a:buNone/>
            </a:pPr>
            <a:r>
              <a:rPr lang="en-US" sz="1400" noProof="0" dirty="0"/>
              <a:t>is used in order to drop only open unallocated quantities. It is manually applied in Inventory Management team Sales Orders.</a:t>
            </a:r>
          </a:p>
          <a:p>
            <a:endParaRPr lang="en-US" b="1" noProof="0" dirty="0"/>
          </a:p>
        </p:txBody>
      </p:sp>
    </p:spTree>
    <p:extLst>
      <p:ext uri="{BB962C8B-B14F-4D97-AF65-F5344CB8AC3E}">
        <p14:creationId xmlns:p14="http://schemas.microsoft.com/office/powerpoint/2010/main" val="318601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u="sng" noProof="0" dirty="0" err="1"/>
              <a:t>ARun</a:t>
            </a:r>
            <a:r>
              <a:rPr lang="en-US" u="sng" noProof="0" dirty="0"/>
              <a:t> Parallel Execution:</a:t>
            </a:r>
          </a:p>
          <a:p>
            <a:pPr>
              <a:spcBef>
                <a:spcPts val="1800"/>
              </a:spcBef>
            </a:pPr>
            <a:endParaRPr lang="en-US" noProof="0" dirty="0"/>
          </a:p>
          <a:p>
            <a:pPr>
              <a:spcBef>
                <a:spcPts val="1800"/>
              </a:spcBef>
            </a:pPr>
            <a:r>
              <a:rPr lang="en-US" noProof="0" dirty="0"/>
              <a:t>Night Allocation jobs use the Parallel </a:t>
            </a:r>
            <a:r>
              <a:rPr lang="en-US" noProof="0" dirty="0" err="1"/>
              <a:t>ARun</a:t>
            </a:r>
            <a:r>
              <a:rPr lang="en-US" noProof="0" dirty="0"/>
              <a:t> execution program for better performances.</a:t>
            </a:r>
          </a:p>
          <a:p>
            <a:pPr>
              <a:spcBef>
                <a:spcPts val="1800"/>
              </a:spcBef>
            </a:pPr>
            <a:r>
              <a:rPr lang="en-US" noProof="0" dirty="0"/>
              <a:t>It works by material, by task, and then by levels above the Item.</a:t>
            </a:r>
          </a:p>
          <a:p>
            <a:pPr>
              <a:spcBef>
                <a:spcPts val="1800"/>
              </a:spcBef>
            </a:pPr>
            <a:endParaRPr lang="en-US" noProof="0" dirty="0"/>
          </a:p>
          <a:p>
            <a:pPr>
              <a:spcBef>
                <a:spcPts val="1800"/>
              </a:spcBef>
            </a:pPr>
            <a:r>
              <a:rPr lang="en-US" noProof="0" dirty="0"/>
              <a:t>Some restrictions exist with Parallel ARuns :</a:t>
            </a:r>
          </a:p>
          <a:p>
            <a:pPr marL="285750" indent="-285750">
              <a:spcBef>
                <a:spcPts val="1800"/>
              </a:spcBef>
              <a:buFont typeface="Arial" panose="020B0604020202020204" pitchFamily="34" charset="0"/>
              <a:buChar char="•"/>
            </a:pPr>
            <a:endParaRPr lang="en-US" noProof="0" dirty="0"/>
          </a:p>
          <a:p>
            <a:pPr marL="285750" indent="-285750">
              <a:spcBef>
                <a:spcPts val="1800"/>
              </a:spcBef>
              <a:buFont typeface="Arial" panose="020B0604020202020204" pitchFamily="34" charset="0"/>
              <a:buChar char="•"/>
            </a:pPr>
            <a:r>
              <a:rPr lang="en-US" noProof="0" dirty="0"/>
              <a:t>Grouping and SPREAD allocation logic is not possible,</a:t>
            </a:r>
          </a:p>
          <a:p>
            <a:pPr marL="285750" indent="-285750">
              <a:spcBef>
                <a:spcPts val="1800"/>
              </a:spcBef>
              <a:buFont typeface="Arial" panose="020B0604020202020204" pitchFamily="34" charset="0"/>
              <a:buChar char="•"/>
            </a:pPr>
            <a:r>
              <a:rPr lang="en-US" noProof="0" dirty="0"/>
              <a:t>dynamic credit check are not possible,</a:t>
            </a:r>
          </a:p>
          <a:p>
            <a:pPr marL="285750" indent="-285750">
              <a:spcBef>
                <a:spcPts val="1800"/>
              </a:spcBef>
              <a:buFont typeface="Arial" panose="020B0604020202020204" pitchFamily="34" charset="0"/>
              <a:buChar char="•"/>
            </a:pPr>
            <a:r>
              <a:rPr lang="en-US" noProof="0" dirty="0"/>
              <a:t>value-added services cannot be handled when they require additional physical VAS materials,</a:t>
            </a:r>
          </a:p>
          <a:p>
            <a:pPr marL="285750" indent="-285750">
              <a:spcBef>
                <a:spcPts val="1800"/>
              </a:spcBef>
              <a:buFont typeface="Arial" panose="020B0604020202020204" pitchFamily="34" charset="0"/>
              <a:buChar char="•"/>
            </a:pPr>
            <a:r>
              <a:rPr lang="en-US" noProof="0" dirty="0"/>
              <a:t>stats not available like Batch allocation.</a:t>
            </a:r>
          </a:p>
        </p:txBody>
      </p:sp>
    </p:spTree>
    <p:extLst>
      <p:ext uri="{BB962C8B-B14F-4D97-AF65-F5344CB8AC3E}">
        <p14:creationId xmlns:p14="http://schemas.microsoft.com/office/powerpoint/2010/main" val="857271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48C42-D073-A073-80D6-4BEB2DA9441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2A67D91-ADEE-4843-8C00-FE67038DB723}"/>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4" name="Espace réservé du contenu 3">
            <a:extLst>
              <a:ext uri="{FF2B5EF4-FFF2-40B4-BE49-F238E27FC236}">
                <a16:creationId xmlns:a16="http://schemas.microsoft.com/office/drawing/2014/main" id="{18242DBF-F9EA-0E1C-C2CD-7E473F861381}"/>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noProof="0" dirty="0" err="1"/>
              <a:t>ARun</a:t>
            </a:r>
            <a:r>
              <a:rPr lang="en-US" noProof="0" dirty="0"/>
              <a:t> Logs have been activated for all regions. No region limitation can be done on those logs.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Existing </a:t>
            </a:r>
            <a:r>
              <a:rPr lang="en-US" noProof="0" dirty="0" err="1"/>
              <a:t>ARun</a:t>
            </a:r>
            <a:r>
              <a:rPr lang="en-US" noProof="0" dirty="0"/>
              <a:t> Logs Refresh job has also been updated with logs deletion delays due to high database volumes:</a:t>
            </a:r>
          </a:p>
          <a:p>
            <a:endParaRPr lang="en-US" noProof="0" dirty="0"/>
          </a:p>
        </p:txBody>
      </p:sp>
      <p:graphicFrame>
        <p:nvGraphicFramePr>
          <p:cNvPr id="5" name="Tableau 4">
            <a:extLst>
              <a:ext uri="{FF2B5EF4-FFF2-40B4-BE49-F238E27FC236}">
                <a16:creationId xmlns:a16="http://schemas.microsoft.com/office/drawing/2014/main" id="{1C5E71C0-C6FB-3550-9157-1B9A29330C71}"/>
              </a:ext>
            </a:extLst>
          </p:cNvPr>
          <p:cNvGraphicFramePr>
            <a:graphicFrameLocks noGrp="1"/>
          </p:cNvGraphicFramePr>
          <p:nvPr>
            <p:extLst>
              <p:ext uri="{D42A27DB-BD31-4B8C-83A1-F6EECF244321}">
                <p14:modId xmlns:p14="http://schemas.microsoft.com/office/powerpoint/2010/main" val="870287504"/>
              </p:ext>
            </p:extLst>
          </p:nvPr>
        </p:nvGraphicFramePr>
        <p:xfrm>
          <a:off x="3657600" y="2590863"/>
          <a:ext cx="4876800" cy="457200"/>
        </p:xfrm>
        <a:graphic>
          <a:graphicData uri="http://schemas.openxmlformats.org/drawingml/2006/table">
            <a:tbl>
              <a:tblPr/>
              <a:tblGrid>
                <a:gridCol w="2246437">
                  <a:extLst>
                    <a:ext uri="{9D8B030D-6E8A-4147-A177-3AD203B41FA5}">
                      <a16:colId xmlns:a16="http://schemas.microsoft.com/office/drawing/2014/main" val="211126091"/>
                    </a:ext>
                  </a:extLst>
                </a:gridCol>
                <a:gridCol w="659970">
                  <a:extLst>
                    <a:ext uri="{9D8B030D-6E8A-4147-A177-3AD203B41FA5}">
                      <a16:colId xmlns:a16="http://schemas.microsoft.com/office/drawing/2014/main" val="1169802771"/>
                    </a:ext>
                  </a:extLst>
                </a:gridCol>
                <a:gridCol w="545745">
                  <a:extLst>
                    <a:ext uri="{9D8B030D-6E8A-4147-A177-3AD203B41FA5}">
                      <a16:colId xmlns:a16="http://schemas.microsoft.com/office/drawing/2014/main" val="171814682"/>
                    </a:ext>
                  </a:extLst>
                </a:gridCol>
                <a:gridCol w="409309">
                  <a:extLst>
                    <a:ext uri="{9D8B030D-6E8A-4147-A177-3AD203B41FA5}">
                      <a16:colId xmlns:a16="http://schemas.microsoft.com/office/drawing/2014/main" val="1260608330"/>
                    </a:ext>
                  </a:extLst>
                </a:gridCol>
                <a:gridCol w="545745">
                  <a:extLst>
                    <a:ext uri="{9D8B030D-6E8A-4147-A177-3AD203B41FA5}">
                      <a16:colId xmlns:a16="http://schemas.microsoft.com/office/drawing/2014/main" val="272419316"/>
                    </a:ext>
                  </a:extLst>
                </a:gridCol>
                <a:gridCol w="469594">
                  <a:extLst>
                    <a:ext uri="{9D8B030D-6E8A-4147-A177-3AD203B41FA5}">
                      <a16:colId xmlns:a16="http://schemas.microsoft.com/office/drawing/2014/main" val="3440117700"/>
                    </a:ext>
                  </a:extLst>
                </a:gridCol>
              </a:tblGrid>
              <a:tr h="304800">
                <a:tc>
                  <a:txBody>
                    <a:bodyPr/>
                    <a:lstStyle/>
                    <a:p>
                      <a:pPr algn="ctr" fontAlgn="ctr"/>
                      <a:r>
                        <a:rPr lang="en-US" sz="900" b="1" i="0" u="none" strike="noStrike" noProof="0" dirty="0">
                          <a:solidFill>
                            <a:srgbClr val="000000"/>
                          </a:solidFill>
                          <a:effectLst/>
                          <a:latin typeface="Calibri" panose="020F0502020204030204" pitchFamily="34" charset="0"/>
                        </a:rPr>
                        <a:t>Job 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Periodicity /Day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PST Time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PST 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CET Time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CET 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163670615"/>
                  </a:ext>
                </a:extLst>
              </a:tr>
              <a:tr h="152400">
                <a:tc>
                  <a:txBody>
                    <a:bodyPr/>
                    <a:lstStyle/>
                    <a:p>
                      <a:pPr algn="l" fontAlgn="b"/>
                      <a:r>
                        <a:rPr lang="en-US" sz="900" b="0" i="0" u="none" strike="noStrike" noProof="0" dirty="0">
                          <a:solidFill>
                            <a:srgbClr val="000000"/>
                          </a:solidFill>
                          <a:effectLst/>
                          <a:latin typeface="Calibri" panose="020F0502020204030204" pitchFamily="34" charset="0"/>
                        </a:rPr>
                        <a:t>100_GL_D_SD_ARUN_REFRESH_LOGS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noProof="0" dirty="0">
                          <a:solidFill>
                            <a:srgbClr val="000000"/>
                          </a:solidFill>
                          <a:effectLst/>
                          <a:latin typeface="Calibri" panose="020F0502020204030204" pitchFamily="34" charset="0"/>
                        </a:rPr>
                        <a:t>20:30:00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noProof="0" dirty="0">
                          <a:solidFill>
                            <a:srgbClr val="000000"/>
                          </a:solidFill>
                          <a:effectLst/>
                          <a:latin typeface="Calibri" panose="020F0502020204030204" pitchFamily="34" charset="0"/>
                        </a:rPr>
                        <a:t>05:30:00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noProof="0"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4859242"/>
                  </a:ext>
                </a:extLst>
              </a:tr>
            </a:tbl>
          </a:graphicData>
        </a:graphic>
      </p:graphicFrame>
      <p:graphicFrame>
        <p:nvGraphicFramePr>
          <p:cNvPr id="6" name="Tableau 5">
            <a:extLst>
              <a:ext uri="{FF2B5EF4-FFF2-40B4-BE49-F238E27FC236}">
                <a16:creationId xmlns:a16="http://schemas.microsoft.com/office/drawing/2014/main" id="{876DABB1-079E-8106-4E6B-800AC4A98CC3}"/>
              </a:ext>
            </a:extLst>
          </p:cNvPr>
          <p:cNvGraphicFramePr>
            <a:graphicFrameLocks noGrp="1"/>
          </p:cNvGraphicFramePr>
          <p:nvPr>
            <p:extLst>
              <p:ext uri="{D42A27DB-BD31-4B8C-83A1-F6EECF244321}">
                <p14:modId xmlns:p14="http://schemas.microsoft.com/office/powerpoint/2010/main" val="2874492537"/>
              </p:ext>
            </p:extLst>
          </p:nvPr>
        </p:nvGraphicFramePr>
        <p:xfrm>
          <a:off x="3460750" y="3339935"/>
          <a:ext cx="5270500" cy="2133600"/>
        </p:xfrm>
        <a:graphic>
          <a:graphicData uri="http://schemas.openxmlformats.org/drawingml/2006/table">
            <a:tbl>
              <a:tblPr/>
              <a:tblGrid>
                <a:gridCol w="469617">
                  <a:extLst>
                    <a:ext uri="{9D8B030D-6E8A-4147-A177-3AD203B41FA5}">
                      <a16:colId xmlns:a16="http://schemas.microsoft.com/office/drawing/2014/main" val="2858508565"/>
                    </a:ext>
                  </a:extLst>
                </a:gridCol>
                <a:gridCol w="1573852">
                  <a:extLst>
                    <a:ext uri="{9D8B030D-6E8A-4147-A177-3AD203B41FA5}">
                      <a16:colId xmlns:a16="http://schemas.microsoft.com/office/drawing/2014/main" val="4112165636"/>
                    </a:ext>
                  </a:extLst>
                </a:gridCol>
                <a:gridCol w="790099">
                  <a:extLst>
                    <a:ext uri="{9D8B030D-6E8A-4147-A177-3AD203B41FA5}">
                      <a16:colId xmlns:a16="http://schemas.microsoft.com/office/drawing/2014/main" val="2279260911"/>
                    </a:ext>
                  </a:extLst>
                </a:gridCol>
                <a:gridCol w="660002">
                  <a:extLst>
                    <a:ext uri="{9D8B030D-6E8A-4147-A177-3AD203B41FA5}">
                      <a16:colId xmlns:a16="http://schemas.microsoft.com/office/drawing/2014/main" val="1709183163"/>
                    </a:ext>
                  </a:extLst>
                </a:gridCol>
                <a:gridCol w="1776930">
                  <a:extLst>
                    <a:ext uri="{9D8B030D-6E8A-4147-A177-3AD203B41FA5}">
                      <a16:colId xmlns:a16="http://schemas.microsoft.com/office/drawing/2014/main" val="2703157948"/>
                    </a:ext>
                  </a:extLst>
                </a:gridCol>
              </a:tblGrid>
              <a:tr h="304800">
                <a:tc>
                  <a:txBody>
                    <a:bodyPr/>
                    <a:lstStyle/>
                    <a:p>
                      <a:pPr algn="ctr" fontAlgn="ctr"/>
                      <a:r>
                        <a:rPr lang="en-US" sz="900" b="1" i="0" u="none" strike="noStrike" noProof="0" dirty="0">
                          <a:solidFill>
                            <a:srgbClr val="000000"/>
                          </a:solidFill>
                          <a:effectLst/>
                          <a:latin typeface="Calibri" panose="020F0502020204030204" pitchFamily="34" charset="0"/>
                        </a:rPr>
                        <a:t>New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1" i="0" u="none" strike="noStrike" noProof="0" dirty="0">
                          <a:solidFill>
                            <a:srgbClr val="000000"/>
                          </a:solidFill>
                          <a:effectLst/>
                          <a:latin typeface="Calibri" panose="020F0502020204030204" pitchFamily="34" charset="0"/>
                        </a:rPr>
                        <a:t>Program name/command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Parameters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User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New Date Attribute update proposal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2039945223"/>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ZZYDTT65</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IT_HELPDESK</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8737024"/>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b"/>
                      <a:r>
                        <a:rPr lang="en-US" sz="900" b="0" i="0" u="none" strike="noStrike" noProof="0" dirty="0">
                          <a:solidFill>
                            <a:srgbClr val="000000"/>
                          </a:solidFill>
                          <a:effectLst/>
                          <a:latin typeface="Calibri" panose="020F0502020204030204" pitchFamily="34" charset="0"/>
                        </a:rPr>
                        <a:t>/AFS/ARUN_LOGFILE_REORG</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noProof="0" dirty="0">
                          <a:solidFill>
                            <a:srgbClr val="000000"/>
                          </a:solidFill>
                          <a:effectLst/>
                          <a:latin typeface="Arial" panose="020B0604020202020204" pitchFamily="34" charset="0"/>
                        </a:rPr>
                        <a:t>DAILY_PROT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-21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1530081319"/>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b"/>
                      <a:r>
                        <a:rPr lang="en-US" sz="900" b="0" i="0" u="none" strike="noStrike" noProof="0" dirty="0">
                          <a:solidFill>
                            <a:srgbClr val="000000"/>
                          </a:solidFill>
                          <a:effectLst/>
                          <a:latin typeface="Calibri" panose="020F0502020204030204" pitchFamily="34" charset="0"/>
                        </a:rPr>
                        <a:t>/AFS/ARUN_LOGFILE_REORG</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noProof="0" dirty="0">
                          <a:solidFill>
                            <a:srgbClr val="000000"/>
                          </a:solidFill>
                          <a:effectLst/>
                          <a:latin typeface="Arial" panose="020B0604020202020204" pitchFamily="34" charset="0"/>
                        </a:rPr>
                        <a:t>DAILY_PROI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-14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0119584"/>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b"/>
                      <a:r>
                        <a:rPr lang="en-US" sz="900" b="0" i="0" u="none" strike="noStrike" noProof="0" dirty="0">
                          <a:solidFill>
                            <a:srgbClr val="000000"/>
                          </a:solidFill>
                          <a:effectLst/>
                          <a:latin typeface="Calibri" panose="020F0502020204030204" pitchFamily="34" charset="0"/>
                        </a:rPr>
                        <a:t>/AFS/ARUN_LOGFILE_REORG</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noProof="0" dirty="0">
                          <a:solidFill>
                            <a:srgbClr val="000000"/>
                          </a:solidFill>
                          <a:effectLst/>
                          <a:latin typeface="Arial" panose="020B0604020202020204" pitchFamily="34" charset="0"/>
                        </a:rPr>
                        <a:t>DAILY_STAT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-21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999529225"/>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b"/>
                      <a:r>
                        <a:rPr lang="en-US" sz="900" b="0" i="0" u="none" strike="noStrike" noProof="0" dirty="0">
                          <a:solidFill>
                            <a:srgbClr val="000000"/>
                          </a:solidFill>
                          <a:effectLst/>
                          <a:latin typeface="Calibri" panose="020F0502020204030204" pitchFamily="34" charset="0"/>
                        </a:rPr>
                        <a:t>/AFS/ARUN_LOGFILE_REORG</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noProof="0" dirty="0">
                          <a:solidFill>
                            <a:srgbClr val="000000"/>
                          </a:solidFill>
                          <a:effectLst/>
                          <a:latin typeface="Arial" panose="020B0604020202020204" pitchFamily="34" charset="0"/>
                        </a:rPr>
                        <a:t>DAILY_SORT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-21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678485176"/>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b"/>
                      <a:r>
                        <a:rPr lang="en-US" sz="900" b="0" i="0" u="none" strike="noStrike" noProof="0" dirty="0">
                          <a:solidFill>
                            <a:srgbClr val="000000"/>
                          </a:solidFill>
                          <a:effectLst/>
                          <a:latin typeface="Calibri" panose="020F0502020204030204" pitchFamily="34" charset="0"/>
                        </a:rPr>
                        <a:t>/AFS/ARUN_LOGFILE_REORG</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noProof="0" dirty="0">
                          <a:solidFill>
                            <a:srgbClr val="000000"/>
                          </a:solidFill>
                          <a:effectLst/>
                          <a:latin typeface="Arial" panose="020B0604020202020204" pitchFamily="34" charset="0"/>
                        </a:rPr>
                        <a:t>DAILY_RFC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-14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4247724972"/>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J_4ALOGR</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J_3ABDBS</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-30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3410588"/>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J_4ALOGR</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J_3ABDBS_M</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-30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0134664"/>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J_4ALOGR</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J_3ABDSI</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-30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0475933"/>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J_4ALOGR</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J_3ABSSI</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-30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8992495"/>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J_4ALOGR</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MCHB</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&lt;= Current date -30   days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7758092"/>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ZZYDTT65</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REL_JOB</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BATCHUSER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5722779"/>
                  </a:ext>
                </a:extLst>
              </a:tr>
            </a:tbl>
          </a:graphicData>
        </a:graphic>
      </p:graphicFrame>
    </p:spTree>
    <p:extLst>
      <p:ext uri="{BB962C8B-B14F-4D97-AF65-F5344CB8AC3E}">
        <p14:creationId xmlns:p14="http://schemas.microsoft.com/office/powerpoint/2010/main" val="444193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82C11-D1BC-0F2B-448B-718D5C9E18AE}"/>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461D6C01-D0F6-709E-D5F7-61C97C44CFC3}"/>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CF2D578D-9C4D-5153-6147-930E4BB14F33}"/>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noProof="0" dirty="0"/>
              <a:t>Final EMEA 221/222 </a:t>
            </a:r>
            <a:r>
              <a:rPr lang="en-US" u="sng" noProof="0" dirty="0" err="1"/>
              <a:t>ARun</a:t>
            </a:r>
            <a:r>
              <a:rPr lang="en-US" u="sng" noProof="0" dirty="0"/>
              <a:t> Jobs list :</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noProof="0" dirty="0"/>
              <a:t>Each Job has 1 or more allocation runs, and other steps like ATP checks, rejections, Delivery blocks updates, Delivery creation, GI… according to the process flows.</a:t>
            </a:r>
          </a:p>
          <a:p>
            <a:endParaRPr lang="en-US" noProof="0" dirty="0"/>
          </a:p>
          <a:p>
            <a:r>
              <a:rPr lang="en-US" noProof="0" dirty="0"/>
              <a:t>All of them are executed within a specific sequence.</a:t>
            </a:r>
          </a:p>
        </p:txBody>
      </p:sp>
      <p:graphicFrame>
        <p:nvGraphicFramePr>
          <p:cNvPr id="11" name="Espace réservé du contenu 10">
            <a:extLst>
              <a:ext uri="{FF2B5EF4-FFF2-40B4-BE49-F238E27FC236}">
                <a16:creationId xmlns:a16="http://schemas.microsoft.com/office/drawing/2014/main" id="{58EA1810-8068-CE89-6EA9-3E0045B4B797}"/>
              </a:ext>
            </a:extLst>
          </p:cNvPr>
          <p:cNvGraphicFramePr>
            <a:graphicFrameLocks noGrp="1"/>
          </p:cNvGraphicFramePr>
          <p:nvPr>
            <p:ph sz="quarter" idx="11"/>
            <p:extLst>
              <p:ext uri="{D42A27DB-BD31-4B8C-83A1-F6EECF244321}">
                <p14:modId xmlns:p14="http://schemas.microsoft.com/office/powerpoint/2010/main" val="2507994432"/>
              </p:ext>
            </p:extLst>
          </p:nvPr>
        </p:nvGraphicFramePr>
        <p:xfrm>
          <a:off x="3530600" y="1624240"/>
          <a:ext cx="5130800" cy="1219200"/>
        </p:xfrm>
        <a:graphic>
          <a:graphicData uri="http://schemas.openxmlformats.org/drawingml/2006/table">
            <a:tbl>
              <a:tblPr/>
              <a:tblGrid>
                <a:gridCol w="431533">
                  <a:extLst>
                    <a:ext uri="{9D8B030D-6E8A-4147-A177-3AD203B41FA5}">
                      <a16:colId xmlns:a16="http://schemas.microsoft.com/office/drawing/2014/main" val="3109813931"/>
                    </a:ext>
                  </a:extLst>
                </a:gridCol>
                <a:gridCol w="2068820">
                  <a:extLst>
                    <a:ext uri="{9D8B030D-6E8A-4147-A177-3AD203B41FA5}">
                      <a16:colId xmlns:a16="http://schemas.microsoft.com/office/drawing/2014/main" val="3891646851"/>
                    </a:ext>
                  </a:extLst>
                </a:gridCol>
                <a:gridCol w="659992">
                  <a:extLst>
                    <a:ext uri="{9D8B030D-6E8A-4147-A177-3AD203B41FA5}">
                      <a16:colId xmlns:a16="http://schemas.microsoft.com/office/drawing/2014/main" val="2864865272"/>
                    </a:ext>
                  </a:extLst>
                </a:gridCol>
                <a:gridCol w="545762">
                  <a:extLst>
                    <a:ext uri="{9D8B030D-6E8A-4147-A177-3AD203B41FA5}">
                      <a16:colId xmlns:a16="http://schemas.microsoft.com/office/drawing/2014/main" val="519349806"/>
                    </a:ext>
                  </a:extLst>
                </a:gridCol>
                <a:gridCol w="409322">
                  <a:extLst>
                    <a:ext uri="{9D8B030D-6E8A-4147-A177-3AD203B41FA5}">
                      <a16:colId xmlns:a16="http://schemas.microsoft.com/office/drawing/2014/main" val="1859034018"/>
                    </a:ext>
                  </a:extLst>
                </a:gridCol>
                <a:gridCol w="545762">
                  <a:extLst>
                    <a:ext uri="{9D8B030D-6E8A-4147-A177-3AD203B41FA5}">
                      <a16:colId xmlns:a16="http://schemas.microsoft.com/office/drawing/2014/main" val="3610645037"/>
                    </a:ext>
                  </a:extLst>
                </a:gridCol>
                <a:gridCol w="469609">
                  <a:extLst>
                    <a:ext uri="{9D8B030D-6E8A-4147-A177-3AD203B41FA5}">
                      <a16:colId xmlns:a16="http://schemas.microsoft.com/office/drawing/2014/main" val="2787216323"/>
                    </a:ext>
                  </a:extLst>
                </a:gridCol>
              </a:tblGrid>
              <a:tr h="304800">
                <a:tc>
                  <a:txBody>
                    <a:bodyPr/>
                    <a:lstStyle/>
                    <a:p>
                      <a:pPr algn="ctr" fontAlgn="ctr"/>
                      <a:r>
                        <a:rPr lang="en-US" sz="900" b="1" i="0" u="none" strike="noStrike" noProof="0" dirty="0">
                          <a:solidFill>
                            <a:srgbClr val="000000"/>
                          </a:solidFill>
                          <a:effectLst/>
                          <a:latin typeface="Calibri" panose="020F0502020204030204" pitchFamily="34" charset="0"/>
                        </a:rPr>
                        <a:t>Seq.</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Job 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Periodicity /Day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PST Time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PST 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CET Time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sz="900" b="1" i="0" u="none" strike="noStrike" noProof="0" dirty="0">
                          <a:solidFill>
                            <a:srgbClr val="000000"/>
                          </a:solidFill>
                          <a:effectLst/>
                          <a:latin typeface="Calibri" panose="020F0502020204030204" pitchFamily="34" charset="0"/>
                        </a:rPr>
                        <a:t>CET 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797225240"/>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100_EU_X_SD_ALLOC_EDI_AMZ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04:00:00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13:00:00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47094"/>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100_EU_D_SD_ZKE_PRE_INVOICING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0968611"/>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100_EU_X_SD_ALLOC_EDI_AMZ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11:00:00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7868775"/>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100_EU_D_SD_ALLOC_SAMPLES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12:15:00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21:15:00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9048888"/>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100_EU_D_SD_ALLOC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15:45:00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00:45:00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9310240"/>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100_EU_X_SD_ALLOC_EDI_AMZ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23:00:00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08:00:00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1772539"/>
                  </a:ext>
                </a:extLst>
              </a:tr>
            </a:tbl>
          </a:graphicData>
        </a:graphic>
      </p:graphicFrame>
    </p:spTree>
    <p:extLst>
      <p:ext uri="{BB962C8B-B14F-4D97-AF65-F5344CB8AC3E}">
        <p14:creationId xmlns:p14="http://schemas.microsoft.com/office/powerpoint/2010/main" val="2695230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a:pPr>
            <a:r>
              <a:rPr lang="en-US" b="1" noProof="0" dirty="0"/>
              <a:t>EMEA Consignment Issue </a:t>
            </a:r>
            <a:r>
              <a:rPr lang="en-US" b="1" noProof="0" dirty="0" err="1"/>
              <a:t>ARun</a:t>
            </a:r>
            <a:r>
              <a:rPr lang="en-US" b="1" noProof="0" dirty="0"/>
              <a:t> Job:</a:t>
            </a:r>
          </a:p>
          <a:p>
            <a:endParaRPr lang="en-US" noProof="0" dirty="0"/>
          </a:p>
          <a:p>
            <a:r>
              <a:rPr lang="en-US" noProof="0" dirty="0"/>
              <a:t>Consignment Issue orders (ZKE) do not need manual, or period Allocation Run since they are automatically allocated at creation/saving.</a:t>
            </a:r>
          </a:p>
          <a:p>
            <a:endParaRPr lang="en-US" noProof="0" dirty="0"/>
          </a:p>
          <a:p>
            <a:r>
              <a:rPr lang="en-US" noProof="0" dirty="0"/>
              <a:t>This job is only for Consignment Issue orders which could not be « completely » allocated when they were created (release rule at Header = 100%), and allocation needs to be run back again after stock correction, in order to invoice them and post GI.</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p:txBody>
      </p:sp>
      <p:graphicFrame>
        <p:nvGraphicFramePr>
          <p:cNvPr id="4" name="Tableau 3">
            <a:extLst>
              <a:ext uri="{FF2B5EF4-FFF2-40B4-BE49-F238E27FC236}">
                <a16:creationId xmlns:a16="http://schemas.microsoft.com/office/drawing/2014/main" id="{D277FEC1-A509-16FF-06CC-EC96A324EBBC}"/>
              </a:ext>
            </a:extLst>
          </p:cNvPr>
          <p:cNvGraphicFramePr>
            <a:graphicFrameLocks noGrp="1"/>
          </p:cNvGraphicFramePr>
          <p:nvPr>
            <p:extLst>
              <p:ext uri="{D42A27DB-BD31-4B8C-83A1-F6EECF244321}">
                <p14:modId xmlns:p14="http://schemas.microsoft.com/office/powerpoint/2010/main" val="1777413161"/>
              </p:ext>
            </p:extLst>
          </p:nvPr>
        </p:nvGraphicFramePr>
        <p:xfrm>
          <a:off x="838200" y="3731472"/>
          <a:ext cx="10515600" cy="746670"/>
        </p:xfrm>
        <a:graphic>
          <a:graphicData uri="http://schemas.openxmlformats.org/drawingml/2006/table">
            <a:tbl>
              <a:tblPr/>
              <a:tblGrid>
                <a:gridCol w="587481">
                  <a:extLst>
                    <a:ext uri="{9D8B030D-6E8A-4147-A177-3AD203B41FA5}">
                      <a16:colId xmlns:a16="http://schemas.microsoft.com/office/drawing/2014/main" val="2352775890"/>
                    </a:ext>
                  </a:extLst>
                </a:gridCol>
                <a:gridCol w="1892994">
                  <a:extLst>
                    <a:ext uri="{9D8B030D-6E8A-4147-A177-3AD203B41FA5}">
                      <a16:colId xmlns:a16="http://schemas.microsoft.com/office/drawing/2014/main" val="2492091015"/>
                    </a:ext>
                  </a:extLst>
                </a:gridCol>
                <a:gridCol w="708707">
                  <a:extLst>
                    <a:ext uri="{9D8B030D-6E8A-4147-A177-3AD203B41FA5}">
                      <a16:colId xmlns:a16="http://schemas.microsoft.com/office/drawing/2014/main" val="2250056546"/>
                    </a:ext>
                  </a:extLst>
                </a:gridCol>
                <a:gridCol w="1367681">
                  <a:extLst>
                    <a:ext uri="{9D8B030D-6E8A-4147-A177-3AD203B41FA5}">
                      <a16:colId xmlns:a16="http://schemas.microsoft.com/office/drawing/2014/main" val="1381871404"/>
                    </a:ext>
                  </a:extLst>
                </a:gridCol>
                <a:gridCol w="1815286">
                  <a:extLst>
                    <a:ext uri="{9D8B030D-6E8A-4147-A177-3AD203B41FA5}">
                      <a16:colId xmlns:a16="http://schemas.microsoft.com/office/drawing/2014/main" val="3688442591"/>
                    </a:ext>
                  </a:extLst>
                </a:gridCol>
                <a:gridCol w="1146987">
                  <a:extLst>
                    <a:ext uri="{9D8B030D-6E8A-4147-A177-3AD203B41FA5}">
                      <a16:colId xmlns:a16="http://schemas.microsoft.com/office/drawing/2014/main" val="2000454049"/>
                    </a:ext>
                  </a:extLst>
                </a:gridCol>
                <a:gridCol w="1056844">
                  <a:extLst>
                    <a:ext uri="{9D8B030D-6E8A-4147-A177-3AD203B41FA5}">
                      <a16:colId xmlns:a16="http://schemas.microsoft.com/office/drawing/2014/main" val="1043163723"/>
                    </a:ext>
                  </a:extLst>
                </a:gridCol>
                <a:gridCol w="1939620">
                  <a:extLst>
                    <a:ext uri="{9D8B030D-6E8A-4147-A177-3AD203B41FA5}">
                      <a16:colId xmlns:a16="http://schemas.microsoft.com/office/drawing/2014/main" val="3902718366"/>
                    </a:ext>
                  </a:extLst>
                </a:gridCol>
              </a:tblGrid>
              <a:tr h="149334">
                <a:tc>
                  <a:txBody>
                    <a:bodyPr/>
                    <a:lstStyle/>
                    <a:p>
                      <a:pPr algn="l" fontAlgn="ctr"/>
                      <a:r>
                        <a:rPr lang="en-US" sz="900" b="0" i="0" u="none" strike="noStrike" noProof="0" dirty="0">
                          <a:solidFill>
                            <a:srgbClr val="000000"/>
                          </a:solidFill>
                          <a:effectLst/>
                          <a:latin typeface="Calibri" panose="020F0502020204030204" pitchFamily="34" charset="0"/>
                        </a:rPr>
                        <a:t>Jobs Seq</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Job name</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New Step 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Step description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Program name/command</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Parameters</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Allocation Set</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err="1">
                          <a:solidFill>
                            <a:srgbClr val="000000"/>
                          </a:solidFill>
                          <a:effectLst/>
                          <a:latin typeface="Calibri" panose="020F0502020204030204" pitchFamily="34" charset="0"/>
                        </a:rPr>
                        <a:t>Alloc</a:t>
                      </a:r>
                      <a:r>
                        <a:rPr lang="en-US" sz="900" b="0" i="0" u="none" strike="noStrike" noProof="0" dirty="0">
                          <a:solidFill>
                            <a:srgbClr val="000000"/>
                          </a:solidFill>
                          <a:effectLst/>
                          <a:latin typeface="Calibri" panose="020F0502020204030204" pitchFamily="34" charset="0"/>
                        </a:rPr>
                        <a:t>. Set Job Description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2550902184"/>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100_EU_D_SD_ZKE_PRE_INVOICING</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ATP Check</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 ZKE ATP</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436711508"/>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100_EU_D_SD_ZKE_PRE_INVOICING</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EU_ZKE</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100000540</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EU_ZKE</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1811501"/>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100_EU_D_SD_ZKE_PRE_INVOICING</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Invoicing</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RVV50R10C</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 ZKE</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708417349"/>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100_EU_D_SD_ZKE_PRE_INVOICING</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4</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GI</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WS_MONITOR_OUTB_DEL_GDSI</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EU_PGI_ZKE</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3613388"/>
                  </a:ext>
                </a:extLst>
              </a:tr>
            </a:tbl>
          </a:graphicData>
        </a:graphic>
      </p:graphicFrame>
    </p:spTree>
    <p:extLst>
      <p:ext uri="{BB962C8B-B14F-4D97-AF65-F5344CB8AC3E}">
        <p14:creationId xmlns:p14="http://schemas.microsoft.com/office/powerpoint/2010/main" val="1628117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2"/>
            </a:pPr>
            <a:r>
              <a:rPr lang="en-US" b="1" noProof="0" dirty="0"/>
              <a:t>EMEA AMAZON </a:t>
            </a:r>
            <a:r>
              <a:rPr lang="en-US" b="1" noProof="0" dirty="0" err="1"/>
              <a:t>ARun</a:t>
            </a:r>
            <a:r>
              <a:rPr lang="en-US" b="1" noProof="0" dirty="0"/>
              <a:t> Job:</a:t>
            </a:r>
          </a:p>
          <a:p>
            <a:endParaRPr lang="en-US" noProof="0" dirty="0"/>
          </a:p>
          <a:p>
            <a:r>
              <a:rPr lang="en-US" noProof="0" dirty="0"/>
              <a:t>This job is only for a limited selection of AMAZON accounts, and for immediate replenishment orders.</a:t>
            </a:r>
          </a:p>
          <a:p>
            <a:r>
              <a:rPr lang="en-US" noProof="0" dirty="0"/>
              <a:t>AMAZON replenishment orders are supposed to be created under requirement category « 1    OPT », the AMAZON bulk orders need to be allocated, and stock transferred to « 1   OPT » before replenishment orders are allocated.</a:t>
            </a:r>
          </a:p>
          <a:p>
            <a:r>
              <a:rPr lang="en-US" noProof="0" dirty="0"/>
              <a:t>This job also cleans obsolete backorders and short picks; updates delivery blocks and creates deliveries.</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p:txBody>
      </p:sp>
      <p:graphicFrame>
        <p:nvGraphicFramePr>
          <p:cNvPr id="4" name="Tableau 3">
            <a:extLst>
              <a:ext uri="{FF2B5EF4-FFF2-40B4-BE49-F238E27FC236}">
                <a16:creationId xmlns:a16="http://schemas.microsoft.com/office/drawing/2014/main" id="{F93F6AB7-C261-453F-A9F9-059AF61F365A}"/>
              </a:ext>
            </a:extLst>
          </p:cNvPr>
          <p:cNvGraphicFramePr>
            <a:graphicFrameLocks noGrp="1"/>
          </p:cNvGraphicFramePr>
          <p:nvPr>
            <p:extLst>
              <p:ext uri="{D42A27DB-BD31-4B8C-83A1-F6EECF244321}">
                <p14:modId xmlns:p14="http://schemas.microsoft.com/office/powerpoint/2010/main" val="3519685659"/>
              </p:ext>
            </p:extLst>
          </p:nvPr>
        </p:nvGraphicFramePr>
        <p:xfrm>
          <a:off x="838200" y="3071638"/>
          <a:ext cx="10515600" cy="2538678"/>
        </p:xfrm>
        <a:graphic>
          <a:graphicData uri="http://schemas.openxmlformats.org/drawingml/2006/table">
            <a:tbl>
              <a:tblPr/>
              <a:tblGrid>
                <a:gridCol w="587481">
                  <a:extLst>
                    <a:ext uri="{9D8B030D-6E8A-4147-A177-3AD203B41FA5}">
                      <a16:colId xmlns:a16="http://schemas.microsoft.com/office/drawing/2014/main" val="3336860146"/>
                    </a:ext>
                  </a:extLst>
                </a:gridCol>
                <a:gridCol w="1892994">
                  <a:extLst>
                    <a:ext uri="{9D8B030D-6E8A-4147-A177-3AD203B41FA5}">
                      <a16:colId xmlns:a16="http://schemas.microsoft.com/office/drawing/2014/main" val="72304868"/>
                    </a:ext>
                  </a:extLst>
                </a:gridCol>
                <a:gridCol w="708707">
                  <a:extLst>
                    <a:ext uri="{9D8B030D-6E8A-4147-A177-3AD203B41FA5}">
                      <a16:colId xmlns:a16="http://schemas.microsoft.com/office/drawing/2014/main" val="3333607700"/>
                    </a:ext>
                  </a:extLst>
                </a:gridCol>
                <a:gridCol w="1367681">
                  <a:extLst>
                    <a:ext uri="{9D8B030D-6E8A-4147-A177-3AD203B41FA5}">
                      <a16:colId xmlns:a16="http://schemas.microsoft.com/office/drawing/2014/main" val="3962995760"/>
                    </a:ext>
                  </a:extLst>
                </a:gridCol>
                <a:gridCol w="1815286">
                  <a:extLst>
                    <a:ext uri="{9D8B030D-6E8A-4147-A177-3AD203B41FA5}">
                      <a16:colId xmlns:a16="http://schemas.microsoft.com/office/drawing/2014/main" val="697989880"/>
                    </a:ext>
                  </a:extLst>
                </a:gridCol>
                <a:gridCol w="1146987">
                  <a:extLst>
                    <a:ext uri="{9D8B030D-6E8A-4147-A177-3AD203B41FA5}">
                      <a16:colId xmlns:a16="http://schemas.microsoft.com/office/drawing/2014/main" val="1326311186"/>
                    </a:ext>
                  </a:extLst>
                </a:gridCol>
                <a:gridCol w="1056844">
                  <a:extLst>
                    <a:ext uri="{9D8B030D-6E8A-4147-A177-3AD203B41FA5}">
                      <a16:colId xmlns:a16="http://schemas.microsoft.com/office/drawing/2014/main" val="2731293917"/>
                    </a:ext>
                  </a:extLst>
                </a:gridCol>
                <a:gridCol w="1939620">
                  <a:extLst>
                    <a:ext uri="{9D8B030D-6E8A-4147-A177-3AD203B41FA5}">
                      <a16:colId xmlns:a16="http://schemas.microsoft.com/office/drawing/2014/main" val="3142766167"/>
                    </a:ext>
                  </a:extLst>
                </a:gridCol>
              </a:tblGrid>
              <a:tr h="149334">
                <a:tc>
                  <a:txBody>
                    <a:bodyPr/>
                    <a:lstStyle/>
                    <a:p>
                      <a:pPr algn="l" fontAlgn="ctr"/>
                      <a:r>
                        <a:rPr lang="en-US" sz="900" b="0" i="0" u="none" strike="noStrike" noProof="0" dirty="0">
                          <a:solidFill>
                            <a:srgbClr val="000000"/>
                          </a:solidFill>
                          <a:effectLst/>
                          <a:latin typeface="Calibri" panose="020F0502020204030204" pitchFamily="34" charset="0"/>
                        </a:rPr>
                        <a:t>Jobs Seq</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Job name</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New Step 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Step description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Program name/command</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Parameters</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Allocation Set</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err="1">
                          <a:solidFill>
                            <a:srgbClr val="000000"/>
                          </a:solidFill>
                          <a:effectLst/>
                          <a:latin typeface="Calibri" panose="020F0502020204030204" pitchFamily="34" charset="0"/>
                        </a:rPr>
                        <a:t>Alloc</a:t>
                      </a:r>
                      <a:r>
                        <a:rPr lang="en-US" sz="900" b="0" i="0" u="none" strike="noStrike" noProof="0" dirty="0">
                          <a:solidFill>
                            <a:srgbClr val="000000"/>
                          </a:solidFill>
                          <a:effectLst/>
                          <a:latin typeface="Calibri" panose="020F0502020204030204" pitchFamily="34" charset="0"/>
                        </a:rPr>
                        <a:t>. Set Job Description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427072305"/>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BO Rejections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AMZ_OBSOLETE</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840009449"/>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BO Rejections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AMZ_OBSOLETE2</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359364904"/>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BO Rejections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AMZ_OBSOLETE3</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519971263"/>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4</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Short Picking Rejections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ZSO_AMZ_SHP</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147746751"/>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5</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ZDT_PROCESSING_WAIT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WAIT_10_MIN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592319750"/>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6</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ATP Check</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EU_AMZ_ATP</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62666038"/>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7</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ZDT_PROCESSING_WAIT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WAIT_10_MIN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194245632"/>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8</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err="1">
                          <a:solidFill>
                            <a:srgbClr val="000000"/>
                          </a:solidFill>
                          <a:effectLst/>
                          <a:latin typeface="Calibri" panose="020F0502020204030204" pitchFamily="34" charset="0"/>
                        </a:rPr>
                        <a:t>ARun</a:t>
                      </a:r>
                      <a:endParaRPr lang="en-US" sz="900" b="0" i="0" u="none" strike="noStrike" noProof="0" dirty="0">
                        <a:solidFill>
                          <a:srgbClr val="000000"/>
                        </a:solidFill>
                        <a:effectLst/>
                        <a:latin typeface="Calibri" panose="020F0502020204030204" pitchFamily="34" charset="0"/>
                      </a:endParaRP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t>
                      </a:r>
                      <a:r>
                        <a:rPr lang="en-US" sz="900" b="0" i="0" u="none" strike="noStrike" noProof="0" dirty="0" err="1">
                          <a:solidFill>
                            <a:srgbClr val="000000"/>
                          </a:solidFill>
                          <a:effectLst/>
                          <a:latin typeface="Calibri" panose="020F0502020204030204" pitchFamily="34" charset="0"/>
                        </a:rPr>
                        <a:t>ARun_PARALLEL</a:t>
                      </a:r>
                      <a:endParaRPr lang="en-US" sz="900" b="0" i="0" u="none" strike="noStrike" noProof="0" dirty="0">
                        <a:solidFill>
                          <a:srgbClr val="000000"/>
                        </a:solidFill>
                        <a:effectLst/>
                        <a:latin typeface="Calibri" panose="020F0502020204030204" pitchFamily="34" charset="0"/>
                      </a:endParaRP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EU_AMAZON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EU_AMAZON_REPL RUSH ORDERS</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3203757"/>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9</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ZDT_PROCESSING_WAIT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WAIT_10_MIN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37179488"/>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Delivery creation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ZSD_SO_DUE_FOR_DELIVERY_R01</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EU_AMZ_EDI</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870219147"/>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ZDT_PROCESSING_WAIT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WAIT_10_MIN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88714793"/>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BO Rejections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ZSO_017_AMZ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428340155"/>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BO Rejections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AMZ_OUTOFSTOCK</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3786131"/>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14</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Del Block change</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/AFS/RVMDCD</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AMZ_DB 37=&gt;60</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81589832"/>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15</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ZDT_PROCESSING_WAIT</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WAIT_10_MIN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84435619"/>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100_EU_X_SD_ALLOC_EDI_AMZ</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16</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err="1">
                          <a:solidFill>
                            <a:srgbClr val="000000"/>
                          </a:solidFill>
                          <a:effectLst/>
                          <a:latin typeface="Calibri" panose="020F0502020204030204" pitchFamily="34" charset="0"/>
                        </a:rPr>
                        <a:t>P&amp;H_Del</a:t>
                      </a:r>
                      <a:r>
                        <a:rPr lang="en-US" sz="900" b="0" i="0" u="none" strike="noStrike" noProof="0" dirty="0">
                          <a:solidFill>
                            <a:srgbClr val="000000"/>
                          </a:solidFill>
                          <a:effectLst/>
                          <a:latin typeface="Calibri" panose="020F0502020204030204" pitchFamily="34" charset="0"/>
                        </a:rPr>
                        <a:t> Block change</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ZSD_PACK_HOLD_DELV_NEW_E01</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AMZ_DB_37_60</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 </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900" b="0" i="0" u="none" strike="noStrike" noProof="0" dirty="0">
                          <a:solidFill>
                            <a:srgbClr val="000000"/>
                          </a:solidFill>
                          <a:effectLst/>
                          <a:latin typeface="Calibri" panose="020F0502020204030204" pitchFamily="34" charset="0"/>
                        </a:rPr>
                        <a:t> </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4198594"/>
                  </a:ext>
                </a:extLst>
              </a:tr>
            </a:tbl>
          </a:graphicData>
        </a:graphic>
      </p:graphicFrame>
    </p:spTree>
    <p:extLst>
      <p:ext uri="{BB962C8B-B14F-4D97-AF65-F5344CB8AC3E}">
        <p14:creationId xmlns:p14="http://schemas.microsoft.com/office/powerpoint/2010/main" val="3591433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3"/>
            </a:pPr>
            <a:r>
              <a:rPr lang="en-US" b="1" noProof="0" dirty="0"/>
              <a:t>EMEA SAMPLES </a:t>
            </a:r>
            <a:r>
              <a:rPr lang="en-US" b="1" noProof="0" dirty="0" err="1"/>
              <a:t>ARun</a:t>
            </a:r>
            <a:r>
              <a:rPr lang="en-US" b="1" noProof="0" dirty="0"/>
              <a:t> Job:</a:t>
            </a:r>
          </a:p>
          <a:p>
            <a:endParaRPr lang="en-US" noProof="0" dirty="0"/>
          </a:p>
          <a:p>
            <a:r>
              <a:rPr lang="en-US" noProof="0" dirty="0"/>
              <a:t>This job is only for Samples Orders.</a:t>
            </a:r>
          </a:p>
          <a:p>
            <a:r>
              <a:rPr lang="en-US" noProof="0" dirty="0"/>
              <a:t>It uses specific allocation rules such as specific allocation Horizon against Batch stock and Future Receipts stock.</a:t>
            </a:r>
          </a:p>
          <a:p>
            <a:r>
              <a:rPr lang="en-US" noProof="0" dirty="0"/>
              <a:t>There are multiple allocation sets : 3 for Early Samples sets, and 3 for Regular Samples sets.</a:t>
            </a:r>
          </a:p>
          <a:p>
            <a:r>
              <a:rPr lang="en-US" noProof="0" dirty="0"/>
              <a:t>Each group of samples sets has 3 accounts priority groups : Prio 1, Prio 2 and the remaining accounts.</a:t>
            </a:r>
          </a:p>
          <a:p>
            <a:endParaRPr lang="en-US" noProof="0" dirty="0"/>
          </a:p>
          <a:p>
            <a:r>
              <a:rPr lang="en-US" noProof="0" dirty="0"/>
              <a:t>Deliveries are created manually by Logistics.</a:t>
            </a:r>
          </a:p>
        </p:txBody>
      </p:sp>
      <p:graphicFrame>
        <p:nvGraphicFramePr>
          <p:cNvPr id="4" name="Tableau 3">
            <a:extLst>
              <a:ext uri="{FF2B5EF4-FFF2-40B4-BE49-F238E27FC236}">
                <a16:creationId xmlns:a16="http://schemas.microsoft.com/office/drawing/2014/main" id="{F5C76900-82A9-C31A-AA91-22BC3AABF608}"/>
              </a:ext>
            </a:extLst>
          </p:cNvPr>
          <p:cNvGraphicFramePr>
            <a:graphicFrameLocks noGrp="1"/>
          </p:cNvGraphicFramePr>
          <p:nvPr>
            <p:extLst>
              <p:ext uri="{D42A27DB-BD31-4B8C-83A1-F6EECF244321}">
                <p14:modId xmlns:p14="http://schemas.microsoft.com/office/powerpoint/2010/main" val="1429906621"/>
              </p:ext>
            </p:extLst>
          </p:nvPr>
        </p:nvGraphicFramePr>
        <p:xfrm>
          <a:off x="838200" y="4022089"/>
          <a:ext cx="10515600" cy="1045338"/>
        </p:xfrm>
        <a:graphic>
          <a:graphicData uri="http://schemas.openxmlformats.org/drawingml/2006/table">
            <a:tbl>
              <a:tblPr/>
              <a:tblGrid>
                <a:gridCol w="587481">
                  <a:extLst>
                    <a:ext uri="{9D8B030D-6E8A-4147-A177-3AD203B41FA5}">
                      <a16:colId xmlns:a16="http://schemas.microsoft.com/office/drawing/2014/main" val="1313199907"/>
                    </a:ext>
                  </a:extLst>
                </a:gridCol>
                <a:gridCol w="1892994">
                  <a:extLst>
                    <a:ext uri="{9D8B030D-6E8A-4147-A177-3AD203B41FA5}">
                      <a16:colId xmlns:a16="http://schemas.microsoft.com/office/drawing/2014/main" val="346925788"/>
                    </a:ext>
                  </a:extLst>
                </a:gridCol>
                <a:gridCol w="708707">
                  <a:extLst>
                    <a:ext uri="{9D8B030D-6E8A-4147-A177-3AD203B41FA5}">
                      <a16:colId xmlns:a16="http://schemas.microsoft.com/office/drawing/2014/main" val="514176994"/>
                    </a:ext>
                  </a:extLst>
                </a:gridCol>
                <a:gridCol w="1367681">
                  <a:extLst>
                    <a:ext uri="{9D8B030D-6E8A-4147-A177-3AD203B41FA5}">
                      <a16:colId xmlns:a16="http://schemas.microsoft.com/office/drawing/2014/main" val="180495710"/>
                    </a:ext>
                  </a:extLst>
                </a:gridCol>
                <a:gridCol w="1815286">
                  <a:extLst>
                    <a:ext uri="{9D8B030D-6E8A-4147-A177-3AD203B41FA5}">
                      <a16:colId xmlns:a16="http://schemas.microsoft.com/office/drawing/2014/main" val="2449694692"/>
                    </a:ext>
                  </a:extLst>
                </a:gridCol>
                <a:gridCol w="1146987">
                  <a:extLst>
                    <a:ext uri="{9D8B030D-6E8A-4147-A177-3AD203B41FA5}">
                      <a16:colId xmlns:a16="http://schemas.microsoft.com/office/drawing/2014/main" val="2189038676"/>
                    </a:ext>
                  </a:extLst>
                </a:gridCol>
                <a:gridCol w="1056844">
                  <a:extLst>
                    <a:ext uri="{9D8B030D-6E8A-4147-A177-3AD203B41FA5}">
                      <a16:colId xmlns:a16="http://schemas.microsoft.com/office/drawing/2014/main" val="3690434583"/>
                    </a:ext>
                  </a:extLst>
                </a:gridCol>
                <a:gridCol w="1939620">
                  <a:extLst>
                    <a:ext uri="{9D8B030D-6E8A-4147-A177-3AD203B41FA5}">
                      <a16:colId xmlns:a16="http://schemas.microsoft.com/office/drawing/2014/main" val="1254646370"/>
                    </a:ext>
                  </a:extLst>
                </a:gridCol>
              </a:tblGrid>
              <a:tr h="149334">
                <a:tc>
                  <a:txBody>
                    <a:bodyPr/>
                    <a:lstStyle/>
                    <a:p>
                      <a:pPr algn="l" fontAlgn="ctr"/>
                      <a:r>
                        <a:rPr lang="en-US" sz="900" b="0" i="0" u="none" strike="noStrike" noProof="0" dirty="0">
                          <a:solidFill>
                            <a:srgbClr val="000000"/>
                          </a:solidFill>
                          <a:effectLst/>
                          <a:latin typeface="Calibri" panose="020F0502020204030204" pitchFamily="34" charset="0"/>
                        </a:rPr>
                        <a:t>Jobs Seq</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Job name</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New Step 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Step description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Program name/command</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Parameters</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a:solidFill>
                            <a:srgbClr val="000000"/>
                          </a:solidFill>
                          <a:effectLst/>
                          <a:latin typeface="Calibri" panose="020F0502020204030204" pitchFamily="34" charset="0"/>
                        </a:rPr>
                        <a:t>Allocation Set</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noProof="0" dirty="0" err="1">
                          <a:solidFill>
                            <a:srgbClr val="000000"/>
                          </a:solidFill>
                          <a:effectLst/>
                          <a:latin typeface="Calibri" panose="020F0502020204030204" pitchFamily="34" charset="0"/>
                        </a:rPr>
                        <a:t>Alloc</a:t>
                      </a:r>
                      <a:r>
                        <a:rPr lang="en-US" sz="900" b="0" i="0" u="none" strike="noStrike" noProof="0" dirty="0">
                          <a:solidFill>
                            <a:srgbClr val="000000"/>
                          </a:solidFill>
                          <a:effectLst/>
                          <a:latin typeface="Calibri" panose="020F0502020204030204" pitchFamily="34" charset="0"/>
                        </a:rPr>
                        <a:t>. Set Job Description</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963114781"/>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100_EU_D_SD_ALLOC_SAMPLES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EU_ZSAM_1_224</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EU_SAMPLES_1_224</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561801"/>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100_EU_D_SD_ALLOC_SAMPLES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2</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EU_ZSAM_2_224</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100000544</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EU_SAMPLES_2_224</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410582"/>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100_EU_D_SD_ALLOC_SAMPLES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EU_ZSAM_3_224</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100000545</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EU_SAMPLES_3_224</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0033509"/>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100_EU_D_SD_ALLOC_SAMPLES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4</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EU_ZSAM_1_009</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100000546</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EU_SAMPLES_1_009</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7006612"/>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100_EU_D_SD_ALLOC_SAMPLES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5</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EU_ZSAM_2_009</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100000547</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EU_SAMPLES_2_009</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5219187"/>
                  </a:ext>
                </a:extLst>
              </a:tr>
              <a:tr h="149334">
                <a:tc>
                  <a:txBody>
                    <a:bodyPr/>
                    <a:lstStyle/>
                    <a:p>
                      <a:pPr algn="ctr" fontAlgn="ctr"/>
                      <a:r>
                        <a:rPr lang="en-US" sz="900" b="0" i="0" u="none" strike="noStrike" noProof="0" dirty="0">
                          <a:solidFill>
                            <a:srgbClr val="000000"/>
                          </a:solidFill>
                          <a:effectLst/>
                          <a:latin typeface="Calibri" panose="020F0502020204030204" pitchFamily="34" charset="0"/>
                        </a:rPr>
                        <a:t>3</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100_EU_D_SD_ALLOC_SAMPLES</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6</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ARUN</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/AFS/ARUN_PARALLEL</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EU_ZSAM_3_009</a:t>
                      </a:r>
                    </a:p>
                  </a:txBody>
                  <a:tcPr marL="84000"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noProof="0" dirty="0">
                          <a:solidFill>
                            <a:srgbClr val="000000"/>
                          </a:solidFill>
                          <a:effectLst/>
                          <a:latin typeface="Calibri" panose="020F0502020204030204" pitchFamily="34" charset="0"/>
                        </a:rPr>
                        <a:t>100000548</a:t>
                      </a:r>
                    </a:p>
                  </a:txBody>
                  <a:tcPr marL="9333"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noProof="0" dirty="0">
                          <a:solidFill>
                            <a:srgbClr val="000000"/>
                          </a:solidFill>
                          <a:effectLst/>
                          <a:latin typeface="Calibri" panose="020F0502020204030204" pitchFamily="34" charset="0"/>
                        </a:rPr>
                        <a:t>EU_SAMPLES_3_009</a:t>
                      </a:r>
                    </a:p>
                  </a:txBody>
                  <a:tcPr marL="168001" marR="9333" marT="93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7400205"/>
                  </a:ext>
                </a:extLst>
              </a:tr>
            </a:tbl>
          </a:graphicData>
        </a:graphic>
      </p:graphicFrame>
    </p:spTree>
    <p:extLst>
      <p:ext uri="{BB962C8B-B14F-4D97-AF65-F5344CB8AC3E}">
        <p14:creationId xmlns:p14="http://schemas.microsoft.com/office/powerpoint/2010/main" val="1899961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4"/>
            </a:pPr>
            <a:r>
              <a:rPr lang="en-US" b="1" noProof="0" dirty="0"/>
              <a:t>EMEA Regular </a:t>
            </a:r>
            <a:r>
              <a:rPr lang="en-US" b="1" noProof="0" dirty="0" err="1"/>
              <a:t>ARun</a:t>
            </a:r>
            <a:r>
              <a:rPr lang="en-US" b="1" noProof="0" dirty="0"/>
              <a:t> Job:</a:t>
            </a:r>
          </a:p>
          <a:p>
            <a:endParaRPr lang="en-US" noProof="0" dirty="0"/>
          </a:p>
          <a:p>
            <a:r>
              <a:rPr lang="en-US" noProof="0" dirty="0"/>
              <a:t>This job combines the allocation of the different Distribution Channels of the company according to allocation priorities between them:</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pPr algn="just"/>
            <a:r>
              <a:rPr lang="en-US" noProof="0" dirty="0"/>
              <a:t>It also includes Channels Bulks (stock </a:t>
            </a:r>
            <a:r>
              <a:rPr lang="en-US" noProof="0" dirty="0" err="1"/>
              <a:t>transferts</a:t>
            </a:r>
            <a:r>
              <a:rPr lang="en-US" noProof="0" dirty="0"/>
              <a:t> orders and contracts), deliveries, goods issue posting, backorders and short picks rejections, ATP checks and delivery blocks updates. All those steps are organized in a specific sequence.</a:t>
            </a:r>
          </a:p>
        </p:txBody>
      </p:sp>
      <p:graphicFrame>
        <p:nvGraphicFramePr>
          <p:cNvPr id="4" name="Tableau 3">
            <a:extLst>
              <a:ext uri="{FF2B5EF4-FFF2-40B4-BE49-F238E27FC236}">
                <a16:creationId xmlns:a16="http://schemas.microsoft.com/office/drawing/2014/main" id="{AA4A8355-1C05-4766-860C-F1571329A4BF}"/>
              </a:ext>
            </a:extLst>
          </p:cNvPr>
          <p:cNvGraphicFramePr>
            <a:graphicFrameLocks noGrp="1"/>
          </p:cNvGraphicFramePr>
          <p:nvPr>
            <p:extLst>
              <p:ext uri="{D42A27DB-BD31-4B8C-83A1-F6EECF244321}">
                <p14:modId xmlns:p14="http://schemas.microsoft.com/office/powerpoint/2010/main" val="2969240565"/>
              </p:ext>
            </p:extLst>
          </p:nvPr>
        </p:nvGraphicFramePr>
        <p:xfrm>
          <a:off x="3359150" y="2347979"/>
          <a:ext cx="5473700" cy="2916277"/>
        </p:xfrm>
        <a:graphic>
          <a:graphicData uri="http://schemas.openxmlformats.org/drawingml/2006/table">
            <a:tbl>
              <a:tblPr/>
              <a:tblGrid>
                <a:gridCol w="333182">
                  <a:extLst>
                    <a:ext uri="{9D8B030D-6E8A-4147-A177-3AD203B41FA5}">
                      <a16:colId xmlns:a16="http://schemas.microsoft.com/office/drawing/2014/main" val="2240963681"/>
                    </a:ext>
                  </a:extLst>
                </a:gridCol>
                <a:gridCol w="1370805">
                  <a:extLst>
                    <a:ext uri="{9D8B030D-6E8A-4147-A177-3AD203B41FA5}">
                      <a16:colId xmlns:a16="http://schemas.microsoft.com/office/drawing/2014/main" val="2302784645"/>
                    </a:ext>
                  </a:extLst>
                </a:gridCol>
                <a:gridCol w="3769713">
                  <a:extLst>
                    <a:ext uri="{9D8B030D-6E8A-4147-A177-3AD203B41FA5}">
                      <a16:colId xmlns:a16="http://schemas.microsoft.com/office/drawing/2014/main" val="75801157"/>
                    </a:ext>
                  </a:extLst>
                </a:gridCol>
              </a:tblGrid>
              <a:tr h="325477">
                <a:tc>
                  <a:txBody>
                    <a:bodyPr/>
                    <a:lstStyle/>
                    <a:p>
                      <a:pPr algn="ctr" fontAlgn="t"/>
                      <a:r>
                        <a:rPr lang="en-US" sz="900" b="1" i="0" u="none" strike="noStrike" noProof="0" dirty="0" err="1">
                          <a:solidFill>
                            <a:srgbClr val="000000"/>
                          </a:solidFill>
                          <a:effectLst/>
                          <a:latin typeface="Calibri" panose="020F0502020204030204" pitchFamily="34" charset="0"/>
                        </a:rPr>
                        <a:t>Alloc</a:t>
                      </a:r>
                      <a:br>
                        <a:rPr lang="en-US" sz="900" b="1" i="0" u="none" strike="noStrike" noProof="0" dirty="0">
                          <a:solidFill>
                            <a:srgbClr val="000000"/>
                          </a:solidFill>
                          <a:effectLst/>
                          <a:latin typeface="Calibri" panose="020F0502020204030204" pitchFamily="34" charset="0"/>
                        </a:rPr>
                      </a:br>
                      <a:r>
                        <a:rPr lang="en-US" sz="900" b="1" i="0" u="none" strike="noStrike" noProof="0" dirty="0">
                          <a:solidFill>
                            <a:srgbClr val="000000"/>
                          </a:solidFill>
                          <a:effectLst/>
                          <a:latin typeface="Calibri" panose="020F0502020204030204" pitchFamily="34" charset="0"/>
                        </a:rPr>
                        <a:t>Prio#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t"/>
                      <a:r>
                        <a:rPr lang="en-US" sz="900" b="1" i="0" u="none" strike="noStrike" noProof="0" dirty="0">
                          <a:solidFill>
                            <a:srgbClr val="000000"/>
                          </a:solidFill>
                          <a:effectLst/>
                          <a:latin typeface="Calibri" panose="020F0502020204030204" pitchFamily="34" charset="0"/>
                        </a:rPr>
                        <a:t>Distribution Channel/Dept.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t"/>
                      <a:r>
                        <a:rPr lang="en-US" sz="900" b="1" i="0" u="none" strike="noStrike" noProof="0" dirty="0">
                          <a:solidFill>
                            <a:srgbClr val="000000"/>
                          </a:solidFill>
                          <a:effectLst/>
                          <a:latin typeface="Calibri" panose="020F0502020204030204" pitchFamily="34" charset="0"/>
                        </a:rPr>
                        <a:t>221/222 Allocation Process Flow/Accounts involved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513123339"/>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E-Commerce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E-Commerce Bulk</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296062"/>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E-Commerce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Marketplace accounts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4077081"/>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E-Commerce &amp; </a:t>
                      </a:r>
                      <a:r>
                        <a:rPr lang="en-US" sz="900" b="0" i="0" u="none" strike="noStrike" noProof="0" dirty="0" err="1">
                          <a:solidFill>
                            <a:srgbClr val="000000"/>
                          </a:solidFill>
                          <a:effectLst/>
                          <a:latin typeface="Calibri" panose="020F0502020204030204" pitchFamily="34" charset="0"/>
                        </a:rPr>
                        <a:t>Mkgt</a:t>
                      </a:r>
                      <a:endParaRPr lang="en-US" sz="900" b="0" i="0" u="none" strike="noStrike" noProof="0" dirty="0">
                        <a:solidFill>
                          <a:srgbClr val="000000"/>
                        </a:solidFill>
                        <a:effectLst/>
                        <a:latin typeface="Calibri" panose="020F0502020204030204" pitchFamily="34" charset="0"/>
                      </a:endParaRP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E-Commerce Influencers &amp; Photoshoot</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4669801"/>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Retail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Retail Implementation Bulk</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2876087"/>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377" rtl="0" eaLnBrk="1" fontAlgn="b" latinLnBrk="0" hangingPunct="1">
                        <a:lnSpc>
                          <a:spcPct val="100000"/>
                        </a:lnSpc>
                        <a:spcBef>
                          <a:spcPts val="0"/>
                        </a:spcBef>
                        <a:spcAft>
                          <a:spcPts val="0"/>
                        </a:spcAft>
                        <a:buClrTx/>
                        <a:buSzTx/>
                        <a:buFontTx/>
                        <a:buNone/>
                        <a:tabLst/>
                        <a:defRPr/>
                      </a:pPr>
                      <a:r>
                        <a:rPr lang="en-US" sz="900" b="0" i="0" u="none" strike="noStrike" noProof="0" dirty="0">
                          <a:solidFill>
                            <a:srgbClr val="000000"/>
                          </a:solidFill>
                          <a:effectLst/>
                          <a:latin typeface="Calibri" panose="020F0502020204030204" pitchFamily="34" charset="0"/>
                        </a:rPr>
                        <a:t>Retail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900" b="1" i="0" u="none" strike="noStrike" noProof="0" dirty="0">
                          <a:solidFill>
                            <a:srgbClr val="000000"/>
                          </a:solidFill>
                          <a:effectLst/>
                          <a:latin typeface="Calibri" panose="020F0502020204030204" pitchFamily="34" charset="0"/>
                        </a:rPr>
                        <a:t>Retail Stores Implementation Orders (except Outlets)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8642746"/>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Alaia Bay Account</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0758262"/>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Prio 1</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2881549"/>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EDI Replenishment Rush Orders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6163920"/>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Russian Distributor (</a:t>
                      </a:r>
                      <a:r>
                        <a:rPr lang="en-US" sz="900" b="1" i="0" u="none" strike="noStrike" noProof="0" dirty="0" err="1">
                          <a:solidFill>
                            <a:srgbClr val="000000"/>
                          </a:solidFill>
                          <a:effectLst/>
                          <a:latin typeface="Calibri" panose="020F0502020204030204" pitchFamily="34" charset="0"/>
                        </a:rPr>
                        <a:t>Santocha</a:t>
                      </a:r>
                      <a:r>
                        <a:rPr lang="en-US" sz="900" b="1" i="0" u="none" strike="noStrike" noProof="0" dirty="0">
                          <a:solidFill>
                            <a:srgbClr val="000000"/>
                          </a:solidFill>
                          <a:effectLst/>
                          <a:latin typeface="Calibri" panose="020F0502020204030204" pitchFamily="34" charset="0"/>
                        </a:rPr>
                        <a:t>)</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1065767"/>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ZRO Replenishment Rush Orders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2036648"/>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Amazon Bulk</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731898"/>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Wholesale</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Remaining accounts/orders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5077477"/>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Retail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Retail Replenishment Bulks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4271137"/>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Retail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Retail Stores Replenishment Orders (except Outlets)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9699969"/>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Inventory Management</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Outlets accounts only</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2267134"/>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Inventory Management</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Clearance accounts only</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2989291"/>
                  </a:ext>
                </a:extLst>
              </a:tr>
              <a:tr h="152400">
                <a:tc>
                  <a:txBody>
                    <a:bodyPr/>
                    <a:lstStyle/>
                    <a:p>
                      <a:pPr algn="ctr" fontAlgn="b"/>
                      <a:r>
                        <a:rPr lang="en-US" sz="900" b="0" i="0" u="none" strike="noStrike" noProof="0" dirty="0">
                          <a:solidFill>
                            <a:srgbClr val="000000"/>
                          </a:solidFill>
                          <a:effectLst/>
                          <a:latin typeface="Calibri" panose="020F0502020204030204" pitchFamily="34" charset="0"/>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Inventory Management</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900" b="1" i="0" u="none" strike="noStrike" noProof="0" dirty="0">
                          <a:solidFill>
                            <a:srgbClr val="000000"/>
                          </a:solidFill>
                          <a:effectLst/>
                          <a:latin typeface="Calibri" panose="020F0502020204030204" pitchFamily="34" charset="0"/>
                        </a:rPr>
                        <a:t>Any sales order containing Order Reason 008</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3209892"/>
                  </a:ext>
                </a:extLst>
              </a:tr>
            </a:tbl>
          </a:graphicData>
        </a:graphic>
      </p:graphicFrame>
    </p:spTree>
    <p:extLst>
      <p:ext uri="{BB962C8B-B14F-4D97-AF65-F5344CB8AC3E}">
        <p14:creationId xmlns:p14="http://schemas.microsoft.com/office/powerpoint/2010/main" val="35632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Job steps:</a:t>
            </a:r>
          </a:p>
        </p:txBody>
      </p:sp>
      <p:pic>
        <p:nvPicPr>
          <p:cNvPr id="6" name="Image 5">
            <a:extLst>
              <a:ext uri="{FF2B5EF4-FFF2-40B4-BE49-F238E27FC236}">
                <a16:creationId xmlns:a16="http://schemas.microsoft.com/office/drawing/2014/main" id="{571F4FC8-B04D-42ED-98E1-680274E50DA6}"/>
              </a:ext>
            </a:extLst>
          </p:cNvPr>
          <p:cNvPicPr>
            <a:picLocks noChangeAspect="1"/>
          </p:cNvPicPr>
          <p:nvPr/>
        </p:nvPicPr>
        <p:blipFill>
          <a:blip r:embed="rId2"/>
          <a:stretch>
            <a:fillRect/>
          </a:stretch>
        </p:blipFill>
        <p:spPr>
          <a:xfrm>
            <a:off x="1276350" y="1666875"/>
            <a:ext cx="9639300" cy="3524250"/>
          </a:xfrm>
          <a:prstGeom prst="rect">
            <a:avLst/>
          </a:prstGeom>
        </p:spPr>
      </p:pic>
    </p:spTree>
    <p:extLst>
      <p:ext uri="{BB962C8B-B14F-4D97-AF65-F5344CB8AC3E}">
        <p14:creationId xmlns:p14="http://schemas.microsoft.com/office/powerpoint/2010/main" val="1066695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920944-12F4-4C4F-BEF8-DA33659D7C8D}"/>
              </a:ext>
            </a:extLst>
          </p:cNvPr>
          <p:cNvSpPr>
            <a:spLocks noGrp="1"/>
          </p:cNvSpPr>
          <p:nvPr>
            <p:ph type="title"/>
          </p:nvPr>
        </p:nvSpPr>
        <p:spPr/>
        <p:txBody>
          <a:bodyPr/>
          <a:lstStyle/>
          <a:p>
            <a:pPr marL="457200" indent="-457200">
              <a:buFont typeface="+mj-lt"/>
              <a:buAutoNum type="arabicPeriod" startAt="9"/>
            </a:pPr>
            <a:r>
              <a:rPr lang="en-US" noProof="0" dirty="0" err="1"/>
              <a:t>ARun</a:t>
            </a:r>
            <a:r>
              <a:rPr lang="en-US" noProof="0" dirty="0"/>
              <a:t> Jobs</a:t>
            </a:r>
          </a:p>
        </p:txBody>
      </p:sp>
      <p:sp>
        <p:nvSpPr>
          <p:cNvPr id="8" name="Espace réservé du contenu 3">
            <a:extLst>
              <a:ext uri="{FF2B5EF4-FFF2-40B4-BE49-F238E27FC236}">
                <a16:creationId xmlns:a16="http://schemas.microsoft.com/office/drawing/2014/main" id="{A68B8D76-DA23-4F11-849B-F9AAB120095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Next steps:</a:t>
            </a:r>
          </a:p>
        </p:txBody>
      </p:sp>
      <p:pic>
        <p:nvPicPr>
          <p:cNvPr id="4" name="Image 3">
            <a:extLst>
              <a:ext uri="{FF2B5EF4-FFF2-40B4-BE49-F238E27FC236}">
                <a16:creationId xmlns:a16="http://schemas.microsoft.com/office/drawing/2014/main" id="{530076F7-EBD0-46A9-A6C4-813C76605293}"/>
              </a:ext>
            </a:extLst>
          </p:cNvPr>
          <p:cNvPicPr>
            <a:picLocks noChangeAspect="1"/>
          </p:cNvPicPr>
          <p:nvPr/>
        </p:nvPicPr>
        <p:blipFill>
          <a:blip r:embed="rId2"/>
          <a:stretch>
            <a:fillRect/>
          </a:stretch>
        </p:blipFill>
        <p:spPr>
          <a:xfrm>
            <a:off x="1276350" y="1666875"/>
            <a:ext cx="9639300" cy="3524250"/>
          </a:xfrm>
          <a:prstGeom prst="rect">
            <a:avLst/>
          </a:prstGeom>
        </p:spPr>
      </p:pic>
    </p:spTree>
    <p:extLst>
      <p:ext uri="{BB962C8B-B14F-4D97-AF65-F5344CB8AC3E}">
        <p14:creationId xmlns:p14="http://schemas.microsoft.com/office/powerpoint/2010/main" val="434173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EB8BB7E-348C-4CCF-9624-CDA424ECDF52}"/>
              </a:ext>
            </a:extLst>
          </p:cNvPr>
          <p:cNvSpPr>
            <a:spLocks noGrp="1"/>
          </p:cNvSpPr>
          <p:nvPr>
            <p:ph type="title"/>
          </p:nvPr>
        </p:nvSpPr>
        <p:spPr/>
        <p:txBody>
          <a:bodyPr/>
          <a:lstStyle/>
          <a:p>
            <a:pPr marL="457200" indent="-457200">
              <a:buFont typeface="+mj-lt"/>
              <a:buAutoNum type="arabicPeriod" startAt="10"/>
            </a:pPr>
            <a:r>
              <a:rPr lang="en-US" noProof="0" dirty="0"/>
              <a:t> Deallocation Rules</a:t>
            </a:r>
          </a:p>
        </p:txBody>
      </p:sp>
      <p:sp>
        <p:nvSpPr>
          <p:cNvPr id="4" name="Espace réservé du contenu 3">
            <a:extLst>
              <a:ext uri="{FF2B5EF4-FFF2-40B4-BE49-F238E27FC236}">
                <a16:creationId xmlns:a16="http://schemas.microsoft.com/office/drawing/2014/main" id="{7B8E9CD0-9CE2-400B-8577-CE6403578256}"/>
              </a:ext>
            </a:extLst>
          </p:cNvPr>
          <p:cNvSpPr>
            <a:spLocks noGrp="1"/>
          </p:cNvSpPr>
          <p:nvPr>
            <p:ph sz="quarter" idx="11"/>
          </p:nvPr>
        </p:nvSpPr>
        <p:spPr/>
        <p:txBody>
          <a:bodyPr/>
          <a:lstStyle/>
          <a:p>
            <a:r>
              <a:rPr lang="en-US" noProof="0" dirty="0"/>
              <a:t>As changes and cancellations can occur in the following documents:</a:t>
            </a:r>
          </a:p>
          <a:p>
            <a:endParaRPr lang="en-US" noProof="0" dirty="0"/>
          </a:p>
          <a:p>
            <a:pPr marL="285750" indent="-285750">
              <a:buFont typeface="Arial" panose="020B0604020202020204" pitchFamily="34" charset="0"/>
              <a:buChar char="•"/>
            </a:pPr>
            <a:r>
              <a:rPr lang="en-US" noProof="0" dirty="0"/>
              <a:t>Customer sales order</a:t>
            </a:r>
          </a:p>
          <a:p>
            <a:pPr marL="285750" indent="-285750">
              <a:buFont typeface="Arial" panose="020B0604020202020204" pitchFamily="34" charset="0"/>
              <a:buChar char="•"/>
            </a:pPr>
            <a:r>
              <a:rPr lang="en-US" noProof="0" dirty="0"/>
              <a:t>Purchase order</a:t>
            </a:r>
          </a:p>
          <a:p>
            <a:pPr marL="285750" indent="-285750">
              <a:buFont typeface="Arial" panose="020B0604020202020204" pitchFamily="34" charset="0"/>
              <a:buChar char="•"/>
            </a:pPr>
            <a:r>
              <a:rPr lang="en-US" noProof="0" dirty="0"/>
              <a:t>Shipping notification</a:t>
            </a:r>
          </a:p>
          <a:p>
            <a:pPr marL="285750" indent="-285750">
              <a:buFont typeface="Arial" panose="020B0604020202020204" pitchFamily="34" charset="0"/>
              <a:buChar char="•"/>
            </a:pPr>
            <a:r>
              <a:rPr lang="en-US" noProof="0" dirty="0"/>
              <a:t>GR/GI movements</a:t>
            </a:r>
          </a:p>
          <a:p>
            <a:endParaRPr lang="en-US" noProof="0" dirty="0"/>
          </a:p>
          <a:p>
            <a:r>
              <a:rPr lang="en-US" noProof="0" dirty="0"/>
              <a:t>, the system will automatically deallocate existing requirements or stock.</a:t>
            </a:r>
          </a:p>
          <a:p>
            <a:endParaRPr lang="en-US" noProof="0" dirty="0"/>
          </a:p>
          <a:p>
            <a:r>
              <a:rPr lang="en-US" noProof="0" dirty="0"/>
              <a:t>In addition to the SAP standard automatic deallocation</a:t>
            </a:r>
            <a:r>
              <a:rPr lang="en-US" dirty="0"/>
              <a:t> process</a:t>
            </a:r>
            <a:r>
              <a:rPr lang="en-US" noProof="0" dirty="0"/>
              <a:t>, we have implemented Requirements and Stock deallocation rules including stock deallocation windows and Sales Order safety window.</a:t>
            </a:r>
          </a:p>
          <a:p>
            <a:endParaRPr lang="en-US" noProof="0" dirty="0"/>
          </a:p>
          <a:p>
            <a:r>
              <a:rPr lang="en-US" noProof="0" dirty="0"/>
              <a:t>According to the deliveries/receipts’ windows, the type of changes and the source of those changes, either the quantities are not always deallocated, or they are deallocated following sorting rules.</a:t>
            </a:r>
          </a:p>
          <a:p>
            <a:endParaRPr lang="en-US" noProof="0" dirty="0"/>
          </a:p>
          <a:p>
            <a:r>
              <a:rPr lang="en-US" noProof="0" dirty="0"/>
              <a:t>Only existing reservation is either kept or dropped but never replaced by other assignments !</a:t>
            </a:r>
          </a:p>
          <a:p>
            <a:endParaRPr lang="en-US" b="1" noProof="0" dirty="0">
              <a:solidFill>
                <a:srgbClr val="0070C0"/>
              </a:solidFill>
            </a:endParaRPr>
          </a:p>
        </p:txBody>
      </p:sp>
    </p:spTree>
    <p:extLst>
      <p:ext uri="{BB962C8B-B14F-4D97-AF65-F5344CB8AC3E}">
        <p14:creationId xmlns:p14="http://schemas.microsoft.com/office/powerpoint/2010/main" val="474525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p:txBody>
          <a:bodyPr/>
          <a:lstStyle/>
          <a:p>
            <a:pPr marL="342900" indent="-342900">
              <a:buFont typeface="+mj-lt"/>
              <a:buAutoNum type="arabicParenR"/>
            </a:pPr>
            <a:r>
              <a:rPr lang="en-US" b="1" noProof="0" dirty="0"/>
              <a:t>Standard automatic deallocation</a:t>
            </a:r>
          </a:p>
          <a:p>
            <a:r>
              <a:rPr lang="en-US" noProof="0" dirty="0"/>
              <a:t>Whenever a change is made to a:</a:t>
            </a:r>
          </a:p>
          <a:p>
            <a:pPr marL="971533" lvl="1" indent="-285750"/>
            <a:r>
              <a:rPr lang="en-US" sz="1400" b="1" noProof="0" dirty="0"/>
              <a:t>Material</a:t>
            </a:r>
            <a:r>
              <a:rPr lang="en-US" sz="1400" noProof="0" dirty="0"/>
              <a:t>,</a:t>
            </a:r>
          </a:p>
          <a:p>
            <a:pPr marL="971533" lvl="1" indent="-285750"/>
            <a:r>
              <a:rPr lang="en-US" sz="1400" b="1" noProof="0" dirty="0"/>
              <a:t>Size,</a:t>
            </a:r>
            <a:endParaRPr lang="en-US" sz="1400" noProof="0" dirty="0"/>
          </a:p>
          <a:p>
            <a:pPr marL="971533" lvl="1" indent="-285750"/>
            <a:r>
              <a:rPr lang="en-US" sz="1400" b="1" noProof="0" dirty="0"/>
              <a:t>Plant </a:t>
            </a:r>
            <a:r>
              <a:rPr lang="en-US" sz="1400" noProof="0" dirty="0"/>
              <a:t>or</a:t>
            </a:r>
          </a:p>
          <a:p>
            <a:pPr marL="971533" lvl="1" indent="-285750"/>
            <a:r>
              <a:rPr lang="en-US" sz="1400" b="1" noProof="0" dirty="0"/>
              <a:t>Item category </a:t>
            </a:r>
            <a:r>
              <a:rPr lang="en-US" sz="1400" noProof="0" dirty="0"/>
              <a:t>(i.e. X-dock and Drop-ship PO Explosion)</a:t>
            </a:r>
          </a:p>
          <a:p>
            <a:r>
              <a:rPr lang="en-US" noProof="0" dirty="0"/>
              <a:t>Or the </a:t>
            </a:r>
            <a:r>
              <a:rPr lang="en-US" b="1" noProof="0" dirty="0"/>
              <a:t>deletion</a:t>
            </a:r>
            <a:r>
              <a:rPr lang="en-US" noProof="0" dirty="0"/>
              <a:t> of a material or a schedule line is done in a Sales Order, the corresponding assignments will be </a:t>
            </a:r>
            <a:r>
              <a:rPr lang="en-US" b="1" noProof="0" dirty="0"/>
              <a:t>completely deallocated</a:t>
            </a:r>
            <a:r>
              <a:rPr lang="en-US" noProof="0" dirty="0"/>
              <a:t>.</a:t>
            </a:r>
          </a:p>
          <a:p>
            <a:endParaRPr lang="en-US" noProof="0" dirty="0"/>
          </a:p>
          <a:p>
            <a:pPr marL="342900" indent="-342900">
              <a:buFont typeface="+mj-lt"/>
              <a:buAutoNum type="arabicParenR" startAt="2"/>
            </a:pPr>
            <a:r>
              <a:rPr lang="en-US" b="1" noProof="0" dirty="0"/>
              <a:t>Customizable automatic deallocation</a:t>
            </a:r>
          </a:p>
          <a:p>
            <a:r>
              <a:rPr lang="en-US" noProof="0" dirty="0"/>
              <a:t>Stock deallocation </a:t>
            </a:r>
            <a:r>
              <a:rPr lang="en-US" u="sng" noProof="0" dirty="0"/>
              <a:t>rules</a:t>
            </a:r>
            <a:r>
              <a:rPr lang="en-US" noProof="0" dirty="0"/>
              <a:t> and </a:t>
            </a:r>
            <a:r>
              <a:rPr lang="en-US" u="sng" noProof="0" dirty="0"/>
              <a:t>sorting</a:t>
            </a:r>
            <a:r>
              <a:rPr lang="en-US" noProof="0" dirty="0"/>
              <a:t> are assigned to Sales Order type/Sales Org./Dist. Channel/Division.</a:t>
            </a:r>
            <a:endParaRPr lang="en-US" u="sng" noProof="0" dirty="0"/>
          </a:p>
          <a:p>
            <a:r>
              <a:rPr lang="en-US" noProof="0" dirty="0"/>
              <a:t>Same rules are applied to all Sales areas of the same Sales Order type.</a:t>
            </a:r>
          </a:p>
          <a:p>
            <a:r>
              <a:rPr lang="en-US" noProof="0" dirty="0"/>
              <a:t>We have maintained 2 deallocation rules for :</a:t>
            </a:r>
          </a:p>
          <a:p>
            <a:pPr marL="285750" indent="-285750">
              <a:buFont typeface="Arial" panose="020B0604020202020204" pitchFamily="34" charset="0"/>
              <a:buChar char="•"/>
            </a:pPr>
            <a:r>
              <a:rPr lang="en-US" b="1" noProof="0" dirty="0"/>
              <a:t>Customer Orders</a:t>
            </a:r>
            <a:endParaRPr lang="en-US" noProof="0" dirty="0"/>
          </a:p>
          <a:p>
            <a:pPr marL="285750" indent="-285750">
              <a:buFont typeface="Arial" panose="020B0604020202020204" pitchFamily="34" charset="0"/>
              <a:buChar char="•"/>
            </a:pPr>
            <a:r>
              <a:rPr lang="en-US" b="1" noProof="0" dirty="0"/>
              <a:t>Samples Orders</a:t>
            </a:r>
          </a:p>
          <a:p>
            <a:r>
              <a:rPr lang="en-US" noProof="0" dirty="0"/>
              <a:t>Consignment Issue and Consignment Return Orders do not need stock deallocation sorting rule and will use the basic deallocation rule on item deletion and quantity changes.</a:t>
            </a:r>
          </a:p>
          <a:p>
            <a:endParaRPr lang="en-US" noProof="0" dirty="0"/>
          </a:p>
          <a:p>
            <a:endParaRPr lang="en-US" noProof="0" dirty="0"/>
          </a:p>
          <a:p>
            <a:endParaRPr lang="en-US" noProof="0" dirty="0"/>
          </a:p>
          <a:p>
            <a:endParaRPr lang="en-US" noProof="0" dirty="0"/>
          </a:p>
          <a:p>
            <a:endParaRPr lang="en-US" noProof="0" dirty="0"/>
          </a:p>
          <a:p>
            <a:endParaRPr lang="en-US" noProof="0" dirty="0"/>
          </a:p>
        </p:txBody>
      </p:sp>
      <p:sp>
        <p:nvSpPr>
          <p:cNvPr id="7" name="Titre 2">
            <a:extLst>
              <a:ext uri="{FF2B5EF4-FFF2-40B4-BE49-F238E27FC236}">
                <a16:creationId xmlns:a16="http://schemas.microsoft.com/office/drawing/2014/main" id="{F6584F34-FF29-13F0-2E9C-A36B7446ADA4}"/>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spTree>
    <p:extLst>
      <p:ext uri="{BB962C8B-B14F-4D97-AF65-F5344CB8AC3E}">
        <p14:creationId xmlns:p14="http://schemas.microsoft.com/office/powerpoint/2010/main" val="40354523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arenR" startAt="3"/>
            </a:pPr>
            <a:r>
              <a:rPr lang="en-US" b="1" noProof="0" dirty="0"/>
              <a:t>Deallocation rules</a:t>
            </a:r>
          </a:p>
          <a:p>
            <a:pPr marL="1028683" lvl="1" indent="-342900" algn="just">
              <a:buFont typeface="+mj-lt"/>
              <a:buAutoNum type="alphaLcPeriod" startAt="3"/>
            </a:pPr>
            <a:endParaRPr lang="en-US" b="1" noProof="0" dirty="0"/>
          </a:p>
          <a:p>
            <a:pPr marL="1028683" lvl="1" indent="-342900" algn="just">
              <a:buFont typeface="+mj-lt"/>
              <a:buAutoNum type="alphaLcParenR"/>
            </a:pPr>
            <a:r>
              <a:rPr lang="en-US" b="1" noProof="0" dirty="0"/>
              <a:t>Requested Delivery Date</a:t>
            </a:r>
          </a:p>
          <a:p>
            <a:pPr algn="just"/>
            <a:r>
              <a:rPr lang="en-US" noProof="0" dirty="0"/>
              <a:t>When changing a Schedule Line Sales Order requested delivery date, or the Item RDD, Stock/Requirements assignments deallocation will be based on:</a:t>
            </a:r>
          </a:p>
          <a:p>
            <a:endParaRPr lang="en-US" b="1" noProof="0" dirty="0"/>
          </a:p>
          <a:p>
            <a:pPr marL="285750" indent="-285750">
              <a:buFont typeface="Arial" panose="020B0604020202020204" pitchFamily="34" charset="0"/>
              <a:buChar char="•"/>
            </a:pPr>
            <a:r>
              <a:rPr lang="en-US" noProof="0" dirty="0"/>
              <a:t>New Requirements Date at Schedule Line =  </a:t>
            </a:r>
            <a:r>
              <a:rPr lang="en-US" b="1" noProof="0" dirty="0"/>
              <a:t>New « Material Availability Date »</a:t>
            </a:r>
            <a:r>
              <a:rPr lang="en-US" noProof="0" dirty="0"/>
              <a:t> = New RDD – 3 days</a:t>
            </a:r>
          </a:p>
          <a:p>
            <a:endParaRPr lang="en-US" noProof="0" dirty="0"/>
          </a:p>
          <a:p>
            <a:r>
              <a:rPr lang="en-US" noProof="0" dirty="0"/>
              <a:t>And the stock validity period:</a:t>
            </a:r>
          </a:p>
          <a:p>
            <a:endParaRPr lang="en-US" noProof="0" dirty="0"/>
          </a:p>
          <a:p>
            <a:pPr marL="285750" indent="-285750">
              <a:buFont typeface="Arial" panose="020B0604020202020204" pitchFamily="34" charset="0"/>
              <a:buChar char="•"/>
            </a:pPr>
            <a:r>
              <a:rPr lang="en-US" noProof="0" dirty="0"/>
              <a:t>Batch stock validity period = </a:t>
            </a:r>
            <a:r>
              <a:rPr lang="en-US" b="1" dirty="0"/>
              <a:t> Number of days that should not be exceeded between the </a:t>
            </a:r>
            <a:r>
              <a:rPr lang="en-US" b="1" dirty="0" err="1"/>
              <a:t>SchLine</a:t>
            </a:r>
            <a:r>
              <a:rPr lang="en-US" b="1" dirty="0"/>
              <a:t> ”new” MAD and “initial” MAD</a:t>
            </a:r>
          </a:p>
          <a:p>
            <a:pPr lvl="1" indent="0">
              <a:buNone/>
            </a:pPr>
            <a:r>
              <a:rPr lang="en-US" dirty="0"/>
              <a:t>-&gt; Anytime the “new” MAD it in the past compared to the “initial” MAD there is no deallocation.</a:t>
            </a:r>
          </a:p>
          <a:p>
            <a:pPr lvl="1" indent="0">
              <a:buNone/>
            </a:pPr>
            <a:endParaRPr lang="en-US" dirty="0"/>
          </a:p>
          <a:p>
            <a:pPr marL="285750" indent="-285750">
              <a:buFont typeface="Arial" panose="020B0604020202020204" pitchFamily="34" charset="0"/>
              <a:buChar char="•"/>
            </a:pPr>
            <a:r>
              <a:rPr lang="en-US" noProof="0" dirty="0"/>
              <a:t>Stock validity period (Inbound Del. or PO) = </a:t>
            </a:r>
            <a:r>
              <a:rPr lang="en-US" b="1" noProof="0" dirty="0"/>
              <a:t>From/To number of days added to the </a:t>
            </a:r>
            <a:r>
              <a:rPr lang="en-US" b="1" noProof="0" dirty="0" err="1"/>
              <a:t>SchLine</a:t>
            </a:r>
            <a:r>
              <a:rPr lang="en-US" b="1" noProof="0" dirty="0"/>
              <a:t> “new” MAD</a:t>
            </a:r>
          </a:p>
          <a:p>
            <a:pPr lvl="1" indent="0">
              <a:buNone/>
            </a:pPr>
            <a:r>
              <a:rPr lang="en-US" noProof="0" dirty="0"/>
              <a:t>-&gt; if the « Goods Receipt Date » (Delivery date + GR processing time = Delivery date + 5 working days) still meets this interval then the allocation remains, otherwise it is deallocated.</a:t>
            </a:r>
          </a:p>
          <a:p>
            <a:endParaRPr lang="en-US" sz="500" noProof="0" dirty="0"/>
          </a:p>
          <a:p>
            <a:r>
              <a:rPr lang="en-US" noProof="0" dirty="0"/>
              <a:t>You will get the following warning in the order : </a:t>
            </a:r>
          </a:p>
          <a:p>
            <a:pPr marL="285750" indent="-285750">
              <a:buFontTx/>
              <a:buChar char="-"/>
            </a:pPr>
            <a:endParaRPr lang="en-US" noProof="0" dirty="0"/>
          </a:p>
        </p:txBody>
      </p:sp>
      <p:pic>
        <p:nvPicPr>
          <p:cNvPr id="4" name="Image 3">
            <a:extLst>
              <a:ext uri="{FF2B5EF4-FFF2-40B4-BE49-F238E27FC236}">
                <a16:creationId xmlns:a16="http://schemas.microsoft.com/office/drawing/2014/main" id="{DDC422DD-D41F-43E2-A35B-E528EEBBE7F7}"/>
              </a:ext>
            </a:extLst>
          </p:cNvPr>
          <p:cNvPicPr>
            <a:picLocks noChangeAspect="1"/>
          </p:cNvPicPr>
          <p:nvPr/>
        </p:nvPicPr>
        <p:blipFill>
          <a:blip r:embed="rId2"/>
          <a:stretch>
            <a:fillRect/>
          </a:stretch>
        </p:blipFill>
        <p:spPr>
          <a:xfrm>
            <a:off x="5180862" y="5881105"/>
            <a:ext cx="4124901" cy="238158"/>
          </a:xfrm>
          <a:prstGeom prst="rect">
            <a:avLst/>
          </a:prstGeom>
        </p:spPr>
      </p:pic>
      <p:sp>
        <p:nvSpPr>
          <p:cNvPr id="7" name="Titre 2">
            <a:extLst>
              <a:ext uri="{FF2B5EF4-FFF2-40B4-BE49-F238E27FC236}">
                <a16:creationId xmlns:a16="http://schemas.microsoft.com/office/drawing/2014/main" id="{44248451-6A43-88C0-2604-F472D14D4237}"/>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spTree>
    <p:extLst>
      <p:ext uri="{BB962C8B-B14F-4D97-AF65-F5344CB8AC3E}">
        <p14:creationId xmlns:p14="http://schemas.microsoft.com/office/powerpoint/2010/main" val="2150386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Stock D</a:t>
            </a:r>
            <a:r>
              <a:rPr lang="en-US" dirty="0" err="1"/>
              <a:t>eallocation</a:t>
            </a:r>
            <a:r>
              <a:rPr lang="en-US" dirty="0"/>
              <a:t> windows are defined according to Stock allocation Windows.</a:t>
            </a:r>
          </a:p>
          <a:p>
            <a:r>
              <a:rPr lang="en-US" dirty="0"/>
              <a:t>We consider a “Safety window” where changes in the Sales orders do not deallocate Stock on Hand or Future Stock. (= </a:t>
            </a:r>
            <a:r>
              <a:rPr lang="en-US" dirty="0" err="1"/>
              <a:t>Nbr</a:t>
            </a:r>
            <a:r>
              <a:rPr lang="en-US" dirty="0"/>
              <a:t> of days between initial SchL RDD and last updated RDD of the same SchL)</a:t>
            </a:r>
          </a:p>
          <a:p>
            <a:endParaRPr lang="en-US" b="1" noProof="0" dirty="0"/>
          </a:p>
          <a:p>
            <a:r>
              <a:rPr lang="en-US" b="1" noProof="0" dirty="0"/>
              <a:t>Stock types assignment horizon validity for </a:t>
            </a:r>
            <a:r>
              <a:rPr lang="en-US" b="1" u="sng" noProof="0" dirty="0"/>
              <a:t>Samples Orders </a:t>
            </a:r>
            <a:r>
              <a:rPr lang="en-US" b="1" noProof="0" dirty="0"/>
              <a:t>RDD change:</a:t>
            </a:r>
          </a:p>
          <a:p>
            <a:endParaRPr lang="en-US" b="1" noProof="0" dirty="0"/>
          </a:p>
          <a:p>
            <a:r>
              <a:rPr lang="en-US" b="1" noProof="0" dirty="0"/>
              <a:t>							</a:t>
            </a:r>
            <a:r>
              <a:rPr lang="en-US" noProof="0" dirty="0"/>
              <a:t>With these horizons, the sales order RDD</a:t>
            </a:r>
          </a:p>
          <a:p>
            <a:r>
              <a:rPr lang="en-US" noProof="0" dirty="0"/>
              <a:t>							can be delayed </a:t>
            </a:r>
            <a:r>
              <a:rPr lang="en-US" b="1" noProof="0" dirty="0"/>
              <a:t>up to max 30 day</a:t>
            </a:r>
          </a:p>
          <a:p>
            <a:r>
              <a:rPr lang="en-US" b="1" noProof="0" dirty="0"/>
              <a:t>							without deallocation.</a:t>
            </a:r>
          </a:p>
          <a:p>
            <a:endParaRPr lang="en-US" noProof="0" dirty="0"/>
          </a:p>
          <a:p>
            <a:r>
              <a:rPr lang="en-US" b="1" dirty="0"/>
              <a:t>Stock types assignment horizon validity for </a:t>
            </a:r>
            <a:r>
              <a:rPr lang="en-US" b="1" u="sng" dirty="0"/>
              <a:t>Customer Orders </a:t>
            </a:r>
            <a:r>
              <a:rPr lang="en-US" b="1" dirty="0"/>
              <a:t>RDD change:</a:t>
            </a:r>
          </a:p>
          <a:p>
            <a:endParaRPr lang="en-US" b="1" dirty="0"/>
          </a:p>
          <a:p>
            <a:r>
              <a:rPr lang="en-US" b="1" dirty="0"/>
              <a:t>							</a:t>
            </a:r>
            <a:r>
              <a:rPr lang="en-US" dirty="0"/>
              <a:t>With these horizons, the sales order RDD</a:t>
            </a:r>
          </a:p>
          <a:p>
            <a:r>
              <a:rPr lang="en-US" dirty="0"/>
              <a:t>							can be delayed </a:t>
            </a:r>
            <a:r>
              <a:rPr lang="en-US" b="1" dirty="0"/>
              <a:t>up to max 60 days</a:t>
            </a:r>
          </a:p>
          <a:p>
            <a:r>
              <a:rPr lang="en-US" b="1" dirty="0"/>
              <a:t>							without deallocation</a:t>
            </a:r>
            <a:r>
              <a:rPr lang="en-US" dirty="0"/>
              <a:t>.</a:t>
            </a:r>
            <a:endParaRPr lang="en-US" b="1" dirty="0"/>
          </a:p>
          <a:p>
            <a:endParaRPr lang="en-US" b="1" dirty="0"/>
          </a:p>
          <a:p>
            <a:endParaRPr lang="en-US" noProof="0" dirty="0"/>
          </a:p>
          <a:p>
            <a:endParaRPr lang="en-US" noProof="0" dirty="0"/>
          </a:p>
          <a:p>
            <a:endParaRPr lang="en-US" b="1" noProof="0" dirty="0"/>
          </a:p>
        </p:txBody>
      </p:sp>
      <p:pic>
        <p:nvPicPr>
          <p:cNvPr id="7" name="Image 6">
            <a:extLst>
              <a:ext uri="{FF2B5EF4-FFF2-40B4-BE49-F238E27FC236}">
                <a16:creationId xmlns:a16="http://schemas.microsoft.com/office/drawing/2014/main" id="{091DECF9-9F7B-4728-9009-EA40B8733DD0}"/>
              </a:ext>
            </a:extLst>
          </p:cNvPr>
          <p:cNvPicPr>
            <a:picLocks noChangeAspect="1"/>
          </p:cNvPicPr>
          <p:nvPr/>
        </p:nvPicPr>
        <p:blipFill>
          <a:blip r:embed="rId2"/>
          <a:stretch>
            <a:fillRect/>
          </a:stretch>
        </p:blipFill>
        <p:spPr>
          <a:xfrm>
            <a:off x="970961" y="4464018"/>
            <a:ext cx="4812821" cy="1510594"/>
          </a:xfrm>
          <a:prstGeom prst="rect">
            <a:avLst/>
          </a:prstGeom>
        </p:spPr>
      </p:pic>
      <p:pic>
        <p:nvPicPr>
          <p:cNvPr id="22" name="Image 21">
            <a:extLst>
              <a:ext uri="{FF2B5EF4-FFF2-40B4-BE49-F238E27FC236}">
                <a16:creationId xmlns:a16="http://schemas.microsoft.com/office/drawing/2014/main" id="{42D9714A-6648-4D16-923B-3521B16BCB63}"/>
              </a:ext>
            </a:extLst>
          </p:cNvPr>
          <p:cNvPicPr>
            <a:picLocks noChangeAspect="1"/>
          </p:cNvPicPr>
          <p:nvPr/>
        </p:nvPicPr>
        <p:blipFill>
          <a:blip r:embed="rId3"/>
          <a:stretch>
            <a:fillRect/>
          </a:stretch>
        </p:blipFill>
        <p:spPr>
          <a:xfrm>
            <a:off x="970960" y="2542637"/>
            <a:ext cx="4812821" cy="1501810"/>
          </a:xfrm>
          <a:prstGeom prst="rect">
            <a:avLst/>
          </a:prstGeom>
        </p:spPr>
      </p:pic>
      <p:sp>
        <p:nvSpPr>
          <p:cNvPr id="6" name="Titre 2">
            <a:extLst>
              <a:ext uri="{FF2B5EF4-FFF2-40B4-BE49-F238E27FC236}">
                <a16:creationId xmlns:a16="http://schemas.microsoft.com/office/drawing/2014/main" id="{1C1AD598-7028-167B-DD96-7B66AB5FF131}"/>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spTree>
    <p:extLst>
      <p:ext uri="{BB962C8B-B14F-4D97-AF65-F5344CB8AC3E}">
        <p14:creationId xmlns:p14="http://schemas.microsoft.com/office/powerpoint/2010/main" val="24075965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noProof="0" dirty="0"/>
              <a:t>Samples orders :</a:t>
            </a:r>
          </a:p>
        </p:txBody>
      </p:sp>
      <p:pic>
        <p:nvPicPr>
          <p:cNvPr id="4" name="Image 3">
            <a:extLst>
              <a:ext uri="{FF2B5EF4-FFF2-40B4-BE49-F238E27FC236}">
                <a16:creationId xmlns:a16="http://schemas.microsoft.com/office/drawing/2014/main" id="{6D18C4E6-CC38-45EE-8901-381F3CA434A4}"/>
              </a:ext>
            </a:extLst>
          </p:cNvPr>
          <p:cNvPicPr>
            <a:picLocks noChangeAspect="1"/>
          </p:cNvPicPr>
          <p:nvPr/>
        </p:nvPicPr>
        <p:blipFill>
          <a:blip r:embed="rId2"/>
          <a:stretch>
            <a:fillRect/>
          </a:stretch>
        </p:blipFill>
        <p:spPr>
          <a:xfrm>
            <a:off x="0" y="2067890"/>
            <a:ext cx="12192000" cy="2722220"/>
          </a:xfrm>
          <a:prstGeom prst="rect">
            <a:avLst/>
          </a:prstGeom>
        </p:spPr>
      </p:pic>
      <p:sp>
        <p:nvSpPr>
          <p:cNvPr id="7" name="Titre 2">
            <a:extLst>
              <a:ext uri="{FF2B5EF4-FFF2-40B4-BE49-F238E27FC236}">
                <a16:creationId xmlns:a16="http://schemas.microsoft.com/office/drawing/2014/main" id="{0C4DBDED-D806-2DE7-96D3-BD8C82E59AC7}"/>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spTree>
    <p:extLst>
      <p:ext uri="{BB962C8B-B14F-4D97-AF65-F5344CB8AC3E}">
        <p14:creationId xmlns:p14="http://schemas.microsoft.com/office/powerpoint/2010/main" val="4230052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 19">
            <a:extLst>
              <a:ext uri="{FF2B5EF4-FFF2-40B4-BE49-F238E27FC236}">
                <a16:creationId xmlns:a16="http://schemas.microsoft.com/office/drawing/2014/main" id="{429EDFF6-174B-4193-9B8C-EBE1ED288F9F}"/>
              </a:ext>
            </a:extLst>
          </p:cNvPr>
          <p:cNvPicPr>
            <a:picLocks noChangeAspect="1"/>
          </p:cNvPicPr>
          <p:nvPr/>
        </p:nvPicPr>
        <p:blipFill>
          <a:blip r:embed="rId2"/>
          <a:stretch>
            <a:fillRect/>
          </a:stretch>
        </p:blipFill>
        <p:spPr>
          <a:xfrm>
            <a:off x="208729" y="801706"/>
            <a:ext cx="9264122" cy="2915650"/>
          </a:xfrm>
          <a:prstGeom prst="rect">
            <a:avLst/>
          </a:prstGeom>
        </p:spPr>
      </p:pic>
      <p:pic>
        <p:nvPicPr>
          <p:cNvPr id="21" name="Image 20">
            <a:extLst>
              <a:ext uri="{FF2B5EF4-FFF2-40B4-BE49-F238E27FC236}">
                <a16:creationId xmlns:a16="http://schemas.microsoft.com/office/drawing/2014/main" id="{D06D6675-8138-47ED-91D4-56DB8A912423}"/>
              </a:ext>
            </a:extLst>
          </p:cNvPr>
          <p:cNvPicPr>
            <a:picLocks noChangeAspect="1"/>
          </p:cNvPicPr>
          <p:nvPr/>
        </p:nvPicPr>
        <p:blipFill>
          <a:blip r:embed="rId3"/>
          <a:stretch>
            <a:fillRect/>
          </a:stretch>
        </p:blipFill>
        <p:spPr>
          <a:xfrm>
            <a:off x="2505970" y="3707468"/>
            <a:ext cx="9592574" cy="2511111"/>
          </a:xfrm>
          <a:prstGeom prst="rect">
            <a:avLst/>
          </a:prstGeom>
        </p:spPr>
      </p:pic>
      <p:sp>
        <p:nvSpPr>
          <p:cNvPr id="8" name="Espace réservé du contenu 9">
            <a:extLst>
              <a:ext uri="{FF2B5EF4-FFF2-40B4-BE49-F238E27FC236}">
                <a16:creationId xmlns:a16="http://schemas.microsoft.com/office/drawing/2014/main" id="{6BCB7A9D-FAE9-478E-BFAE-58804254DD9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noProof="0" dirty="0"/>
              <a:t>Customer orders :</a:t>
            </a:r>
          </a:p>
        </p:txBody>
      </p:sp>
      <p:sp>
        <p:nvSpPr>
          <p:cNvPr id="6" name="Titre 2">
            <a:extLst>
              <a:ext uri="{FF2B5EF4-FFF2-40B4-BE49-F238E27FC236}">
                <a16:creationId xmlns:a16="http://schemas.microsoft.com/office/drawing/2014/main" id="{19E1B44D-0697-DD6A-8CAD-B945FE04F16B}"/>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spTree>
    <p:extLst>
      <p:ext uri="{BB962C8B-B14F-4D97-AF65-F5344CB8AC3E}">
        <p14:creationId xmlns:p14="http://schemas.microsoft.com/office/powerpoint/2010/main" val="3827071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0640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683" lvl="1" indent="-342900" algn="just">
              <a:buFont typeface="+mj-lt"/>
              <a:buAutoNum type="alphaLcParenR" startAt="2"/>
            </a:pPr>
            <a:r>
              <a:rPr lang="en-US" b="1" noProof="0" dirty="0"/>
              <a:t>Fields change</a:t>
            </a:r>
          </a:p>
          <a:p>
            <a:pPr algn="just"/>
            <a:r>
              <a:rPr lang="en-US" noProof="0" dirty="0"/>
              <a:t>When changing the following fields, the assignments will be deallocated:</a:t>
            </a:r>
          </a:p>
          <a:p>
            <a:pPr algn="just"/>
            <a:endParaRPr lang="en-US" noProof="0" dirty="0"/>
          </a:p>
          <a:p>
            <a:pPr marL="285750" indent="-285750" algn="just">
              <a:buFont typeface="Arial" panose="020B0604020202020204" pitchFamily="34" charset="0"/>
              <a:buChar char="•"/>
            </a:pPr>
            <a:r>
              <a:rPr lang="en-US" noProof="0" dirty="0"/>
              <a:t>Storage Location</a:t>
            </a:r>
          </a:p>
          <a:p>
            <a:pPr marL="285750" indent="-285750" algn="just">
              <a:buFont typeface="Arial" panose="020B0604020202020204" pitchFamily="34" charset="0"/>
              <a:buChar char="•"/>
            </a:pPr>
            <a:r>
              <a:rPr lang="en-US" noProof="0" dirty="0"/>
              <a:t>Requirement Category (other than authorized by coverage strategy)</a:t>
            </a:r>
          </a:p>
          <a:p>
            <a:pPr algn="just"/>
            <a:endParaRPr lang="en-US" noProof="0" dirty="0"/>
          </a:p>
          <a:p>
            <a:pPr marL="1028683" lvl="1" indent="-342900" algn="just">
              <a:buFont typeface="+mj-lt"/>
              <a:buAutoNum type="alphaLcParenR" startAt="3"/>
            </a:pPr>
            <a:r>
              <a:rPr lang="en-US" b="1" noProof="0" dirty="0"/>
              <a:t>Quantity change</a:t>
            </a:r>
            <a:endParaRPr lang="en-US" noProof="0" dirty="0"/>
          </a:p>
          <a:p>
            <a:pPr algn="just"/>
            <a:r>
              <a:rPr lang="en-US" noProof="0" dirty="0"/>
              <a:t>In case of a quantity change with no other change in the sales order:</a:t>
            </a:r>
          </a:p>
          <a:p>
            <a:pPr algn="just"/>
            <a:endParaRPr lang="en-US" noProof="0" dirty="0"/>
          </a:p>
          <a:p>
            <a:pPr marL="285750" indent="-285750" algn="just">
              <a:buFont typeface="Arial" panose="020B0604020202020204" pitchFamily="34" charset="0"/>
              <a:buChar char="•"/>
            </a:pPr>
            <a:r>
              <a:rPr lang="en-US" noProof="0" dirty="0"/>
              <a:t>Quantity Decrease:</a:t>
            </a:r>
          </a:p>
          <a:p>
            <a:pPr marL="971533" lvl="1" indent="-285750" algn="just"/>
            <a:r>
              <a:rPr lang="en-US" noProof="0" dirty="0"/>
              <a:t>existing allocation is dropped on the reduced quantity; you will get a warning message:</a:t>
            </a:r>
          </a:p>
          <a:p>
            <a:pPr marL="971533" lvl="1" indent="-285750" algn="just"/>
            <a:r>
              <a:rPr lang="en-US" noProof="0" dirty="0"/>
              <a:t>and kept as is on the remaining quantity.</a:t>
            </a:r>
          </a:p>
          <a:p>
            <a:pPr marL="971533" lvl="1" indent="-285750" algn="just"/>
            <a:endParaRPr lang="en-US" noProof="0" dirty="0"/>
          </a:p>
          <a:p>
            <a:pPr marL="285750" indent="-285750" algn="just">
              <a:buFont typeface="Arial" panose="020B0604020202020204" pitchFamily="34" charset="0"/>
              <a:buChar char="•"/>
            </a:pPr>
            <a:r>
              <a:rPr lang="en-US" noProof="0" dirty="0"/>
              <a:t>Quantity Increase: </a:t>
            </a:r>
          </a:p>
          <a:p>
            <a:pPr marL="971533" lvl="1" indent="-285750" algn="just"/>
            <a:r>
              <a:rPr lang="en-US" noProof="0" dirty="0"/>
              <a:t>allocation is kept for the existing quantity,</a:t>
            </a:r>
          </a:p>
          <a:p>
            <a:pPr marL="971533" lvl="1" indent="-285750" algn="just"/>
            <a:r>
              <a:rPr lang="en-US" noProof="0" dirty="0"/>
              <a:t>the increased quantity either goes to Temporary assigned if open supply exists before it is reserved during next </a:t>
            </a:r>
            <a:r>
              <a:rPr lang="en-US" noProof="0" dirty="0" err="1"/>
              <a:t>ARun</a:t>
            </a:r>
            <a:r>
              <a:rPr lang="en-US" noProof="0" dirty="0"/>
              <a:t>, or goes to Blocked requirements if no supply is available until new supply can cover it.</a:t>
            </a:r>
          </a:p>
          <a:p>
            <a:pPr algn="just"/>
            <a:endParaRPr lang="en-US" noProof="0" dirty="0"/>
          </a:p>
          <a:p>
            <a:pPr marL="285750" indent="-285750">
              <a:buFontTx/>
              <a:buChar char="-"/>
            </a:pPr>
            <a:endParaRPr lang="en-US" noProof="0" dirty="0"/>
          </a:p>
        </p:txBody>
      </p:sp>
      <p:pic>
        <p:nvPicPr>
          <p:cNvPr id="5" name="Image 4">
            <a:extLst>
              <a:ext uri="{FF2B5EF4-FFF2-40B4-BE49-F238E27FC236}">
                <a16:creationId xmlns:a16="http://schemas.microsoft.com/office/drawing/2014/main" id="{E95FCCB1-10FD-41B4-BFBE-D38A662D1D3A}"/>
              </a:ext>
            </a:extLst>
          </p:cNvPr>
          <p:cNvPicPr>
            <a:picLocks noChangeAspect="1"/>
          </p:cNvPicPr>
          <p:nvPr/>
        </p:nvPicPr>
        <p:blipFill>
          <a:blip r:embed="rId2"/>
          <a:stretch>
            <a:fillRect/>
          </a:stretch>
        </p:blipFill>
        <p:spPr>
          <a:xfrm>
            <a:off x="8677275" y="4016144"/>
            <a:ext cx="2248095" cy="274344"/>
          </a:xfrm>
          <a:prstGeom prst="rect">
            <a:avLst/>
          </a:prstGeom>
        </p:spPr>
      </p:pic>
      <p:sp>
        <p:nvSpPr>
          <p:cNvPr id="7" name="Titre 2">
            <a:extLst>
              <a:ext uri="{FF2B5EF4-FFF2-40B4-BE49-F238E27FC236}">
                <a16:creationId xmlns:a16="http://schemas.microsoft.com/office/drawing/2014/main" id="{60E5F642-533A-382C-70D5-CD62D9B56F34}"/>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spTree>
    <p:extLst>
      <p:ext uri="{BB962C8B-B14F-4D97-AF65-F5344CB8AC3E}">
        <p14:creationId xmlns:p14="http://schemas.microsoft.com/office/powerpoint/2010/main" val="391058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a:xfrm>
            <a:off x="838200" y="1102180"/>
            <a:ext cx="10515600" cy="5095420"/>
          </a:xfrm>
        </p:spPr>
        <p:txBody>
          <a:bodyPr/>
          <a:lstStyle/>
          <a:p>
            <a:pPr marL="342900" indent="-342900">
              <a:buFont typeface="+mj-lt"/>
              <a:buAutoNum type="arabicParenR" startAt="4"/>
            </a:pPr>
            <a:r>
              <a:rPr lang="en-US" b="1" noProof="0" dirty="0"/>
              <a:t>Stock deallocation sorting Rule</a:t>
            </a:r>
          </a:p>
          <a:p>
            <a:endParaRPr lang="en-US" sz="300" noProof="0" dirty="0"/>
          </a:p>
          <a:p>
            <a:r>
              <a:rPr lang="en-US" noProof="0" dirty="0"/>
              <a:t>i.e. Initial sales order SKU qty is 100, you decrease it to 60, then 40 </a:t>
            </a:r>
            <a:r>
              <a:rPr lang="en-US" noProof="0" dirty="0" err="1"/>
              <a:t>ea</a:t>
            </a:r>
            <a:r>
              <a:rPr lang="en-US" noProof="0" dirty="0"/>
              <a:t> are deallocated. Those 40 </a:t>
            </a:r>
            <a:r>
              <a:rPr lang="en-US" noProof="0" dirty="0" err="1"/>
              <a:t>ea</a:t>
            </a:r>
            <a:r>
              <a:rPr lang="en-US" noProof="0" dirty="0"/>
              <a:t> were initially assigned to several stock types, within those Batch stock but also several PO/IBD documents.</a:t>
            </a:r>
          </a:p>
          <a:p>
            <a:r>
              <a:rPr lang="en-US" noProof="0" dirty="0"/>
              <a:t>You need then to define how the system sorts assigned Stock when performing deallocations by selecting the sort check fields, giving them a priority, and by detailing their values when it is relevant and sorting those.</a:t>
            </a:r>
          </a:p>
          <a:p>
            <a:endParaRPr lang="en-US" noProof="0" dirty="0"/>
          </a:p>
          <a:p>
            <a:r>
              <a:rPr lang="en-US" noProof="0" dirty="0"/>
              <a:t>The following stock deallocation sorting rule has been applied to all sales order types for SO Changes :</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noProof="0" dirty="0"/>
              <a:t>For i.e. Rush orders will only consider Batch stock for deallocation since no other stock type can be initially allocated on those orders. But the other criteria are still valid.</a:t>
            </a:r>
          </a:p>
        </p:txBody>
      </p:sp>
      <p:sp>
        <p:nvSpPr>
          <p:cNvPr id="7" name="Titre 2">
            <a:extLst>
              <a:ext uri="{FF2B5EF4-FFF2-40B4-BE49-F238E27FC236}">
                <a16:creationId xmlns:a16="http://schemas.microsoft.com/office/drawing/2014/main" id="{02A85DD1-A0C5-1B0E-3F3B-6FEB58D62481}"/>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Sales Order changes</a:t>
            </a:r>
          </a:p>
        </p:txBody>
      </p:sp>
      <p:pic>
        <p:nvPicPr>
          <p:cNvPr id="9" name="Image 8">
            <a:extLst>
              <a:ext uri="{FF2B5EF4-FFF2-40B4-BE49-F238E27FC236}">
                <a16:creationId xmlns:a16="http://schemas.microsoft.com/office/drawing/2014/main" id="{6AA898DB-1E7E-AC32-FF1F-426C6F0B0C36}"/>
              </a:ext>
            </a:extLst>
          </p:cNvPr>
          <p:cNvPicPr>
            <a:picLocks noChangeAspect="1"/>
          </p:cNvPicPr>
          <p:nvPr/>
        </p:nvPicPr>
        <p:blipFill>
          <a:blip r:embed="rId2"/>
          <a:stretch>
            <a:fillRect/>
          </a:stretch>
        </p:blipFill>
        <p:spPr>
          <a:xfrm>
            <a:off x="2741814" y="3426686"/>
            <a:ext cx="6708371" cy="1512916"/>
          </a:xfrm>
          <a:prstGeom prst="rect">
            <a:avLst/>
          </a:prstGeom>
        </p:spPr>
      </p:pic>
    </p:spTree>
    <p:extLst>
      <p:ext uri="{BB962C8B-B14F-4D97-AF65-F5344CB8AC3E}">
        <p14:creationId xmlns:p14="http://schemas.microsoft.com/office/powerpoint/2010/main" val="32023225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p:txBody>
          <a:bodyPr/>
          <a:lstStyle/>
          <a:p>
            <a:pPr marL="342900" indent="-342900">
              <a:buFont typeface="+mj-lt"/>
              <a:buAutoNum type="arabicParenR"/>
            </a:pPr>
            <a:r>
              <a:rPr lang="en-US" b="1" noProof="0" dirty="0"/>
              <a:t>Standard automatic deallocation</a:t>
            </a:r>
          </a:p>
          <a:p>
            <a:endParaRPr lang="en-US" noProof="0" dirty="0"/>
          </a:p>
          <a:p>
            <a:r>
              <a:rPr lang="en-US" noProof="0" dirty="0"/>
              <a:t>Whenever a change is made to a:</a:t>
            </a:r>
          </a:p>
          <a:p>
            <a:pPr marL="971533" lvl="1" indent="-285750"/>
            <a:r>
              <a:rPr lang="en-US" sz="1400" b="1" noProof="0" dirty="0"/>
              <a:t>Material</a:t>
            </a:r>
            <a:r>
              <a:rPr lang="en-US" sz="1400" noProof="0" dirty="0"/>
              <a:t>,</a:t>
            </a:r>
          </a:p>
          <a:p>
            <a:pPr marL="971533" lvl="1" indent="-285750"/>
            <a:r>
              <a:rPr lang="en-US" sz="1400" b="1" noProof="0" dirty="0"/>
              <a:t>Size</a:t>
            </a:r>
            <a:r>
              <a:rPr lang="en-US" sz="1400" noProof="0" dirty="0"/>
              <a:t> </a:t>
            </a:r>
          </a:p>
          <a:p>
            <a:r>
              <a:rPr lang="en-US" noProof="0" dirty="0"/>
              <a:t>Or the </a:t>
            </a:r>
            <a:r>
              <a:rPr lang="en-US" b="1" noProof="0" dirty="0"/>
              <a:t>deletion</a:t>
            </a:r>
            <a:r>
              <a:rPr lang="en-US" noProof="0" dirty="0"/>
              <a:t> of a material or a schedule line is done in a Purchase Order or Inbound Delivery, the corresponding assignments will be </a:t>
            </a:r>
            <a:r>
              <a:rPr lang="en-US" b="1" noProof="0" dirty="0"/>
              <a:t>completely deallocated</a:t>
            </a:r>
            <a:r>
              <a:rPr lang="en-US" noProof="0" dirty="0"/>
              <a:t>.</a:t>
            </a:r>
          </a:p>
          <a:p>
            <a:endParaRPr lang="en-US" noProof="0" dirty="0"/>
          </a:p>
          <a:p>
            <a:endParaRPr lang="en-US" noProof="0" dirty="0"/>
          </a:p>
          <a:p>
            <a:pPr marL="342900" indent="-342900">
              <a:buFont typeface="+mj-lt"/>
              <a:buAutoNum type="arabicParenR" startAt="2"/>
            </a:pPr>
            <a:r>
              <a:rPr lang="en-US" b="1" noProof="0" dirty="0"/>
              <a:t>Customizable automatic deallocation</a:t>
            </a:r>
          </a:p>
          <a:p>
            <a:endParaRPr lang="en-US" noProof="0" dirty="0"/>
          </a:p>
          <a:p>
            <a:r>
              <a:rPr lang="en-US" noProof="0" dirty="0"/>
              <a:t>Requirements deallocation rules and sorting are assigned to </a:t>
            </a:r>
            <a:r>
              <a:rPr lang="en-US" b="1" noProof="0" dirty="0"/>
              <a:t>Plant</a:t>
            </a:r>
            <a:r>
              <a:rPr lang="en-US" noProof="0" dirty="0"/>
              <a:t>.</a:t>
            </a:r>
          </a:p>
          <a:p>
            <a:r>
              <a:rPr lang="en-US" noProof="0" dirty="0"/>
              <a:t>All allocable plants are assigned with the same Requirements deallocation rule when PO or IBD are changed.</a:t>
            </a:r>
          </a:p>
          <a:p>
            <a:endParaRPr lang="en-US" noProof="0" dirty="0"/>
          </a:p>
          <a:p>
            <a:endParaRPr lang="en-US" noProof="0" dirty="0"/>
          </a:p>
          <a:p>
            <a:endParaRPr lang="en-US" noProof="0" dirty="0"/>
          </a:p>
          <a:p>
            <a:endParaRPr lang="en-US" noProof="0" dirty="0"/>
          </a:p>
          <a:p>
            <a:endParaRPr lang="en-US" noProof="0" dirty="0"/>
          </a:p>
          <a:p>
            <a:endParaRPr lang="en-US" noProof="0" dirty="0"/>
          </a:p>
        </p:txBody>
      </p:sp>
      <p:sp>
        <p:nvSpPr>
          <p:cNvPr id="7" name="Titre 2">
            <a:extLst>
              <a:ext uri="{FF2B5EF4-FFF2-40B4-BE49-F238E27FC236}">
                <a16:creationId xmlns:a16="http://schemas.microsoft.com/office/drawing/2014/main" id="{D2290B7E-D49E-4B09-685B-50F135435451}"/>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spTree>
    <p:extLst>
      <p:ext uri="{BB962C8B-B14F-4D97-AF65-F5344CB8AC3E}">
        <p14:creationId xmlns:p14="http://schemas.microsoft.com/office/powerpoint/2010/main" val="29320562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p:txBody>
          <a:bodyPr/>
          <a:lstStyle/>
          <a:p>
            <a:r>
              <a:rPr lang="en-US" noProof="0" dirty="0"/>
              <a:t>EMEA Allocatable/</a:t>
            </a:r>
            <a:r>
              <a:rPr lang="en-US" noProof="0" dirty="0" err="1"/>
              <a:t>Deallocable</a:t>
            </a:r>
            <a:r>
              <a:rPr lang="en-US" noProof="0" dirty="0"/>
              <a:t> </a:t>
            </a:r>
            <a:r>
              <a:rPr lang="en-US" b="1" noProof="0" dirty="0"/>
              <a:t>Plants:</a:t>
            </a:r>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p:txBody>
      </p:sp>
      <p:pic>
        <p:nvPicPr>
          <p:cNvPr id="5" name="Image 4">
            <a:extLst>
              <a:ext uri="{FF2B5EF4-FFF2-40B4-BE49-F238E27FC236}">
                <a16:creationId xmlns:a16="http://schemas.microsoft.com/office/drawing/2014/main" id="{866BA3CD-C34E-4EAC-8557-E9DBC9AE04AE}"/>
              </a:ext>
            </a:extLst>
          </p:cNvPr>
          <p:cNvPicPr>
            <a:picLocks noChangeAspect="1"/>
          </p:cNvPicPr>
          <p:nvPr/>
        </p:nvPicPr>
        <p:blipFill>
          <a:blip r:embed="rId2"/>
          <a:stretch>
            <a:fillRect/>
          </a:stretch>
        </p:blipFill>
        <p:spPr>
          <a:xfrm>
            <a:off x="4791675" y="1682600"/>
            <a:ext cx="2608650" cy="3492800"/>
          </a:xfrm>
          <a:prstGeom prst="rect">
            <a:avLst/>
          </a:prstGeom>
        </p:spPr>
      </p:pic>
      <p:sp>
        <p:nvSpPr>
          <p:cNvPr id="8" name="Titre 2">
            <a:extLst>
              <a:ext uri="{FF2B5EF4-FFF2-40B4-BE49-F238E27FC236}">
                <a16:creationId xmlns:a16="http://schemas.microsoft.com/office/drawing/2014/main" id="{FAB9FFBA-EE36-22D6-055E-7F08F0B76F54}"/>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spTree>
    <p:extLst>
      <p:ext uri="{BB962C8B-B14F-4D97-AF65-F5344CB8AC3E}">
        <p14:creationId xmlns:p14="http://schemas.microsoft.com/office/powerpoint/2010/main" val="3147521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arenR" startAt="3"/>
            </a:pPr>
            <a:r>
              <a:rPr lang="en-US" b="1" noProof="0" dirty="0"/>
              <a:t>Deallocation rule</a:t>
            </a:r>
          </a:p>
          <a:p>
            <a:pPr marL="1028683" lvl="1" indent="-342900" algn="just">
              <a:buFont typeface="+mj-lt"/>
              <a:buAutoNum type="alphaLcPeriod" startAt="3"/>
            </a:pPr>
            <a:endParaRPr lang="en-US" b="1" noProof="0" dirty="0"/>
          </a:p>
          <a:p>
            <a:pPr marL="914383" lvl="1" indent="-228600" algn="just">
              <a:buFont typeface="+mj-lt"/>
              <a:buAutoNum type="alphaLcParenR"/>
            </a:pPr>
            <a:r>
              <a:rPr lang="en-US" b="1" noProof="0" dirty="0"/>
              <a:t>Schedule Line Delivery Date</a:t>
            </a:r>
          </a:p>
          <a:p>
            <a:pPr algn="just"/>
            <a:endParaRPr lang="en-US" noProof="0" dirty="0"/>
          </a:p>
          <a:p>
            <a:pPr algn="just"/>
            <a:r>
              <a:rPr lang="en-US" noProof="0" dirty="0"/>
              <a:t>When changing a Schedule Line PO/IBD delivery date, Stock/Requirements assignments deallocation will be based on:</a:t>
            </a:r>
          </a:p>
          <a:p>
            <a:endParaRPr lang="en-US" b="1" noProof="0" dirty="0"/>
          </a:p>
          <a:p>
            <a:pPr marL="285750" indent="-285750">
              <a:buFont typeface="Arial" panose="020B0604020202020204" pitchFamily="34" charset="0"/>
              <a:buChar char="•"/>
            </a:pPr>
            <a:r>
              <a:rPr lang="en-US" noProof="0" dirty="0"/>
              <a:t>New PO Goods Receipt Date at Schedule Line = Delivery date + GR processing time = Delivery date + 5 working days</a:t>
            </a:r>
          </a:p>
          <a:p>
            <a:pPr marL="285750" indent="-285750">
              <a:buFont typeface="Arial" panose="020B0604020202020204" pitchFamily="34" charset="0"/>
              <a:buChar char="•"/>
            </a:pPr>
            <a:endParaRPr lang="en-US" noProof="0" dirty="0"/>
          </a:p>
          <a:p>
            <a:r>
              <a:rPr lang="en-US" noProof="0" dirty="0"/>
              <a:t>And the stock validity period vs the assigned requirements:</a:t>
            </a:r>
          </a:p>
          <a:p>
            <a:endParaRPr lang="en-US" noProof="0" dirty="0"/>
          </a:p>
          <a:p>
            <a:pPr marL="285750" indent="-285750">
              <a:buFont typeface="Arial" panose="020B0604020202020204" pitchFamily="34" charset="0"/>
              <a:buChar char="•"/>
            </a:pPr>
            <a:r>
              <a:rPr lang="en-US" noProof="0" dirty="0"/>
              <a:t>Stock validity period (Inbound Del. or PO) = From/To number of days added to the Req. </a:t>
            </a:r>
            <a:r>
              <a:rPr lang="en-US" noProof="0" dirty="0" err="1"/>
              <a:t>SchLine</a:t>
            </a:r>
            <a:r>
              <a:rPr lang="en-US" noProof="0" dirty="0"/>
              <a:t> MAD</a:t>
            </a:r>
          </a:p>
          <a:p>
            <a:pPr lvl="1" indent="0">
              <a:buNone/>
            </a:pPr>
            <a:r>
              <a:rPr lang="en-US" noProof="0" dirty="0"/>
              <a:t>-&gt; if the new « Goods Receipt Date » still meets this interval then the allocation remains, otherwise it is deallocated.</a:t>
            </a:r>
          </a:p>
          <a:p>
            <a:endParaRPr lang="en-US" noProof="0" dirty="0"/>
          </a:p>
          <a:p>
            <a:pPr marL="285750" indent="-285750">
              <a:buFontTx/>
              <a:buChar char="-"/>
            </a:pPr>
            <a:endParaRPr lang="en-US" noProof="0" dirty="0"/>
          </a:p>
        </p:txBody>
      </p:sp>
      <p:sp>
        <p:nvSpPr>
          <p:cNvPr id="6" name="Titre 2">
            <a:extLst>
              <a:ext uri="{FF2B5EF4-FFF2-40B4-BE49-F238E27FC236}">
                <a16:creationId xmlns:a16="http://schemas.microsoft.com/office/drawing/2014/main" id="{04F28833-94B2-AF46-EB16-D8E5D9CA903B}"/>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spTree>
    <p:extLst>
      <p:ext uri="{BB962C8B-B14F-4D97-AF65-F5344CB8AC3E}">
        <p14:creationId xmlns:p14="http://schemas.microsoft.com/office/powerpoint/2010/main" val="11557372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200" y="1102180"/>
            <a:ext cx="10515600"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noProof="0" dirty="0"/>
              <a:t>Stock types assignment horizon validity at PO/IBD Delivery date change:</a:t>
            </a:r>
          </a:p>
        </p:txBody>
      </p:sp>
      <p:pic>
        <p:nvPicPr>
          <p:cNvPr id="6" name="Image 5">
            <a:extLst>
              <a:ext uri="{FF2B5EF4-FFF2-40B4-BE49-F238E27FC236}">
                <a16:creationId xmlns:a16="http://schemas.microsoft.com/office/drawing/2014/main" id="{C6773AF8-E202-4FCC-A700-0AE2F4C49E7D}"/>
              </a:ext>
            </a:extLst>
          </p:cNvPr>
          <p:cNvPicPr>
            <a:picLocks noChangeAspect="1"/>
          </p:cNvPicPr>
          <p:nvPr/>
        </p:nvPicPr>
        <p:blipFill>
          <a:blip r:embed="rId2"/>
          <a:stretch>
            <a:fillRect/>
          </a:stretch>
        </p:blipFill>
        <p:spPr>
          <a:xfrm>
            <a:off x="3490549" y="1791082"/>
            <a:ext cx="5210902" cy="981212"/>
          </a:xfrm>
          <a:prstGeom prst="rect">
            <a:avLst/>
          </a:prstGeom>
        </p:spPr>
      </p:pic>
      <p:pic>
        <p:nvPicPr>
          <p:cNvPr id="7" name="Image 6">
            <a:extLst>
              <a:ext uri="{FF2B5EF4-FFF2-40B4-BE49-F238E27FC236}">
                <a16:creationId xmlns:a16="http://schemas.microsoft.com/office/drawing/2014/main" id="{E8F3BFC4-C0AB-462E-B08E-F0C4965FFB28}"/>
              </a:ext>
            </a:extLst>
          </p:cNvPr>
          <p:cNvPicPr>
            <a:picLocks noChangeAspect="1"/>
          </p:cNvPicPr>
          <p:nvPr/>
        </p:nvPicPr>
        <p:blipFill>
          <a:blip r:embed="rId3"/>
          <a:stretch>
            <a:fillRect/>
          </a:stretch>
        </p:blipFill>
        <p:spPr>
          <a:xfrm>
            <a:off x="0" y="3473513"/>
            <a:ext cx="12192000" cy="2084825"/>
          </a:xfrm>
          <a:prstGeom prst="rect">
            <a:avLst/>
          </a:prstGeom>
        </p:spPr>
      </p:pic>
      <p:sp>
        <p:nvSpPr>
          <p:cNvPr id="8" name="Titre 2">
            <a:extLst>
              <a:ext uri="{FF2B5EF4-FFF2-40B4-BE49-F238E27FC236}">
                <a16:creationId xmlns:a16="http://schemas.microsoft.com/office/drawing/2014/main" id="{5C3C51D3-70C9-1538-6805-0C519C65E964}"/>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spTree>
    <p:extLst>
      <p:ext uri="{BB962C8B-B14F-4D97-AF65-F5344CB8AC3E}">
        <p14:creationId xmlns:p14="http://schemas.microsoft.com/office/powerpoint/2010/main" val="9072792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073605"/>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683" lvl="1" indent="-342900" algn="just">
              <a:buFont typeface="+mj-lt"/>
              <a:buAutoNum type="alphaLcParenR" startAt="2"/>
            </a:pPr>
            <a:r>
              <a:rPr lang="en-US" b="1" noProof="0" dirty="0"/>
              <a:t>Fields change</a:t>
            </a:r>
          </a:p>
          <a:p>
            <a:pPr algn="just"/>
            <a:endParaRPr lang="en-US" noProof="0" dirty="0"/>
          </a:p>
          <a:p>
            <a:pPr algn="just"/>
            <a:r>
              <a:rPr lang="en-US" noProof="0" dirty="0"/>
              <a:t>When changing the following fields, the assignments will be deallocated:</a:t>
            </a:r>
          </a:p>
          <a:p>
            <a:pPr algn="just"/>
            <a:endParaRPr lang="en-US" noProof="0" dirty="0"/>
          </a:p>
          <a:p>
            <a:pPr marL="285750" indent="-285750" algn="just">
              <a:buFont typeface="Arial" panose="020B0604020202020204" pitchFamily="34" charset="0"/>
              <a:buChar char="•"/>
            </a:pPr>
            <a:r>
              <a:rPr lang="en-US" noProof="0" dirty="0"/>
              <a:t>Storage Location</a:t>
            </a:r>
          </a:p>
          <a:p>
            <a:pPr marL="285750" indent="-285750" algn="just">
              <a:buFont typeface="Arial" panose="020B0604020202020204" pitchFamily="34" charset="0"/>
              <a:buChar char="•"/>
            </a:pPr>
            <a:r>
              <a:rPr lang="en-US" noProof="0" dirty="0"/>
              <a:t>Stock Category (other than authorized by coverage strategy)</a:t>
            </a:r>
          </a:p>
          <a:p>
            <a:pPr marL="285750" indent="-285750" algn="just">
              <a:buFont typeface="Arial" panose="020B0604020202020204" pitchFamily="34" charset="0"/>
              <a:buChar char="•"/>
            </a:pPr>
            <a:r>
              <a:rPr lang="en-US" noProof="0" dirty="0"/>
              <a:t>Delivery Complete Indicator</a:t>
            </a:r>
          </a:p>
          <a:p>
            <a:pPr algn="just"/>
            <a:endParaRPr lang="en-US" noProof="0" dirty="0"/>
          </a:p>
          <a:p>
            <a:pPr marL="1028683" lvl="1" indent="-342900" algn="just">
              <a:buFont typeface="+mj-lt"/>
              <a:buAutoNum type="alphaLcParenR" startAt="3"/>
            </a:pPr>
            <a:r>
              <a:rPr lang="en-US" b="1" noProof="0" dirty="0"/>
              <a:t>Quantity change on PO</a:t>
            </a:r>
            <a:endParaRPr lang="en-US" noProof="0" dirty="0"/>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Quantity Decrease:</a:t>
            </a:r>
          </a:p>
          <a:p>
            <a:pPr marL="971533" lvl="1" indent="-285750" algn="just"/>
            <a:r>
              <a:rPr lang="en-US" noProof="0" dirty="0"/>
              <a:t>existing allocation is dropped on the reduced quantity only,</a:t>
            </a:r>
          </a:p>
          <a:p>
            <a:pPr marL="971533" lvl="1" indent="-285750" algn="just"/>
            <a:r>
              <a:rPr lang="en-US" noProof="0" dirty="0"/>
              <a:t>kept as is on the remaining quantity.</a:t>
            </a:r>
          </a:p>
          <a:p>
            <a:pPr marL="971533" lvl="1" indent="-285750" algn="just"/>
            <a:endParaRPr lang="en-US" noProof="0" dirty="0"/>
          </a:p>
          <a:p>
            <a:pPr marL="285750" indent="-285750" algn="just">
              <a:buFont typeface="Arial" panose="020B0604020202020204" pitchFamily="34" charset="0"/>
              <a:buChar char="•"/>
            </a:pPr>
            <a:r>
              <a:rPr lang="en-US" noProof="0" dirty="0"/>
              <a:t>Quantity Increase: </a:t>
            </a:r>
          </a:p>
          <a:p>
            <a:pPr marL="971533" lvl="1" indent="-285750" algn="just"/>
            <a:r>
              <a:rPr lang="en-US" noProof="0" dirty="0"/>
              <a:t>allocation is kept for the existing quantity,</a:t>
            </a:r>
          </a:p>
          <a:p>
            <a:pPr marL="971533" lvl="1" indent="-285750" algn="just"/>
            <a:r>
              <a:rPr lang="en-US" noProof="0" dirty="0"/>
              <a:t>the increased quantity either goes to Temporary assigned if open requirements exist before it is reserved during next Arun, or goes to Available Stock if no requirement is open until requirements are created.</a:t>
            </a:r>
          </a:p>
          <a:p>
            <a:pPr algn="just"/>
            <a:endParaRPr lang="en-US" noProof="0" dirty="0"/>
          </a:p>
          <a:p>
            <a:pPr marL="285750" indent="-285750">
              <a:buFontTx/>
              <a:buChar char="-"/>
            </a:pPr>
            <a:endParaRPr lang="en-US" noProof="0" dirty="0"/>
          </a:p>
        </p:txBody>
      </p:sp>
      <p:sp>
        <p:nvSpPr>
          <p:cNvPr id="6" name="Titre 2">
            <a:extLst>
              <a:ext uri="{FF2B5EF4-FFF2-40B4-BE49-F238E27FC236}">
                <a16:creationId xmlns:a16="http://schemas.microsoft.com/office/drawing/2014/main" id="{672A8633-FA65-2A05-F177-48F539DCDA5F}"/>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spTree>
    <p:extLst>
      <p:ext uri="{BB962C8B-B14F-4D97-AF65-F5344CB8AC3E}">
        <p14:creationId xmlns:p14="http://schemas.microsoft.com/office/powerpoint/2010/main" val="11044261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073605"/>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683" lvl="1" indent="-342900" algn="just">
              <a:buFont typeface="+mj-lt"/>
              <a:buAutoNum type="alphaLcParenR" startAt="4"/>
            </a:pPr>
            <a:r>
              <a:rPr lang="en-US" b="1" noProof="0" dirty="0"/>
              <a:t>Quantity change on IBD</a:t>
            </a:r>
            <a:endParaRPr lang="en-US" noProof="0" dirty="0"/>
          </a:p>
          <a:p>
            <a:pPr marL="285750" indent="-285750" algn="just">
              <a:buFont typeface="Arial" panose="020B0604020202020204" pitchFamily="34" charset="0"/>
              <a:buChar char="•"/>
            </a:pPr>
            <a:endParaRPr lang="en-US" noProof="0" dirty="0"/>
          </a:p>
          <a:p>
            <a:pPr marL="285750" indent="-285750" algn="just">
              <a:buFont typeface="Arial" panose="020B0604020202020204" pitchFamily="34" charset="0"/>
              <a:buChar char="•"/>
            </a:pPr>
            <a:r>
              <a:rPr lang="en-US" noProof="0" dirty="0"/>
              <a:t>Quantity Decrease:</a:t>
            </a:r>
          </a:p>
          <a:p>
            <a:pPr marL="971533" lvl="1" indent="-285750" algn="just"/>
            <a:r>
              <a:rPr lang="en-US" noProof="0" dirty="0"/>
              <a:t>reduced quantity allocation is not restored to the PO,</a:t>
            </a:r>
          </a:p>
          <a:p>
            <a:pPr marL="971533" lvl="1" indent="-285750" algn="just"/>
            <a:r>
              <a:rPr lang="en-US" noProof="0" dirty="0"/>
              <a:t>existing allocation is dropped on the reduced quantity only,</a:t>
            </a:r>
          </a:p>
          <a:p>
            <a:pPr marL="971533" lvl="1" indent="-285750" algn="just"/>
            <a:r>
              <a:rPr lang="en-US" noProof="0" dirty="0"/>
              <a:t>kept as is on the remaining quantity.</a:t>
            </a:r>
          </a:p>
          <a:p>
            <a:pPr marL="971533" lvl="1" indent="-285750" algn="just"/>
            <a:endParaRPr lang="en-US" noProof="0" dirty="0"/>
          </a:p>
          <a:p>
            <a:pPr marL="285750" indent="-285750" algn="just">
              <a:buFont typeface="Arial" panose="020B0604020202020204" pitchFamily="34" charset="0"/>
              <a:buChar char="•"/>
            </a:pPr>
            <a:r>
              <a:rPr lang="en-US" noProof="0" dirty="0"/>
              <a:t>Quantity Increase: </a:t>
            </a:r>
          </a:p>
          <a:p>
            <a:pPr marL="971533" lvl="1" indent="-285750" algn="just"/>
            <a:r>
              <a:rPr lang="en-US" noProof="0" dirty="0"/>
              <a:t>allocation is kept for the existing quantity,</a:t>
            </a:r>
          </a:p>
          <a:p>
            <a:pPr marL="971533" lvl="1" indent="-285750" algn="just"/>
            <a:r>
              <a:rPr lang="en-US" noProof="0" dirty="0"/>
              <a:t>the increased quantity either goes to Temporary assigned if open requirements exist before it is reserved during next Arun, or goes to Available Stock if no requirement is open until requirements are created.</a:t>
            </a:r>
          </a:p>
          <a:p>
            <a:pPr algn="just"/>
            <a:endParaRPr lang="en-US" noProof="0" dirty="0"/>
          </a:p>
          <a:p>
            <a:pPr marL="285750" indent="-285750">
              <a:buFontTx/>
              <a:buChar char="-"/>
            </a:pPr>
            <a:endParaRPr lang="en-US" noProof="0" dirty="0"/>
          </a:p>
        </p:txBody>
      </p:sp>
      <p:sp>
        <p:nvSpPr>
          <p:cNvPr id="6" name="Titre 2">
            <a:extLst>
              <a:ext uri="{FF2B5EF4-FFF2-40B4-BE49-F238E27FC236}">
                <a16:creationId xmlns:a16="http://schemas.microsoft.com/office/drawing/2014/main" id="{CD5338EE-4427-C1F8-93DA-2116F74706E9}"/>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spTree>
    <p:extLst>
      <p:ext uri="{BB962C8B-B14F-4D97-AF65-F5344CB8AC3E}">
        <p14:creationId xmlns:p14="http://schemas.microsoft.com/office/powerpoint/2010/main" val="2206936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a:xfrm>
            <a:off x="838200" y="1102180"/>
            <a:ext cx="10515600" cy="5095420"/>
          </a:xfrm>
        </p:spPr>
        <p:txBody>
          <a:bodyPr/>
          <a:lstStyle/>
          <a:p>
            <a:pPr marL="342900" indent="-342900">
              <a:buFont typeface="+mj-lt"/>
              <a:buAutoNum type="arabicParenR" startAt="4"/>
            </a:pPr>
            <a:r>
              <a:rPr lang="en-US" b="1" noProof="0" dirty="0"/>
              <a:t>Requirements deallocation sorting Rule</a:t>
            </a:r>
          </a:p>
          <a:p>
            <a:endParaRPr lang="en-US" sz="300" noProof="0" dirty="0"/>
          </a:p>
          <a:p>
            <a:r>
              <a:rPr lang="en-US" noProof="0" dirty="0"/>
              <a:t>i.e. Initial PO SKU qty is 400, you decrease it to 250, then 150 </a:t>
            </a:r>
            <a:r>
              <a:rPr lang="en-US" noProof="0" dirty="0" err="1"/>
              <a:t>ea</a:t>
            </a:r>
            <a:r>
              <a:rPr lang="en-US" noProof="0" dirty="0"/>
              <a:t> are deallocated. Those 150 </a:t>
            </a:r>
            <a:r>
              <a:rPr lang="en-US" noProof="0" dirty="0" err="1"/>
              <a:t>ea</a:t>
            </a:r>
            <a:r>
              <a:rPr lang="en-US" noProof="0" dirty="0"/>
              <a:t> were initially assigned to several Requirements.</a:t>
            </a:r>
          </a:p>
          <a:p>
            <a:r>
              <a:rPr lang="en-US" noProof="0" dirty="0"/>
              <a:t>You need then to define how the system sorts assigned Requirements when performing deallocations by selecting the sort check fields, giving them a priority, and by detailing their values when it is relevant and sorting those.</a:t>
            </a:r>
          </a:p>
          <a:p>
            <a:r>
              <a:rPr lang="en-US" noProof="0" dirty="0"/>
              <a:t>The following requirements deallocation sorting rule has been applied to all allocable plants for PO/IBD changes:</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noProof="0" dirty="0"/>
              <a:t>The purchase order can only be processed when the locked sales order is unlocked. If the quantity is reduced and a sales order cannot be locked, the next sales order will be deallocated.</a:t>
            </a:r>
          </a:p>
          <a:p>
            <a:endParaRPr lang="en-US" noProof="0" dirty="0"/>
          </a:p>
        </p:txBody>
      </p:sp>
      <p:sp>
        <p:nvSpPr>
          <p:cNvPr id="8" name="Titre 2">
            <a:extLst>
              <a:ext uri="{FF2B5EF4-FFF2-40B4-BE49-F238E27FC236}">
                <a16:creationId xmlns:a16="http://schemas.microsoft.com/office/drawing/2014/main" id="{B84CC270-D397-1133-F563-AC9A43E204E1}"/>
              </a:ext>
            </a:extLst>
          </p:cNvPr>
          <p:cNvSpPr>
            <a:spLocks noGrp="1"/>
          </p:cNvSpPr>
          <p:nvPr>
            <p:ph type="title"/>
          </p:nvPr>
        </p:nvSpPr>
        <p:spPr>
          <a:xfrm>
            <a:off x="838200" y="307981"/>
            <a:ext cx="10515600" cy="459468"/>
          </a:xfrm>
        </p:spPr>
        <p:txBody>
          <a:bodyPr/>
          <a:lstStyle/>
          <a:p>
            <a:pPr marL="457200" indent="-457200">
              <a:buFont typeface="+mj-lt"/>
              <a:buAutoNum type="arabicPeriod" startAt="10"/>
            </a:pPr>
            <a:r>
              <a:rPr lang="en-US" noProof="0" dirty="0"/>
              <a:t> Deallocation Rules : resulting from PO &amp; IBD changes</a:t>
            </a:r>
          </a:p>
        </p:txBody>
      </p:sp>
      <p:graphicFrame>
        <p:nvGraphicFramePr>
          <p:cNvPr id="11" name="Tableau 10">
            <a:extLst>
              <a:ext uri="{FF2B5EF4-FFF2-40B4-BE49-F238E27FC236}">
                <a16:creationId xmlns:a16="http://schemas.microsoft.com/office/drawing/2014/main" id="{55AA73B3-10BE-8002-E2C8-C9107ABE7981}"/>
              </a:ext>
            </a:extLst>
          </p:cNvPr>
          <p:cNvGraphicFramePr>
            <a:graphicFrameLocks noGrp="1"/>
          </p:cNvGraphicFramePr>
          <p:nvPr>
            <p:extLst>
              <p:ext uri="{D42A27DB-BD31-4B8C-83A1-F6EECF244321}">
                <p14:modId xmlns:p14="http://schemas.microsoft.com/office/powerpoint/2010/main" val="466711327"/>
              </p:ext>
            </p:extLst>
          </p:nvPr>
        </p:nvGraphicFramePr>
        <p:xfrm>
          <a:off x="2946400" y="3074522"/>
          <a:ext cx="6299200" cy="2400300"/>
        </p:xfrm>
        <a:graphic>
          <a:graphicData uri="http://schemas.openxmlformats.org/drawingml/2006/table">
            <a:tbl>
              <a:tblPr/>
              <a:tblGrid>
                <a:gridCol w="1574800">
                  <a:extLst>
                    <a:ext uri="{9D8B030D-6E8A-4147-A177-3AD203B41FA5}">
                      <a16:colId xmlns:a16="http://schemas.microsoft.com/office/drawing/2014/main" val="731092238"/>
                    </a:ext>
                  </a:extLst>
                </a:gridCol>
                <a:gridCol w="660400">
                  <a:extLst>
                    <a:ext uri="{9D8B030D-6E8A-4147-A177-3AD203B41FA5}">
                      <a16:colId xmlns:a16="http://schemas.microsoft.com/office/drawing/2014/main" val="1896181939"/>
                    </a:ext>
                  </a:extLst>
                </a:gridCol>
                <a:gridCol w="2349500">
                  <a:extLst>
                    <a:ext uri="{9D8B030D-6E8A-4147-A177-3AD203B41FA5}">
                      <a16:colId xmlns:a16="http://schemas.microsoft.com/office/drawing/2014/main" val="1860938948"/>
                    </a:ext>
                  </a:extLst>
                </a:gridCol>
                <a:gridCol w="711200">
                  <a:extLst>
                    <a:ext uri="{9D8B030D-6E8A-4147-A177-3AD203B41FA5}">
                      <a16:colId xmlns:a16="http://schemas.microsoft.com/office/drawing/2014/main" val="736955601"/>
                    </a:ext>
                  </a:extLst>
                </a:gridCol>
                <a:gridCol w="1003300">
                  <a:extLst>
                    <a:ext uri="{9D8B030D-6E8A-4147-A177-3AD203B41FA5}">
                      <a16:colId xmlns:a16="http://schemas.microsoft.com/office/drawing/2014/main" val="2376965840"/>
                    </a:ext>
                  </a:extLst>
                </a:gridCol>
              </a:tblGrid>
              <a:tr h="133350">
                <a:tc>
                  <a:txBody>
                    <a:bodyPr/>
                    <a:lstStyle/>
                    <a:p>
                      <a:pPr algn="ctr" fontAlgn="ctr">
                        <a:buNone/>
                      </a:pPr>
                      <a:r>
                        <a:rPr lang="en-US" sz="800" b="1" i="0" u="none" strike="noStrike" noProof="0" dirty="0">
                          <a:solidFill>
                            <a:schemeClr val="tx1"/>
                          </a:solidFill>
                          <a:effectLst/>
                          <a:latin typeface="Arial" panose="020B0604020202020204" pitchFamily="34" charset="0"/>
                        </a:rPr>
                        <a:t>Deallocation Sorting fields</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Field Prio#</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Field Values</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Value Prio#</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Values Sort rule</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617831664"/>
                  </a:ext>
                </a:extLst>
              </a:tr>
              <a:tr h="133350">
                <a:tc rowSpan="14">
                  <a:txBody>
                    <a:bodyPr/>
                    <a:lstStyle/>
                    <a:p>
                      <a:pPr algn="l" fontAlgn="t">
                        <a:buNone/>
                      </a:pPr>
                      <a:r>
                        <a:rPr lang="en-US" sz="800" b="0" i="0" u="none" strike="noStrike" noProof="0" dirty="0">
                          <a:solidFill>
                            <a:schemeClr val="tx1"/>
                          </a:solidFill>
                          <a:effectLst/>
                          <a:latin typeface="Arial" panose="020B0604020202020204" pitchFamily="34" charset="0"/>
                        </a:rPr>
                        <a:t>Customer group 1</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4">
                  <a:txBody>
                    <a:bodyPr/>
                    <a:lstStyle/>
                    <a:p>
                      <a:pPr algn="ctr" fontAlgn="t">
                        <a:buNone/>
                      </a:pPr>
                      <a:r>
                        <a:rPr lang="en-US" sz="800" b="0" i="0" u="none" strike="noStrike" noProof="0" dirty="0">
                          <a:solidFill>
                            <a:schemeClr val="tx1"/>
                          </a:solidFill>
                          <a:effectLst/>
                          <a:latin typeface="Arial" panose="020B0604020202020204" pitchFamily="34" charset="0"/>
                        </a:rPr>
                        <a:t>1</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        - Customers w/o CGP1</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14</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4">
                  <a:txBody>
                    <a:bodyPr/>
                    <a:lstStyle/>
                    <a:p>
                      <a:pPr algn="ctr" fontAlgn="ctr">
                        <a:buNone/>
                      </a:pPr>
                      <a:r>
                        <a:rPr lang="en-US" sz="800" b="0" i="0" u="none" strike="noStrike" noProof="0" dirty="0">
                          <a:solidFill>
                            <a:schemeClr val="tx1"/>
                          </a:solidFill>
                          <a:effectLst/>
                          <a:latin typeface="Arial" panose="020B0604020202020204" pitchFamily="34" charset="0"/>
                        </a:rPr>
                        <a:t>Desc.</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4468170"/>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G35 - Clearance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13</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379552002"/>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G30 - Internal</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12</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240788309"/>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G45 - Licensee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11</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091781113"/>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G25 - Promo</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10</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607807731"/>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G40 - B2B</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9</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876553392"/>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G20 - Distributor</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8</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3779371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G05 - Small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7</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48864357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G02 - Franchise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6</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684413634"/>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G01 - Large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5</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63149260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G15 - Key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4</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510167591"/>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G10 - Retail</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3</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683592784"/>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G50 - Marketplace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2</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838739159"/>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G55 - Homesite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81026118"/>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Delivery priority</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2</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numbers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1" u="none" strike="noStrike" noProof="0" dirty="0">
                          <a:solidFill>
                            <a:schemeClr val="tx1"/>
                          </a:solidFill>
                          <a:effectLst/>
                          <a:latin typeface="Arial" panose="020B0604020202020204" pitchFamily="34" charset="0"/>
                        </a:rPr>
                        <a:t>(1 to 7)</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9601351"/>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Material availability date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3</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dates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0" u="none" strike="noStrike" noProof="0" dirty="0">
                          <a:solidFill>
                            <a:schemeClr val="tx1"/>
                          </a:solidFill>
                          <a:effectLst/>
                          <a:latin typeface="Arial" panose="020B0604020202020204" pitchFamily="34" charset="0"/>
                        </a:rPr>
                        <a:t> </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0091050"/>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Allocation Run Number</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4</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numbers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0" u="none" strike="noStrike" noProof="0" dirty="0">
                          <a:solidFill>
                            <a:schemeClr val="tx1"/>
                          </a:solidFill>
                          <a:effectLst/>
                          <a:latin typeface="Arial" panose="020B0604020202020204" pitchFamily="34" charset="0"/>
                        </a:rPr>
                        <a:t> </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4107195"/>
                  </a:ext>
                </a:extLst>
              </a:tr>
            </a:tbl>
          </a:graphicData>
        </a:graphic>
      </p:graphicFrame>
    </p:spTree>
    <p:extLst>
      <p:ext uri="{BB962C8B-B14F-4D97-AF65-F5344CB8AC3E}">
        <p14:creationId xmlns:p14="http://schemas.microsoft.com/office/powerpoint/2010/main" val="175049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p:txBody>
          <a:bodyPr/>
          <a:lstStyle/>
          <a:p>
            <a:pPr marL="342900" indent="-342900">
              <a:buFont typeface="+mj-lt"/>
              <a:buAutoNum type="arabicParenR"/>
            </a:pPr>
            <a:r>
              <a:rPr lang="en-US" b="1" noProof="0" dirty="0"/>
              <a:t>Standard automatic deallocation</a:t>
            </a:r>
          </a:p>
          <a:p>
            <a:endParaRPr lang="en-US" noProof="0" dirty="0"/>
          </a:p>
          <a:p>
            <a:r>
              <a:rPr lang="en-US" noProof="0" dirty="0"/>
              <a:t>There are no standard automatic deallocation.</a:t>
            </a:r>
          </a:p>
          <a:p>
            <a:r>
              <a:rPr lang="en-US" noProof="0" dirty="0"/>
              <a:t>IBD </a:t>
            </a:r>
            <a:r>
              <a:rPr lang="en-US" noProof="0" dirty="0" err="1"/>
              <a:t>Putaway</a:t>
            </a:r>
            <a:r>
              <a:rPr lang="en-US" noProof="0" dirty="0"/>
              <a:t> = delivery quantity, which means the IBD is changed in case of partial delivery or different material receipt, not the GR itself and you have to refer to IBD changes.</a:t>
            </a:r>
          </a:p>
          <a:p>
            <a:r>
              <a:rPr lang="en-US" noProof="0" dirty="0"/>
              <a:t>Unplanned GR movements have no impact on allocated quantities since they add new stock.</a:t>
            </a:r>
          </a:p>
          <a:p>
            <a:endParaRPr lang="en-US" noProof="0" dirty="0"/>
          </a:p>
          <a:p>
            <a:pPr marL="342900" indent="-342900">
              <a:buFont typeface="+mj-lt"/>
              <a:buAutoNum type="arabicParenR" startAt="2"/>
            </a:pPr>
            <a:r>
              <a:rPr lang="en-US" b="1" noProof="0" dirty="0"/>
              <a:t>Customizable automatic deallocation</a:t>
            </a:r>
          </a:p>
          <a:p>
            <a:endParaRPr lang="en-US" noProof="0" dirty="0"/>
          </a:p>
          <a:p>
            <a:r>
              <a:rPr lang="en-US" noProof="0" dirty="0"/>
              <a:t>Requirements deallocation rules and sorting are assigned to </a:t>
            </a:r>
            <a:r>
              <a:rPr lang="en-US" b="1" noProof="0" dirty="0"/>
              <a:t>Plant</a:t>
            </a:r>
            <a:r>
              <a:rPr lang="en-US" noProof="0" dirty="0"/>
              <a:t>.</a:t>
            </a:r>
          </a:p>
          <a:p>
            <a:r>
              <a:rPr lang="en-US" noProof="0" dirty="0"/>
              <a:t>All allocable plants are assigned with the same Requirements deallocation rule </a:t>
            </a:r>
            <a:r>
              <a:rPr lang="en-US" u="sng" noProof="0" dirty="0"/>
              <a:t>at GR movements</a:t>
            </a:r>
            <a:r>
              <a:rPr lang="en-US" noProof="0" dirty="0"/>
              <a:t>.</a:t>
            </a:r>
          </a:p>
          <a:p>
            <a:endParaRPr lang="en-US" noProof="0" dirty="0"/>
          </a:p>
          <a:p>
            <a:endParaRPr lang="en-US" noProof="0" dirty="0"/>
          </a:p>
          <a:p>
            <a:endParaRPr lang="en-US" noProof="0" dirty="0"/>
          </a:p>
          <a:p>
            <a:endParaRPr lang="en-US" noProof="0" dirty="0"/>
          </a:p>
          <a:p>
            <a:endParaRPr lang="en-US" noProof="0" dirty="0"/>
          </a:p>
          <a:p>
            <a:endParaRPr lang="en-US" noProof="0" dirty="0"/>
          </a:p>
        </p:txBody>
      </p:sp>
      <p:sp>
        <p:nvSpPr>
          <p:cNvPr id="7" name="Titre 2">
            <a:extLst>
              <a:ext uri="{FF2B5EF4-FFF2-40B4-BE49-F238E27FC236}">
                <a16:creationId xmlns:a16="http://schemas.microsoft.com/office/drawing/2014/main" id="{B93AFF87-A454-E884-A94C-02C422765AE3}"/>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resulting from Goods Receipt changes</a:t>
            </a:r>
          </a:p>
        </p:txBody>
      </p:sp>
    </p:spTree>
    <p:extLst>
      <p:ext uri="{BB962C8B-B14F-4D97-AF65-F5344CB8AC3E}">
        <p14:creationId xmlns:p14="http://schemas.microsoft.com/office/powerpoint/2010/main" val="17432465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arenR" startAt="3"/>
            </a:pPr>
            <a:r>
              <a:rPr lang="en-US" b="1" noProof="0" dirty="0"/>
              <a:t>Deallocation rule</a:t>
            </a:r>
          </a:p>
          <a:p>
            <a:pPr marL="1028683" lvl="1" indent="-342900" algn="just">
              <a:buFont typeface="+mj-lt"/>
              <a:buAutoNum type="alphaLcPeriod" startAt="3"/>
            </a:pPr>
            <a:endParaRPr lang="en-US" b="1" noProof="0" dirty="0"/>
          </a:p>
          <a:p>
            <a:pPr marL="1028683" lvl="1" indent="-342900" algn="just">
              <a:buFont typeface="+mj-lt"/>
              <a:buAutoNum type="alphaLcParenR"/>
            </a:pPr>
            <a:r>
              <a:rPr lang="en-US" b="1" noProof="0" dirty="0"/>
              <a:t>Actual late GR Date</a:t>
            </a:r>
          </a:p>
          <a:p>
            <a:pPr algn="just"/>
            <a:endParaRPr lang="en-US" noProof="0" dirty="0"/>
          </a:p>
          <a:p>
            <a:pPr algn="just"/>
            <a:r>
              <a:rPr lang="en-US" noProof="0" dirty="0"/>
              <a:t>We did not implement deallocation at GR posting change date. When IBD final GR is late, Stock/Requirements assignments validity will not be checked back again. There will be no deallocation. Reservation R are converted into F at next Arun.</a:t>
            </a:r>
          </a:p>
          <a:p>
            <a:pPr marL="285750" indent="-285750">
              <a:buFontTx/>
              <a:buChar char="-"/>
            </a:pPr>
            <a:endParaRPr lang="en-US" noProof="0" dirty="0"/>
          </a:p>
          <a:p>
            <a:pPr marL="1028683" lvl="1" indent="-342900" algn="just">
              <a:buFont typeface="+mj-lt"/>
              <a:buAutoNum type="alphaLcParenR" startAt="2"/>
            </a:pPr>
            <a:r>
              <a:rPr lang="en-US" b="1" noProof="0" dirty="0"/>
              <a:t>Fields change</a:t>
            </a:r>
          </a:p>
          <a:p>
            <a:pPr algn="just"/>
            <a:endParaRPr lang="en-US" noProof="0" dirty="0"/>
          </a:p>
          <a:p>
            <a:pPr algn="just"/>
            <a:r>
              <a:rPr lang="en-US" noProof="0" dirty="0"/>
              <a:t>When changing the following fields during GR (MIGO), the assignments will be deallocated:</a:t>
            </a:r>
          </a:p>
          <a:p>
            <a:pPr algn="just"/>
            <a:endParaRPr lang="en-US" noProof="0" dirty="0"/>
          </a:p>
          <a:p>
            <a:pPr marL="285750" indent="-285750" algn="just">
              <a:buFont typeface="Arial" panose="020B0604020202020204" pitchFamily="34" charset="0"/>
              <a:buChar char="•"/>
            </a:pPr>
            <a:r>
              <a:rPr lang="en-US" noProof="0" dirty="0"/>
              <a:t>Storage Location</a:t>
            </a:r>
          </a:p>
          <a:p>
            <a:pPr marL="285750" indent="-285750" algn="just">
              <a:buFont typeface="Arial" panose="020B0604020202020204" pitchFamily="34" charset="0"/>
              <a:buChar char="•"/>
            </a:pPr>
            <a:r>
              <a:rPr lang="en-US" noProof="0" dirty="0"/>
              <a:t>Stock Category (other than authorized by coverage strategy)</a:t>
            </a:r>
          </a:p>
          <a:p>
            <a:pPr marL="285750" indent="-285750" algn="just">
              <a:buFont typeface="Arial" panose="020B0604020202020204" pitchFamily="34" charset="0"/>
              <a:buChar char="•"/>
            </a:pPr>
            <a:r>
              <a:rPr lang="en-US" noProof="0" dirty="0"/>
              <a:t>Delivery Complete Indicator</a:t>
            </a:r>
          </a:p>
          <a:p>
            <a:endParaRPr lang="en-US" noProof="0" dirty="0"/>
          </a:p>
        </p:txBody>
      </p:sp>
      <p:sp>
        <p:nvSpPr>
          <p:cNvPr id="6" name="Titre 2">
            <a:extLst>
              <a:ext uri="{FF2B5EF4-FFF2-40B4-BE49-F238E27FC236}">
                <a16:creationId xmlns:a16="http://schemas.microsoft.com/office/drawing/2014/main" id="{A4DA4BAC-B520-34E0-174E-6FC2701F6123}"/>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resulting from Goods Receipt changes</a:t>
            </a:r>
          </a:p>
        </p:txBody>
      </p:sp>
    </p:spTree>
    <p:extLst>
      <p:ext uri="{BB962C8B-B14F-4D97-AF65-F5344CB8AC3E}">
        <p14:creationId xmlns:p14="http://schemas.microsoft.com/office/powerpoint/2010/main" val="28601064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a:xfrm>
            <a:off x="838200" y="1102180"/>
            <a:ext cx="10515600" cy="5095420"/>
          </a:xfrm>
        </p:spPr>
        <p:txBody>
          <a:bodyPr/>
          <a:lstStyle/>
          <a:p>
            <a:pPr marL="342900" indent="-342900">
              <a:buFont typeface="+mj-lt"/>
              <a:buAutoNum type="arabicParenR" startAt="4"/>
            </a:pPr>
            <a:r>
              <a:rPr lang="en-US" b="1" noProof="0" dirty="0"/>
              <a:t>Requirements deallocation sorting Rule</a:t>
            </a:r>
          </a:p>
          <a:p>
            <a:endParaRPr lang="en-US" sz="300" noProof="0" dirty="0"/>
          </a:p>
          <a:p>
            <a:r>
              <a:rPr lang="en-US" noProof="0" dirty="0"/>
              <a:t>i.e. You change the storage location during IBD GR via MIGO. All allocated </a:t>
            </a:r>
            <a:r>
              <a:rPr lang="en-US" noProof="0" dirty="0" err="1"/>
              <a:t>skus</a:t>
            </a:r>
            <a:r>
              <a:rPr lang="en-US" noProof="0" dirty="0"/>
              <a:t> will be deallocated from requirements.</a:t>
            </a:r>
          </a:p>
          <a:p>
            <a:r>
              <a:rPr lang="en-US" noProof="0" dirty="0"/>
              <a:t>You need then to define how the system sorts assigned Requirements when performing deallocations by selecting the sort check fields, giving them a priority, and by detailing their values when it is relevant and sorting those.</a:t>
            </a:r>
          </a:p>
          <a:p>
            <a:r>
              <a:rPr lang="en-US" noProof="0" dirty="0"/>
              <a:t>The following requirements deallocation sorting rule has been applied to all allocable plants for GR :</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noProof="0" dirty="0"/>
              <a:t>-&gt; Same sorting rule than PO/IBD changes</a:t>
            </a:r>
          </a:p>
        </p:txBody>
      </p:sp>
      <p:sp>
        <p:nvSpPr>
          <p:cNvPr id="8" name="Titre 2">
            <a:extLst>
              <a:ext uri="{FF2B5EF4-FFF2-40B4-BE49-F238E27FC236}">
                <a16:creationId xmlns:a16="http://schemas.microsoft.com/office/drawing/2014/main" id="{AD533AD0-A608-F176-EFA2-49354EE761C8}"/>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resulting from Goods Receipt changes</a:t>
            </a:r>
          </a:p>
        </p:txBody>
      </p:sp>
      <p:graphicFrame>
        <p:nvGraphicFramePr>
          <p:cNvPr id="9" name="Tableau 8">
            <a:extLst>
              <a:ext uri="{FF2B5EF4-FFF2-40B4-BE49-F238E27FC236}">
                <a16:creationId xmlns:a16="http://schemas.microsoft.com/office/drawing/2014/main" id="{0844DF18-55BD-4403-0BB0-CEDDFBD881F7}"/>
              </a:ext>
            </a:extLst>
          </p:cNvPr>
          <p:cNvGraphicFramePr>
            <a:graphicFrameLocks noGrp="1"/>
          </p:cNvGraphicFramePr>
          <p:nvPr>
            <p:extLst>
              <p:ext uri="{D42A27DB-BD31-4B8C-83A1-F6EECF244321}">
                <p14:modId xmlns:p14="http://schemas.microsoft.com/office/powerpoint/2010/main" val="3310714344"/>
              </p:ext>
            </p:extLst>
          </p:nvPr>
        </p:nvGraphicFramePr>
        <p:xfrm>
          <a:off x="2946400" y="3074522"/>
          <a:ext cx="6299200" cy="2400300"/>
        </p:xfrm>
        <a:graphic>
          <a:graphicData uri="http://schemas.openxmlformats.org/drawingml/2006/table">
            <a:tbl>
              <a:tblPr/>
              <a:tblGrid>
                <a:gridCol w="1574800">
                  <a:extLst>
                    <a:ext uri="{9D8B030D-6E8A-4147-A177-3AD203B41FA5}">
                      <a16:colId xmlns:a16="http://schemas.microsoft.com/office/drawing/2014/main" val="731092238"/>
                    </a:ext>
                  </a:extLst>
                </a:gridCol>
                <a:gridCol w="660400">
                  <a:extLst>
                    <a:ext uri="{9D8B030D-6E8A-4147-A177-3AD203B41FA5}">
                      <a16:colId xmlns:a16="http://schemas.microsoft.com/office/drawing/2014/main" val="1896181939"/>
                    </a:ext>
                  </a:extLst>
                </a:gridCol>
                <a:gridCol w="2349500">
                  <a:extLst>
                    <a:ext uri="{9D8B030D-6E8A-4147-A177-3AD203B41FA5}">
                      <a16:colId xmlns:a16="http://schemas.microsoft.com/office/drawing/2014/main" val="1860938948"/>
                    </a:ext>
                  </a:extLst>
                </a:gridCol>
                <a:gridCol w="711200">
                  <a:extLst>
                    <a:ext uri="{9D8B030D-6E8A-4147-A177-3AD203B41FA5}">
                      <a16:colId xmlns:a16="http://schemas.microsoft.com/office/drawing/2014/main" val="736955601"/>
                    </a:ext>
                  </a:extLst>
                </a:gridCol>
                <a:gridCol w="1003300">
                  <a:extLst>
                    <a:ext uri="{9D8B030D-6E8A-4147-A177-3AD203B41FA5}">
                      <a16:colId xmlns:a16="http://schemas.microsoft.com/office/drawing/2014/main" val="2376965840"/>
                    </a:ext>
                  </a:extLst>
                </a:gridCol>
              </a:tblGrid>
              <a:tr h="133350">
                <a:tc>
                  <a:txBody>
                    <a:bodyPr/>
                    <a:lstStyle/>
                    <a:p>
                      <a:pPr algn="ctr" fontAlgn="ctr">
                        <a:buNone/>
                      </a:pPr>
                      <a:r>
                        <a:rPr lang="en-US" sz="800" b="1" i="0" u="none" strike="noStrike" noProof="0" dirty="0">
                          <a:solidFill>
                            <a:schemeClr val="tx1"/>
                          </a:solidFill>
                          <a:effectLst/>
                          <a:latin typeface="Arial" panose="020B0604020202020204" pitchFamily="34" charset="0"/>
                        </a:rPr>
                        <a:t>Deallocation Sorting fields</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Field Prio#</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Field Values</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Value Prio#</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Values Sort rule</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617831664"/>
                  </a:ext>
                </a:extLst>
              </a:tr>
              <a:tr h="133350">
                <a:tc rowSpan="14">
                  <a:txBody>
                    <a:bodyPr/>
                    <a:lstStyle/>
                    <a:p>
                      <a:pPr algn="l" fontAlgn="t">
                        <a:buNone/>
                      </a:pPr>
                      <a:r>
                        <a:rPr lang="en-US" sz="800" b="0" i="0" u="none" strike="noStrike" noProof="0" dirty="0">
                          <a:solidFill>
                            <a:schemeClr val="tx1"/>
                          </a:solidFill>
                          <a:effectLst/>
                          <a:latin typeface="Arial" panose="020B0604020202020204" pitchFamily="34" charset="0"/>
                        </a:rPr>
                        <a:t>Customer group 1</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4">
                  <a:txBody>
                    <a:bodyPr/>
                    <a:lstStyle/>
                    <a:p>
                      <a:pPr algn="ctr" fontAlgn="t">
                        <a:buNone/>
                      </a:pPr>
                      <a:r>
                        <a:rPr lang="en-US" sz="800" b="0" i="0" u="none" strike="noStrike" noProof="0" dirty="0">
                          <a:solidFill>
                            <a:schemeClr val="tx1"/>
                          </a:solidFill>
                          <a:effectLst/>
                          <a:latin typeface="Arial" panose="020B0604020202020204" pitchFamily="34" charset="0"/>
                        </a:rPr>
                        <a:t>1</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        - Customers w/o CGP1</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14</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4">
                  <a:txBody>
                    <a:bodyPr/>
                    <a:lstStyle/>
                    <a:p>
                      <a:pPr algn="ctr" fontAlgn="ctr">
                        <a:buNone/>
                      </a:pPr>
                      <a:r>
                        <a:rPr lang="en-US" sz="800" b="0" i="0" u="none" strike="noStrike" noProof="0" dirty="0">
                          <a:solidFill>
                            <a:schemeClr val="tx1"/>
                          </a:solidFill>
                          <a:effectLst/>
                          <a:latin typeface="Arial" panose="020B0604020202020204" pitchFamily="34" charset="0"/>
                        </a:rPr>
                        <a:t>Desc.</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4468170"/>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G35 - Clearance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13</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379552002"/>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G30 - Internal</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12</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240788309"/>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G45 - Licensee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11</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091781113"/>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G25 - Promo</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10</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607807731"/>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G40 - B2B</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9</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876553392"/>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G20 - Distributor</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8</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3779371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G05 - Small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7</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48864357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G02 - Franchise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6</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684413634"/>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G01 - Large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5</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63149260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G15 - Key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4</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510167591"/>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G10 - Retail</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3</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683592784"/>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G50 - Marketplace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2</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838739159"/>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G55 - Homesite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81026118"/>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Delivery priority</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2</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numbers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1" u="none" strike="noStrike" noProof="0" dirty="0">
                          <a:solidFill>
                            <a:schemeClr val="tx1"/>
                          </a:solidFill>
                          <a:effectLst/>
                          <a:latin typeface="Arial" panose="020B0604020202020204" pitchFamily="34" charset="0"/>
                        </a:rPr>
                        <a:t>(1 to 7)</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9601351"/>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Material availability date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3</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dates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0" u="none" strike="noStrike" noProof="0" dirty="0">
                          <a:solidFill>
                            <a:schemeClr val="tx1"/>
                          </a:solidFill>
                          <a:effectLst/>
                          <a:latin typeface="Arial" panose="020B0604020202020204" pitchFamily="34" charset="0"/>
                        </a:rPr>
                        <a:t> </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0091050"/>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Allocation Run Number</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4</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numbers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0" u="none" strike="noStrike" noProof="0" dirty="0">
                          <a:solidFill>
                            <a:schemeClr val="tx1"/>
                          </a:solidFill>
                          <a:effectLst/>
                          <a:latin typeface="Arial" panose="020B0604020202020204" pitchFamily="34" charset="0"/>
                        </a:rPr>
                        <a:t> </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4107195"/>
                  </a:ext>
                </a:extLst>
              </a:tr>
            </a:tbl>
          </a:graphicData>
        </a:graphic>
      </p:graphicFrame>
    </p:spTree>
    <p:extLst>
      <p:ext uri="{BB962C8B-B14F-4D97-AF65-F5344CB8AC3E}">
        <p14:creationId xmlns:p14="http://schemas.microsoft.com/office/powerpoint/2010/main" val="9377302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p:txBody>
          <a:bodyPr/>
          <a:lstStyle/>
          <a:p>
            <a:pPr marL="342900" indent="-342900">
              <a:buFont typeface="+mj-lt"/>
              <a:buAutoNum type="arabicParenR"/>
            </a:pPr>
            <a:r>
              <a:rPr lang="en-US" b="1" noProof="0" dirty="0"/>
              <a:t>Standard automatic deallocation</a:t>
            </a:r>
          </a:p>
          <a:p>
            <a:endParaRPr lang="en-US" noProof="0" dirty="0"/>
          </a:p>
          <a:p>
            <a:r>
              <a:rPr lang="en-US" noProof="0" dirty="0"/>
              <a:t>There are no standard automatic deallocation.</a:t>
            </a:r>
          </a:p>
          <a:p>
            <a:endParaRPr lang="en-US" noProof="0" dirty="0"/>
          </a:p>
          <a:p>
            <a:endParaRPr lang="en-US" noProof="0" dirty="0"/>
          </a:p>
          <a:p>
            <a:pPr marL="342900" indent="-342900">
              <a:buFont typeface="+mj-lt"/>
              <a:buAutoNum type="arabicParenR" startAt="2"/>
            </a:pPr>
            <a:r>
              <a:rPr lang="en-US" b="1" noProof="0" dirty="0"/>
              <a:t>Customizable automatic deallocation</a:t>
            </a:r>
          </a:p>
          <a:p>
            <a:endParaRPr lang="en-US" noProof="0" dirty="0"/>
          </a:p>
          <a:p>
            <a:r>
              <a:rPr lang="en-US" noProof="0" dirty="0"/>
              <a:t>Requirements deallocation rule and sorting are assigned to </a:t>
            </a:r>
            <a:r>
              <a:rPr lang="en-US" b="1" noProof="0" dirty="0"/>
              <a:t>Plant</a:t>
            </a:r>
            <a:r>
              <a:rPr lang="en-US" noProof="0" dirty="0"/>
              <a:t> only for ‘normal’ GI movement types.</a:t>
            </a:r>
          </a:p>
          <a:p>
            <a:r>
              <a:rPr lang="en-US" noProof="0" dirty="0"/>
              <a:t>All allocable plants are assigned with the same Requirements deallocation rule at GI movements.</a:t>
            </a:r>
          </a:p>
          <a:p>
            <a:r>
              <a:rPr lang="en-US" noProof="0" dirty="0"/>
              <a:t>Unplanned GI movements can have an impact on allocated quantities since they reduce on-hand stock.</a:t>
            </a:r>
          </a:p>
          <a:p>
            <a:endParaRPr lang="en-US" noProof="0" dirty="0"/>
          </a:p>
          <a:p>
            <a:endParaRPr lang="en-US" noProof="0" dirty="0"/>
          </a:p>
          <a:p>
            <a:endParaRPr lang="en-US" noProof="0" dirty="0"/>
          </a:p>
          <a:p>
            <a:endParaRPr lang="en-US" noProof="0" dirty="0"/>
          </a:p>
          <a:p>
            <a:endParaRPr lang="en-US" noProof="0" dirty="0"/>
          </a:p>
          <a:p>
            <a:endParaRPr lang="en-US" noProof="0" dirty="0"/>
          </a:p>
        </p:txBody>
      </p:sp>
      <p:sp>
        <p:nvSpPr>
          <p:cNvPr id="7" name="Titre 2">
            <a:extLst>
              <a:ext uri="{FF2B5EF4-FFF2-40B4-BE49-F238E27FC236}">
                <a16:creationId xmlns:a16="http://schemas.microsoft.com/office/drawing/2014/main" id="{73783278-356E-CB1D-A80F-26D8C6BF1D3E}"/>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resulting from Goods Receipt changes</a:t>
            </a:r>
          </a:p>
        </p:txBody>
      </p:sp>
    </p:spTree>
    <p:extLst>
      <p:ext uri="{BB962C8B-B14F-4D97-AF65-F5344CB8AC3E}">
        <p14:creationId xmlns:p14="http://schemas.microsoft.com/office/powerpoint/2010/main" val="38097588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9">
            <a:extLst>
              <a:ext uri="{FF2B5EF4-FFF2-40B4-BE49-F238E27FC236}">
                <a16:creationId xmlns:a16="http://schemas.microsoft.com/office/drawing/2014/main" id="{EAFD969A-114E-4B12-BA78-004C2AE15A9D}"/>
              </a:ext>
            </a:extLst>
          </p:cNvPr>
          <p:cNvSpPr txBox="1">
            <a:spLocks/>
          </p:cNvSpPr>
          <p:nvPr/>
        </p:nvSpPr>
        <p:spPr>
          <a:xfrm>
            <a:off x="838199" y="1102180"/>
            <a:ext cx="10515599" cy="4782928"/>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051"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arenR" startAt="3"/>
            </a:pPr>
            <a:r>
              <a:rPr lang="en-US" b="1" noProof="0" dirty="0"/>
              <a:t>Deallocation rule</a:t>
            </a:r>
          </a:p>
          <a:p>
            <a:pPr marL="1028683" lvl="1" indent="-342900" algn="just">
              <a:buFont typeface="+mj-lt"/>
              <a:buAutoNum type="alphaLcPeriod" startAt="3"/>
            </a:pPr>
            <a:endParaRPr lang="en-US" b="1" noProof="0" dirty="0"/>
          </a:p>
          <a:p>
            <a:pPr lvl="1" indent="0" algn="just">
              <a:buNone/>
            </a:pPr>
            <a:endParaRPr lang="en-US" b="1" noProof="0" dirty="0"/>
          </a:p>
          <a:p>
            <a:pPr marL="1028683" lvl="1" indent="-342900" algn="just">
              <a:buFont typeface="+mj-lt"/>
              <a:buAutoNum type="alphaLcParenR"/>
            </a:pPr>
            <a:r>
              <a:rPr lang="en-US" b="1" noProof="0" dirty="0"/>
              <a:t>Quantity changes at ‘normal’ GI posting</a:t>
            </a:r>
          </a:p>
          <a:p>
            <a:pPr algn="just"/>
            <a:endParaRPr lang="en-US" noProof="0" dirty="0"/>
          </a:p>
          <a:p>
            <a:r>
              <a:rPr lang="en-US" noProof="0" dirty="0"/>
              <a:t>For 'normal' movement types, such as 601 (goods issue for deliveries) or 102 (GR reversal), the system automatically carries out deallocation if there are allocated quantities and the quantity is changed during goods issue posting.</a:t>
            </a:r>
          </a:p>
          <a:p>
            <a:endParaRPr lang="en-US" noProof="0" dirty="0"/>
          </a:p>
          <a:p>
            <a:endParaRPr lang="en-US" noProof="0" dirty="0"/>
          </a:p>
          <a:p>
            <a:pPr marL="1028683" lvl="1" indent="-342900">
              <a:buFont typeface="+mj-lt"/>
              <a:buAutoNum type="alphaLcParenR" startAt="2"/>
            </a:pPr>
            <a:r>
              <a:rPr lang="en-US" b="1" noProof="0" dirty="0"/>
              <a:t>‘Unplanned’ GI posting</a:t>
            </a:r>
          </a:p>
          <a:p>
            <a:endParaRPr lang="en-US" noProof="0" dirty="0"/>
          </a:p>
          <a:p>
            <a:r>
              <a:rPr lang="en-US" noProof="0" dirty="0"/>
              <a:t>Unplanned GI movements can have an impact on allocated quantities since they reduce on-hand stock but it was not activated for any unplanned GI movements at the moment.</a:t>
            </a:r>
          </a:p>
          <a:p>
            <a:r>
              <a:rPr lang="en-US" i="1" noProof="0" dirty="0"/>
              <a:t>At this moment, those GI posting can deallocate the sales orders automatically when GI is processed via MIGO only. </a:t>
            </a:r>
            <a:r>
              <a:rPr lang="en-US" i="1" noProof="0" dirty="0" err="1"/>
              <a:t>Idocs</a:t>
            </a:r>
            <a:r>
              <a:rPr lang="en-US" i="1" noProof="0" dirty="0"/>
              <a:t> processing will be adjusted in a near future. </a:t>
            </a:r>
          </a:p>
        </p:txBody>
      </p:sp>
      <p:sp>
        <p:nvSpPr>
          <p:cNvPr id="6" name="Titre 2">
            <a:extLst>
              <a:ext uri="{FF2B5EF4-FFF2-40B4-BE49-F238E27FC236}">
                <a16:creationId xmlns:a16="http://schemas.microsoft.com/office/drawing/2014/main" id="{63B78D9B-03DE-2074-2ACB-04E1F0689A7B}"/>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resulting from Goods Issue changes</a:t>
            </a:r>
          </a:p>
        </p:txBody>
      </p:sp>
    </p:spTree>
    <p:extLst>
      <p:ext uri="{BB962C8B-B14F-4D97-AF65-F5344CB8AC3E}">
        <p14:creationId xmlns:p14="http://schemas.microsoft.com/office/powerpoint/2010/main" val="24207120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7D19FD8B-50F5-4287-8FA0-0AD66B15691C}"/>
              </a:ext>
            </a:extLst>
          </p:cNvPr>
          <p:cNvSpPr>
            <a:spLocks noGrp="1"/>
          </p:cNvSpPr>
          <p:nvPr>
            <p:ph sz="quarter" idx="11"/>
          </p:nvPr>
        </p:nvSpPr>
        <p:spPr>
          <a:xfrm>
            <a:off x="838200" y="1102180"/>
            <a:ext cx="10515600" cy="5095420"/>
          </a:xfrm>
        </p:spPr>
        <p:txBody>
          <a:bodyPr/>
          <a:lstStyle/>
          <a:p>
            <a:pPr marL="342900" indent="-342900">
              <a:buFont typeface="+mj-lt"/>
              <a:buAutoNum type="arabicParenR" startAt="4"/>
            </a:pPr>
            <a:r>
              <a:rPr lang="en-US" b="1" noProof="0" dirty="0"/>
              <a:t>Requirements deallocation sorting Rule</a:t>
            </a:r>
          </a:p>
          <a:p>
            <a:endParaRPr lang="en-US" sz="300" noProof="0" dirty="0"/>
          </a:p>
          <a:p>
            <a:r>
              <a:rPr lang="en-US" noProof="0" dirty="0"/>
              <a:t>i.e. You post an unplanned goods issue for 20 ea. Or make a GR reversal of 500 ea. Those reduced quantities were initially assigned to several Requirements.</a:t>
            </a:r>
          </a:p>
          <a:p>
            <a:r>
              <a:rPr lang="en-US" noProof="0" dirty="0"/>
              <a:t>You need then to define how the system sorts assigned Requirements when performing deallocations by selecting the sort check fields, giving them a priority, and by detailing their values when it is relevant and sorting those.</a:t>
            </a:r>
          </a:p>
          <a:p>
            <a:r>
              <a:rPr lang="en-US" noProof="0" dirty="0"/>
              <a:t>The following requirements deallocation sorting rule has been applied to all allocable plants for PO/IBD changes:</a:t>
            </a: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p:txBody>
      </p:sp>
      <p:sp>
        <p:nvSpPr>
          <p:cNvPr id="8" name="Titre 2">
            <a:extLst>
              <a:ext uri="{FF2B5EF4-FFF2-40B4-BE49-F238E27FC236}">
                <a16:creationId xmlns:a16="http://schemas.microsoft.com/office/drawing/2014/main" id="{5E4B42B3-2B4E-008B-2249-2D320057DDCB}"/>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resulting from Goods Issue changes</a:t>
            </a:r>
          </a:p>
        </p:txBody>
      </p:sp>
      <p:graphicFrame>
        <p:nvGraphicFramePr>
          <p:cNvPr id="9" name="Tableau 8">
            <a:extLst>
              <a:ext uri="{FF2B5EF4-FFF2-40B4-BE49-F238E27FC236}">
                <a16:creationId xmlns:a16="http://schemas.microsoft.com/office/drawing/2014/main" id="{AA2C43D6-6AFF-6B7D-D3A8-B3322F0436FB}"/>
              </a:ext>
            </a:extLst>
          </p:cNvPr>
          <p:cNvGraphicFramePr>
            <a:graphicFrameLocks noGrp="1"/>
          </p:cNvGraphicFramePr>
          <p:nvPr>
            <p:extLst>
              <p:ext uri="{D42A27DB-BD31-4B8C-83A1-F6EECF244321}">
                <p14:modId xmlns:p14="http://schemas.microsoft.com/office/powerpoint/2010/main" val="1826956611"/>
              </p:ext>
            </p:extLst>
          </p:nvPr>
        </p:nvGraphicFramePr>
        <p:xfrm>
          <a:off x="2946400" y="3214549"/>
          <a:ext cx="6299200" cy="2667000"/>
        </p:xfrm>
        <a:graphic>
          <a:graphicData uri="http://schemas.openxmlformats.org/drawingml/2006/table">
            <a:tbl>
              <a:tblPr/>
              <a:tblGrid>
                <a:gridCol w="1574800">
                  <a:extLst>
                    <a:ext uri="{9D8B030D-6E8A-4147-A177-3AD203B41FA5}">
                      <a16:colId xmlns:a16="http://schemas.microsoft.com/office/drawing/2014/main" val="73563040"/>
                    </a:ext>
                  </a:extLst>
                </a:gridCol>
                <a:gridCol w="660400">
                  <a:extLst>
                    <a:ext uri="{9D8B030D-6E8A-4147-A177-3AD203B41FA5}">
                      <a16:colId xmlns:a16="http://schemas.microsoft.com/office/drawing/2014/main" val="2763541856"/>
                    </a:ext>
                  </a:extLst>
                </a:gridCol>
                <a:gridCol w="2349500">
                  <a:extLst>
                    <a:ext uri="{9D8B030D-6E8A-4147-A177-3AD203B41FA5}">
                      <a16:colId xmlns:a16="http://schemas.microsoft.com/office/drawing/2014/main" val="2113601905"/>
                    </a:ext>
                  </a:extLst>
                </a:gridCol>
                <a:gridCol w="711200">
                  <a:extLst>
                    <a:ext uri="{9D8B030D-6E8A-4147-A177-3AD203B41FA5}">
                      <a16:colId xmlns:a16="http://schemas.microsoft.com/office/drawing/2014/main" val="3639069453"/>
                    </a:ext>
                  </a:extLst>
                </a:gridCol>
                <a:gridCol w="1003300">
                  <a:extLst>
                    <a:ext uri="{9D8B030D-6E8A-4147-A177-3AD203B41FA5}">
                      <a16:colId xmlns:a16="http://schemas.microsoft.com/office/drawing/2014/main" val="1957941226"/>
                    </a:ext>
                  </a:extLst>
                </a:gridCol>
              </a:tblGrid>
              <a:tr h="133350">
                <a:tc>
                  <a:txBody>
                    <a:bodyPr/>
                    <a:lstStyle/>
                    <a:p>
                      <a:pPr algn="ctr" fontAlgn="ctr">
                        <a:buNone/>
                      </a:pPr>
                      <a:r>
                        <a:rPr lang="en-US" sz="800" b="1" i="0" u="none" strike="noStrike" noProof="0" dirty="0">
                          <a:solidFill>
                            <a:schemeClr val="tx1"/>
                          </a:solidFill>
                          <a:effectLst/>
                          <a:latin typeface="Arial" panose="020B0604020202020204" pitchFamily="34" charset="0"/>
                        </a:rPr>
                        <a:t>Deallocation Sorting fields</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Field Prio#</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Field Values</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Value Prio#</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buNone/>
                      </a:pPr>
                      <a:r>
                        <a:rPr lang="en-US" sz="800" b="1" i="0" u="none" strike="noStrike" noProof="0" dirty="0">
                          <a:solidFill>
                            <a:schemeClr val="tx1"/>
                          </a:solidFill>
                          <a:effectLst/>
                          <a:latin typeface="Arial" panose="020B0604020202020204" pitchFamily="34" charset="0"/>
                        </a:rPr>
                        <a:t>Values Sort rule</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536917859"/>
                  </a:ext>
                </a:extLst>
              </a:tr>
              <a:tr h="133350">
                <a:tc rowSpan="14">
                  <a:txBody>
                    <a:bodyPr/>
                    <a:lstStyle/>
                    <a:p>
                      <a:pPr algn="l" fontAlgn="t">
                        <a:buNone/>
                      </a:pPr>
                      <a:r>
                        <a:rPr lang="en-US" sz="800" b="0" i="0" u="none" strike="noStrike" noProof="0" dirty="0">
                          <a:solidFill>
                            <a:schemeClr val="tx1"/>
                          </a:solidFill>
                          <a:effectLst/>
                          <a:latin typeface="Arial" panose="020B0604020202020204" pitchFamily="34" charset="0"/>
                        </a:rPr>
                        <a:t>Customer group 1</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4">
                  <a:txBody>
                    <a:bodyPr/>
                    <a:lstStyle/>
                    <a:p>
                      <a:pPr algn="ctr" fontAlgn="t">
                        <a:buNone/>
                      </a:pPr>
                      <a:r>
                        <a:rPr lang="en-US" sz="800" b="0" i="0" u="none" strike="noStrike" noProof="0" dirty="0">
                          <a:solidFill>
                            <a:schemeClr val="tx1"/>
                          </a:solidFill>
                          <a:effectLst/>
                          <a:latin typeface="Arial" panose="020B0604020202020204" pitchFamily="34" charset="0"/>
                        </a:rPr>
                        <a:t>1</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        - Customers w/o CGP1</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14</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4">
                  <a:txBody>
                    <a:bodyPr/>
                    <a:lstStyle/>
                    <a:p>
                      <a:pPr algn="ctr" fontAlgn="ctr">
                        <a:buNone/>
                      </a:pPr>
                      <a:r>
                        <a:rPr lang="en-US" sz="800" b="0" i="0" u="none" strike="noStrike" noProof="0" dirty="0">
                          <a:solidFill>
                            <a:schemeClr val="tx1"/>
                          </a:solidFill>
                          <a:effectLst/>
                          <a:latin typeface="Arial" panose="020B0604020202020204" pitchFamily="34" charset="0"/>
                        </a:rPr>
                        <a:t>Desc.</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3999895"/>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G35 - Clearance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13</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067879189"/>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G30 - Internal</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12</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852071463"/>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G45 - Licensee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11</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676485341"/>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G25 - Promo</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10</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844581953"/>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G40 - B2B</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9</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679106213"/>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G20 - Distributor</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8</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252439631"/>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G05 - Small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7</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84378807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G02 - Franchise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6</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66948607"/>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G01 - Large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5</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064222933"/>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G15 - Key Account</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4</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203607964"/>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G10 - Retail</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3</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018870098"/>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G50 - Marketplace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2</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883966352"/>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G55 - Homesite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800" b="0" i="0" u="none" strike="noStrike" noProof="0" dirty="0">
                          <a:solidFill>
                            <a:schemeClr val="tx1"/>
                          </a:solidFill>
                          <a:effectLst/>
                          <a:latin typeface="Arial" panose="020B0604020202020204" pitchFamily="34" charset="0"/>
                        </a:rPr>
                        <a:t>1</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454544398"/>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Delivery priority</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2</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numbers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1" u="none" strike="noStrike" noProof="0" dirty="0">
                          <a:solidFill>
                            <a:schemeClr val="tx1"/>
                          </a:solidFill>
                          <a:effectLst/>
                          <a:latin typeface="Arial" panose="020B0604020202020204" pitchFamily="34" charset="0"/>
                        </a:rPr>
                        <a:t>(1 to 7)</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6357076"/>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Material availability date</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3</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dates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0" u="none" strike="noStrike" noProof="0" dirty="0">
                          <a:solidFill>
                            <a:schemeClr val="tx1"/>
                          </a:solidFill>
                          <a:effectLst/>
                          <a:latin typeface="Arial" panose="020B0604020202020204" pitchFamily="34" charset="0"/>
                        </a:rPr>
                        <a:t> </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9464809"/>
                  </a:ext>
                </a:extLst>
              </a:tr>
              <a:tr h="133350">
                <a:tc rowSpan="2">
                  <a:txBody>
                    <a:bodyPr/>
                    <a:lstStyle/>
                    <a:p>
                      <a:pPr algn="l" fontAlgn="ctr">
                        <a:buNone/>
                      </a:pPr>
                      <a:r>
                        <a:rPr lang="en-US" sz="800" b="0" i="0" u="none" strike="noStrike" noProof="0" dirty="0">
                          <a:solidFill>
                            <a:schemeClr val="tx1"/>
                          </a:solidFill>
                          <a:effectLst/>
                          <a:latin typeface="Arial" panose="020B0604020202020204" pitchFamily="34" charset="0"/>
                        </a:rPr>
                        <a:t>MRP Status</a:t>
                      </a:r>
                    </a:p>
                  </a:txBody>
                  <a:tcPr marL="74815"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00" b="0" i="0" u="none" strike="noStrike" noProof="0" dirty="0">
                          <a:solidFill>
                            <a:schemeClr val="tx1"/>
                          </a:solidFill>
                          <a:effectLst/>
                          <a:latin typeface="Arial" panose="020B0604020202020204" pitchFamily="34" charset="0"/>
                        </a:rPr>
                        <a:t>4</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R Reserved</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1</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800" b="0" i="0" u="none" strike="noStrike" noProof="0" dirty="0" err="1">
                          <a:solidFill>
                            <a:schemeClr val="tx1"/>
                          </a:solidFill>
                          <a:effectLst/>
                          <a:latin typeface="Arial" panose="020B0604020202020204" pitchFamily="34" charset="0"/>
                        </a:rPr>
                        <a:t>Asc</a:t>
                      </a:r>
                      <a:r>
                        <a:rPr lang="en-US" sz="800" b="0" i="0" u="none" strike="noStrike" noProof="0" dirty="0">
                          <a:solidFill>
                            <a:schemeClr val="tx1"/>
                          </a:solidFill>
                          <a:effectLst/>
                          <a:latin typeface="Arial" panose="020B0604020202020204" pitchFamily="34" charset="0"/>
                        </a:rPr>
                        <a:t>.</a:t>
                      </a:r>
                    </a:p>
                  </a:txBody>
                  <a:tcPr marL="8313" marR="8313" marT="83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3865026"/>
                  </a:ext>
                </a:extLst>
              </a:tr>
              <a:tr h="133350">
                <a:tc vMerge="1">
                  <a:txBody>
                    <a:bodyPr/>
                    <a:lstStyle/>
                    <a:p>
                      <a:endParaRPr lang="en-US"/>
                    </a:p>
                  </a:txBody>
                  <a:tcPr/>
                </a:tc>
                <a:tc vMerge="1">
                  <a:txBody>
                    <a:bodyPr/>
                    <a:lstStyle/>
                    <a:p>
                      <a:endParaRPr lang="en-US"/>
                    </a:p>
                  </a:txBody>
                  <a:tcPr/>
                </a:tc>
                <a:tc>
                  <a:txBody>
                    <a:bodyPr/>
                    <a:lstStyle/>
                    <a:p>
                      <a:pPr algn="l" fontAlgn="t">
                        <a:buNone/>
                      </a:pPr>
                      <a:r>
                        <a:rPr lang="en-US" sz="800" b="0" i="0" u="none" strike="noStrike" noProof="0" dirty="0">
                          <a:solidFill>
                            <a:schemeClr val="tx1"/>
                          </a:solidFill>
                          <a:effectLst/>
                          <a:latin typeface="Arial" panose="020B0604020202020204" pitchFamily="34" charset="0"/>
                        </a:rPr>
                        <a:t>F Fixed</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2</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574179488"/>
                  </a:ext>
                </a:extLst>
              </a:tr>
              <a:tr h="133350">
                <a:tc>
                  <a:txBody>
                    <a:bodyPr/>
                    <a:lstStyle/>
                    <a:p>
                      <a:pPr algn="l" fontAlgn="t">
                        <a:buNone/>
                      </a:pPr>
                      <a:r>
                        <a:rPr lang="en-US" sz="800" b="0" i="0" u="none" strike="noStrike" noProof="0" dirty="0">
                          <a:solidFill>
                            <a:schemeClr val="tx1"/>
                          </a:solidFill>
                          <a:effectLst/>
                          <a:latin typeface="Arial" panose="020B0604020202020204" pitchFamily="34" charset="0"/>
                        </a:rPr>
                        <a:t>Allocation Run Number</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800" b="0" i="0" u="none" strike="noStrike" noProof="0" dirty="0">
                          <a:solidFill>
                            <a:schemeClr val="tx1"/>
                          </a:solidFill>
                          <a:effectLst/>
                          <a:latin typeface="Arial" panose="020B0604020202020204" pitchFamily="34" charset="0"/>
                        </a:rPr>
                        <a:t>5</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noProof="0" dirty="0">
                          <a:solidFill>
                            <a:schemeClr val="tx1"/>
                          </a:solidFill>
                          <a:effectLst/>
                          <a:latin typeface="Arial" panose="020B0604020202020204" pitchFamily="34" charset="0"/>
                        </a:rPr>
                        <a:t>List of values not relevant -&gt; sort numbers</a:t>
                      </a:r>
                    </a:p>
                  </a:txBody>
                  <a:tcPr marL="74815"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0" i="0" u="none" strike="noStrike" noProof="0" dirty="0">
                          <a:solidFill>
                            <a:schemeClr val="tx1"/>
                          </a:solidFill>
                          <a:effectLst/>
                          <a:latin typeface="Arial" panose="020B0604020202020204" pitchFamily="34" charset="0"/>
                        </a:rPr>
                        <a:t> </a:t>
                      </a:r>
                    </a:p>
                  </a:txBody>
                  <a:tcPr marL="8313" marR="8313" marT="83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buNone/>
                      </a:pPr>
                      <a:r>
                        <a:rPr lang="en-US" sz="800" b="0" i="0" u="none" strike="noStrike" noProof="0" dirty="0">
                          <a:solidFill>
                            <a:schemeClr val="tx1"/>
                          </a:solidFill>
                          <a:effectLst/>
                          <a:latin typeface="Arial" panose="020B0604020202020204" pitchFamily="34" charset="0"/>
                        </a:rPr>
                        <a:t>Desc.</a:t>
                      </a:r>
                    </a:p>
                  </a:txBody>
                  <a:tcPr marL="8313" marR="8313" marT="83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0833935"/>
                  </a:ext>
                </a:extLst>
              </a:tr>
            </a:tbl>
          </a:graphicData>
        </a:graphic>
      </p:graphicFrame>
    </p:spTree>
    <p:extLst>
      <p:ext uri="{BB962C8B-B14F-4D97-AF65-F5344CB8AC3E}">
        <p14:creationId xmlns:p14="http://schemas.microsoft.com/office/powerpoint/2010/main" val="9746619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59DBD129-CA65-4B11-8878-4B89355A34D5}"/>
              </a:ext>
            </a:extLst>
          </p:cNvPr>
          <p:cNvSpPr>
            <a:spLocks noGrp="1"/>
          </p:cNvSpPr>
          <p:nvPr>
            <p:ph sz="quarter" idx="11"/>
          </p:nvPr>
        </p:nvSpPr>
        <p:spPr>
          <a:xfrm>
            <a:off x="838200" y="1102179"/>
            <a:ext cx="10515600" cy="5123129"/>
          </a:xfrm>
        </p:spPr>
        <p:txBody>
          <a:bodyPr/>
          <a:lstStyle/>
          <a:p>
            <a:pPr marL="285750" indent="-285750">
              <a:buFont typeface="Arial" panose="020B0604020202020204" pitchFamily="34" charset="0"/>
              <a:buChar char="•"/>
            </a:pPr>
            <a:r>
              <a:rPr lang="en-US" u="sng" noProof="0" dirty="0"/>
              <a:t>When open PO quantities are closed using DCI, when items are deleted, or when PO is split for delivery/vendor split</a:t>
            </a:r>
            <a:r>
              <a:rPr lang="en-US" noProof="0" dirty="0"/>
              <a:t>, PO assigned requirements deallocation sorting rule will be applied. Only the reduced quantities of the initial PO are deallocated.</a:t>
            </a:r>
          </a:p>
          <a:p>
            <a:pPr marL="285750" indent="-285750">
              <a:buFont typeface="Arial" panose="020B0604020202020204" pitchFamily="34" charset="0"/>
              <a:buChar char="•"/>
            </a:pPr>
            <a:endParaRPr lang="en-US" noProof="0" dirty="0"/>
          </a:p>
          <a:p>
            <a:r>
              <a:rPr lang="en-US" noProof="0" dirty="0"/>
              <a:t>Then the mass-deallocation strategy will depend on the Buys calendar:</a:t>
            </a:r>
          </a:p>
          <a:p>
            <a:pPr marL="971533" lvl="1" indent="-285750"/>
            <a:endParaRPr lang="en-US" sz="1400" noProof="0" dirty="0"/>
          </a:p>
          <a:p>
            <a:pPr marL="971533" lvl="1" indent="-285750"/>
            <a:endParaRPr lang="en-US" sz="1400" noProof="0" dirty="0"/>
          </a:p>
          <a:p>
            <a:pPr marL="971533" lvl="1" indent="-285750"/>
            <a:r>
              <a:rPr lang="en-US" sz="1400" noProof="0" dirty="0"/>
              <a:t>If the Buys are still ongoing and will cover all the requirements needed at RDD:</a:t>
            </a:r>
          </a:p>
          <a:p>
            <a:pPr lvl="2" indent="0">
              <a:buNone/>
            </a:pPr>
            <a:r>
              <a:rPr lang="en-US" sz="1300" noProof="0" dirty="0"/>
              <a:t>-&gt; no action is needed. The requirements will be allocated in the next Allocation Runs.</a:t>
            </a:r>
          </a:p>
          <a:p>
            <a:pPr marL="971533" lvl="1" indent="-285750"/>
            <a:endParaRPr lang="en-US" sz="1400" noProof="0" dirty="0"/>
          </a:p>
          <a:p>
            <a:pPr marL="971533" lvl="1" indent="-285750"/>
            <a:endParaRPr lang="en-US" sz="1400" noProof="0" dirty="0"/>
          </a:p>
          <a:p>
            <a:pPr marL="971533" lvl="1" indent="-285750"/>
            <a:r>
              <a:rPr lang="en-US" sz="1400" noProof="0" dirty="0"/>
              <a:t>If the Buys are finished or if they are still ongoing but you know you will not cover all the needs:</a:t>
            </a:r>
          </a:p>
          <a:p>
            <a:pPr marL="971533" lvl="1" indent="-285750"/>
            <a:endParaRPr lang="en-US" sz="1400" noProof="0" dirty="0"/>
          </a:p>
          <a:p>
            <a:pPr marL="1428721" lvl="2" indent="-285750"/>
            <a:r>
              <a:rPr lang="en-US" sz="1300" noProof="0" dirty="0"/>
              <a:t>and if deallocation comes from late Buys, deallocated requirements will be reallocated at next Arun on other remaining open supplies or assigned as uncovered. If you need to save some orders by manually deallocating others and few requirements/quantities were affected:</a:t>
            </a:r>
          </a:p>
          <a:p>
            <a:pPr lvl="2" indent="0">
              <a:buNone/>
            </a:pPr>
            <a:r>
              <a:rPr lang="en-US" sz="1300" noProof="0" dirty="0"/>
              <a:t>-&gt; You would use the Arun Optimizer (Deallocation/Reallocation under same customers group)</a:t>
            </a:r>
          </a:p>
          <a:p>
            <a:pPr lvl="2" indent="0">
              <a:buNone/>
            </a:pPr>
            <a:endParaRPr lang="en-US" sz="1400" noProof="0" dirty="0"/>
          </a:p>
          <a:p>
            <a:pPr marL="1428721" lvl="2" indent="-285750"/>
            <a:r>
              <a:rPr lang="en-US" sz="1300" noProof="0" dirty="0"/>
              <a:t> and if the deallocation comes from deleted early/mid-season Buys, those PO changes may have disorganized the requirements allocation and you need to re-organize it:</a:t>
            </a:r>
          </a:p>
          <a:p>
            <a:pPr lvl="2" indent="0">
              <a:buNone/>
            </a:pPr>
            <a:r>
              <a:rPr lang="en-US" sz="1300" noProof="0" dirty="0"/>
              <a:t>-&gt; in this case mass-deallocation can be done based on the PO deleted materials list.</a:t>
            </a:r>
          </a:p>
          <a:p>
            <a:pPr marL="971533" lvl="1" indent="-285750"/>
            <a:endParaRPr lang="en-US" sz="1400" noProof="0" dirty="0"/>
          </a:p>
          <a:p>
            <a:pPr marL="971533" lvl="1" indent="-285750"/>
            <a:endParaRPr lang="en-US" sz="1400" noProof="0" dirty="0"/>
          </a:p>
          <a:p>
            <a:endParaRPr lang="en-US" noProof="0" dirty="0"/>
          </a:p>
        </p:txBody>
      </p:sp>
      <p:sp>
        <p:nvSpPr>
          <p:cNvPr id="7" name="Titre 2">
            <a:extLst>
              <a:ext uri="{FF2B5EF4-FFF2-40B4-BE49-F238E27FC236}">
                <a16:creationId xmlns:a16="http://schemas.microsoft.com/office/drawing/2014/main" id="{55517F59-FA1E-4FBA-9A87-AF40BD6F73D7}"/>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Mass-deallocation/Reallocation</a:t>
            </a:r>
          </a:p>
        </p:txBody>
      </p:sp>
    </p:spTree>
    <p:extLst>
      <p:ext uri="{BB962C8B-B14F-4D97-AF65-F5344CB8AC3E}">
        <p14:creationId xmlns:p14="http://schemas.microsoft.com/office/powerpoint/2010/main" val="28231069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59DBD129-CA65-4B11-8878-4B89355A34D5}"/>
              </a:ext>
            </a:extLst>
          </p:cNvPr>
          <p:cNvSpPr>
            <a:spLocks noGrp="1"/>
          </p:cNvSpPr>
          <p:nvPr>
            <p:ph sz="quarter" idx="11"/>
          </p:nvPr>
        </p:nvSpPr>
        <p:spPr>
          <a:xfrm>
            <a:off x="838200" y="1102179"/>
            <a:ext cx="10515600" cy="5123129"/>
          </a:xfrm>
        </p:spPr>
        <p:txBody>
          <a:bodyPr/>
          <a:lstStyle/>
          <a:p>
            <a:pPr marL="285750" indent="-285750">
              <a:buFont typeface="Arial" panose="020B0604020202020204" pitchFamily="34" charset="0"/>
              <a:buChar char="•"/>
            </a:pPr>
            <a:r>
              <a:rPr lang="en-US" u="sng" noProof="0" dirty="0"/>
              <a:t>Hub / Cross-Dock / Drop Ship PO Explosion </a:t>
            </a:r>
            <a:r>
              <a:rPr lang="en-US" b="1" u="sng" noProof="0" dirty="0"/>
              <a:t>Run</a:t>
            </a:r>
            <a:r>
              <a:rPr lang="en-US" noProof="0" dirty="0"/>
              <a:t>:</a:t>
            </a:r>
          </a:p>
          <a:p>
            <a:endParaRPr lang="en-US" noProof="0" dirty="0"/>
          </a:p>
          <a:p>
            <a:pPr marL="971533" lvl="1" indent="-285750"/>
            <a:r>
              <a:rPr lang="en-US" sz="1400" noProof="0" dirty="0"/>
              <a:t>When existing PO is changed, it deallocates the assigned Sales orders, but those Sales orders are also changed and newly allocated to the new POs using the same specific settings no other free requirement use (special stocks, item </a:t>
            </a:r>
            <a:r>
              <a:rPr lang="en-US" sz="1400" noProof="0" dirty="0" err="1"/>
              <a:t>catg</a:t>
            </a:r>
            <a:r>
              <a:rPr lang="en-US" sz="1400" noProof="0" dirty="0"/>
              <a:t>).</a:t>
            </a:r>
          </a:p>
          <a:p>
            <a:pPr lvl="2" indent="0">
              <a:buNone/>
            </a:pPr>
            <a:r>
              <a:rPr lang="en-US" sz="1300" noProof="0" dirty="0"/>
              <a:t>-&gt; no action needed</a:t>
            </a:r>
            <a:endParaRPr lang="en-US" sz="1400" noProof="0" dirty="0"/>
          </a:p>
          <a:p>
            <a:pPr lvl="1" indent="0">
              <a:buNone/>
            </a:pPr>
            <a:endParaRPr lang="en-US" sz="1400" noProof="0" dirty="0"/>
          </a:p>
          <a:p>
            <a:pPr lvl="1" indent="0">
              <a:buNone/>
            </a:pPr>
            <a:endParaRPr lang="en-US" sz="1400" noProof="0" dirty="0"/>
          </a:p>
          <a:p>
            <a:pPr marL="285750" lvl="1" indent="-285750"/>
            <a:r>
              <a:rPr lang="en-US" sz="1400" u="sng" noProof="0" dirty="0"/>
              <a:t>Hub / Cross-Dock / Drop Ship PO Explosion </a:t>
            </a:r>
            <a:r>
              <a:rPr lang="en-US" sz="1400" b="1" u="sng" noProof="0" dirty="0"/>
              <a:t>Reversal</a:t>
            </a:r>
            <a:r>
              <a:rPr lang="en-US" sz="1400" noProof="0" dirty="0"/>
              <a:t>:</a:t>
            </a:r>
          </a:p>
          <a:p>
            <a:pPr marL="0" lvl="1" indent="0">
              <a:buNone/>
            </a:pPr>
            <a:endParaRPr lang="en-US" sz="1400" noProof="0" dirty="0"/>
          </a:p>
          <a:p>
            <a:pPr marL="971533" lvl="1" indent="-285750"/>
            <a:r>
              <a:rPr lang="en-US" sz="1400" noProof="0" dirty="0"/>
              <a:t>When a reversal of those PO explosion processes is done, the assigned requirements are deallocated, except those from the initial PO for the last confirmed quantities in regular PO. All the other requirements need a new Allocation Run but the next night run includes also other new requirements so they might loose their previous assignment.</a:t>
            </a:r>
          </a:p>
          <a:p>
            <a:pPr lvl="2" indent="0">
              <a:buNone/>
            </a:pPr>
            <a:r>
              <a:rPr lang="en-US" sz="1300" noProof="0" dirty="0"/>
              <a:t>-&gt; new allocation would use the requirements priority criteria so if some initially allocated orders are not allocated anymore it is because they are not a priority vs new requirements. If you want to do some adjustments you can use he Optimizer (</a:t>
            </a:r>
            <a:r>
              <a:rPr lang="en-US" sz="1300" noProof="0" dirty="0" err="1"/>
              <a:t>Dealloc</a:t>
            </a:r>
            <a:r>
              <a:rPr lang="en-US" sz="1300" noProof="0" dirty="0"/>
              <a:t>/</a:t>
            </a:r>
            <a:r>
              <a:rPr lang="en-US" sz="1300" noProof="0" dirty="0" err="1"/>
              <a:t>realloc</a:t>
            </a:r>
            <a:r>
              <a:rPr lang="en-US" sz="1300" noProof="0" dirty="0"/>
              <a:t> orders from customers of same group).</a:t>
            </a:r>
          </a:p>
          <a:p>
            <a:pPr lvl="2" indent="0">
              <a:buNone/>
            </a:pPr>
            <a:endParaRPr lang="en-US" sz="1300" noProof="0" dirty="0"/>
          </a:p>
          <a:p>
            <a:pPr marL="171450" lvl="2" indent="-171450"/>
            <a:r>
              <a:rPr lang="en-US" sz="1400" u="sng" noProof="0" dirty="0"/>
              <a:t>PO GR Dates changes : </a:t>
            </a:r>
            <a:endParaRPr lang="en-US" sz="1351" u="sng" noProof="0" dirty="0"/>
          </a:p>
          <a:p>
            <a:pPr marL="0" lvl="2" indent="0">
              <a:buNone/>
            </a:pPr>
            <a:r>
              <a:rPr lang="en-US" sz="1351" noProof="0" dirty="0"/>
              <a:t>If same PO material GR date is delayed several times, it can delay the assigned Sales orders delivery to much. In that case you could decide to deallocate the SO/Material within your Distribution Channel to reallocate them a night.</a:t>
            </a:r>
            <a:endParaRPr lang="en-US" sz="1300" noProof="0" dirty="0"/>
          </a:p>
        </p:txBody>
      </p:sp>
      <p:sp>
        <p:nvSpPr>
          <p:cNvPr id="7" name="Titre 2">
            <a:extLst>
              <a:ext uri="{FF2B5EF4-FFF2-40B4-BE49-F238E27FC236}">
                <a16:creationId xmlns:a16="http://schemas.microsoft.com/office/drawing/2014/main" id="{C491F396-863C-D34B-A4E7-23C58A8A6B06}"/>
              </a:ext>
            </a:extLst>
          </p:cNvPr>
          <p:cNvSpPr>
            <a:spLocks noGrp="1"/>
          </p:cNvSpPr>
          <p:nvPr>
            <p:ph type="title"/>
          </p:nvPr>
        </p:nvSpPr>
        <p:spPr>
          <a:xfrm>
            <a:off x="838199" y="307981"/>
            <a:ext cx="10917025" cy="459468"/>
          </a:xfrm>
        </p:spPr>
        <p:txBody>
          <a:bodyPr/>
          <a:lstStyle/>
          <a:p>
            <a:pPr marL="457200" indent="-457200">
              <a:buFont typeface="+mj-lt"/>
              <a:buAutoNum type="arabicPeriod" startAt="10"/>
            </a:pPr>
            <a:r>
              <a:rPr lang="en-US" noProof="0" dirty="0"/>
              <a:t> Deallocation Rules : Mass-deallocation/Reallocation</a:t>
            </a:r>
          </a:p>
        </p:txBody>
      </p:sp>
    </p:spTree>
    <p:extLst>
      <p:ext uri="{BB962C8B-B14F-4D97-AF65-F5344CB8AC3E}">
        <p14:creationId xmlns:p14="http://schemas.microsoft.com/office/powerpoint/2010/main" val="709780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7954E4-94B7-4304-BBCA-CBDC882BE8AB}"/>
              </a:ext>
            </a:extLst>
          </p:cNvPr>
          <p:cNvSpPr>
            <a:spLocks noGrp="1"/>
          </p:cNvSpPr>
          <p:nvPr>
            <p:ph type="title"/>
          </p:nvPr>
        </p:nvSpPr>
        <p:spPr>
          <a:xfrm>
            <a:off x="838199" y="307981"/>
            <a:ext cx="10771909" cy="459468"/>
          </a:xfrm>
        </p:spPr>
        <p:txBody>
          <a:bodyPr/>
          <a:lstStyle/>
          <a:p>
            <a:pPr marL="457200" indent="-457200">
              <a:buFont typeface="+mj-lt"/>
              <a:buAutoNum type="arabicPeriod" startAt="11"/>
            </a:pPr>
            <a:r>
              <a:rPr lang="en-US" noProof="0" dirty="0"/>
              <a:t> Reporting : SAP</a:t>
            </a:r>
          </a:p>
        </p:txBody>
      </p:sp>
      <p:sp>
        <p:nvSpPr>
          <p:cNvPr id="4" name="Espace réservé du contenu 3">
            <a:extLst>
              <a:ext uri="{FF2B5EF4-FFF2-40B4-BE49-F238E27FC236}">
                <a16:creationId xmlns:a16="http://schemas.microsoft.com/office/drawing/2014/main" id="{59DBD129-CA65-4B11-8878-4B89355A34D5}"/>
              </a:ext>
            </a:extLst>
          </p:cNvPr>
          <p:cNvSpPr>
            <a:spLocks noGrp="1"/>
          </p:cNvSpPr>
          <p:nvPr>
            <p:ph sz="quarter" idx="11"/>
          </p:nvPr>
        </p:nvSpPr>
        <p:spPr>
          <a:xfrm>
            <a:off x="838200" y="1102179"/>
            <a:ext cx="10515600" cy="5123129"/>
          </a:xfrm>
        </p:spPr>
        <p:txBody>
          <a:bodyPr/>
          <a:lstStyle/>
          <a:p>
            <a:pPr marL="285750" indent="-285750">
              <a:buFont typeface="Arial" panose="020B0604020202020204" pitchFamily="34" charset="0"/>
              <a:buChar char="•"/>
            </a:pPr>
            <a:r>
              <a:rPr lang="en-US" b="1" noProof="0" dirty="0"/>
              <a:t>SAP Sales Report ZSD_R53 </a:t>
            </a:r>
            <a:r>
              <a:rPr lang="en-US" noProof="0" dirty="0"/>
              <a:t>: “New fields” were added :</a:t>
            </a:r>
          </a:p>
          <a:p>
            <a:pPr lvl="1"/>
            <a:r>
              <a:rPr lang="en-US" sz="1400" noProof="0" dirty="0"/>
              <a:t>Net Order Qty		= Order qty – Rejected Qty</a:t>
            </a:r>
          </a:p>
          <a:p>
            <a:pPr lvl="1"/>
            <a:r>
              <a:rPr lang="en-US" sz="1400" noProof="0" dirty="0"/>
              <a:t>Net Order Value		= Corresponding Net value</a:t>
            </a:r>
          </a:p>
          <a:p>
            <a:pPr lvl="1"/>
            <a:r>
              <a:rPr lang="en-US" sz="1400" b="1" noProof="0" dirty="0"/>
              <a:t>Future Receipts Qty</a:t>
            </a:r>
            <a:r>
              <a:rPr lang="en-US" sz="1400" noProof="0" dirty="0"/>
              <a:t>		= Quantities allocated on Future Receipts</a:t>
            </a:r>
          </a:p>
          <a:p>
            <a:pPr lvl="1"/>
            <a:r>
              <a:rPr lang="en-US" sz="1400" b="1" noProof="0" dirty="0"/>
              <a:t>Future Receipts Value</a:t>
            </a:r>
            <a:r>
              <a:rPr lang="en-US" sz="1400" noProof="0" dirty="0"/>
              <a:t>	= Corresponding Net value</a:t>
            </a:r>
          </a:p>
          <a:p>
            <a:pPr lvl="1"/>
            <a:r>
              <a:rPr lang="en-US" sz="1400" b="1" noProof="0" dirty="0"/>
              <a:t>Latest MAD date</a:t>
            </a:r>
            <a:r>
              <a:rPr lang="en-US" sz="1400" noProof="0" dirty="0"/>
              <a:t>		= Latest Goods Receipts Date of the SchL / Item / Order.</a:t>
            </a:r>
          </a:p>
          <a:p>
            <a:r>
              <a:rPr lang="en-US" i="1" noProof="0" dirty="0"/>
              <a:t>-&gt; enhancement to be done on Contract to add Latest MAD Date (done?)</a:t>
            </a:r>
          </a:p>
          <a:p>
            <a:endParaRPr lang="en-US" noProof="0" dirty="0"/>
          </a:p>
          <a:p>
            <a:pPr marL="285750" indent="-285750">
              <a:buFont typeface="Arial" panose="020B0604020202020204" pitchFamily="34" charset="0"/>
              <a:buChar char="•"/>
            </a:pPr>
            <a:r>
              <a:rPr lang="en-US" b="1" noProof="0" dirty="0"/>
              <a:t>SAP Sales Report ZSD_R04	</a:t>
            </a:r>
            <a:r>
              <a:rPr lang="en-US" noProof="0" dirty="0"/>
              <a:t> </a:t>
            </a:r>
          </a:p>
          <a:p>
            <a:r>
              <a:rPr lang="en-US" noProof="0" dirty="0"/>
              <a:t>-&gt; Adjustments required in order to separate “Allocated” quantities on On-hand stock and “Allocated” quantities on Future Receipts</a:t>
            </a:r>
            <a:r>
              <a:rPr lang="en-US" i="1" noProof="0" dirty="0"/>
              <a:t>. (Done ?)</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b="1" noProof="0" dirty="0"/>
              <a:t>SAP Sales Report ZSD_E88 Sold-to </a:t>
            </a:r>
            <a:r>
              <a:rPr lang="en-US" b="1" noProof="0" dirty="0" err="1"/>
              <a:t>Accnts</a:t>
            </a:r>
            <a:r>
              <a:rPr lang="en-US" b="1" noProof="0" dirty="0"/>
              <a:t> ARUN Fields Mass </a:t>
            </a:r>
            <a:r>
              <a:rPr lang="en-US" b="1" noProof="0" dirty="0" err="1"/>
              <a:t>Updt</a:t>
            </a:r>
            <a:r>
              <a:rPr lang="en-US" b="1" noProof="0" dirty="0"/>
              <a:t> </a:t>
            </a:r>
          </a:p>
          <a:p>
            <a:r>
              <a:rPr lang="en-US" noProof="0" dirty="0"/>
              <a:t>-&gt; New report to mass-update the sold-to accounts </a:t>
            </a:r>
            <a:r>
              <a:rPr lang="en-US" noProof="0" dirty="0" err="1"/>
              <a:t>ARun</a:t>
            </a:r>
            <a:r>
              <a:rPr lang="en-US" noProof="0" dirty="0"/>
              <a:t> sensitive fields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b="1" noProof="0" dirty="0"/>
              <a:t>SAP Sales Report ZSD_E89 SO &amp; </a:t>
            </a:r>
            <a:r>
              <a:rPr lang="en-US" b="1" noProof="0" dirty="0" err="1"/>
              <a:t>Ctrct</a:t>
            </a:r>
            <a:r>
              <a:rPr lang="en-US" b="1" noProof="0" dirty="0"/>
              <a:t> ARUN </a:t>
            </a:r>
            <a:r>
              <a:rPr lang="en-US" b="1" noProof="0" dirty="0" err="1"/>
              <a:t>flds</a:t>
            </a:r>
            <a:r>
              <a:rPr lang="en-US" b="1" noProof="0" dirty="0"/>
              <a:t> Mass Update </a:t>
            </a:r>
          </a:p>
          <a:p>
            <a:r>
              <a:rPr lang="en-US" noProof="0" dirty="0"/>
              <a:t>-&gt; New report to align the Sales Orders data according to the sold-to updated master data</a:t>
            </a:r>
          </a:p>
        </p:txBody>
      </p:sp>
    </p:spTree>
    <p:extLst>
      <p:ext uri="{BB962C8B-B14F-4D97-AF65-F5344CB8AC3E}">
        <p14:creationId xmlns:p14="http://schemas.microsoft.com/office/powerpoint/2010/main" val="21381392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2893C-5359-3B7D-C546-75CC9D84A83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EB330AC-7E68-E8C4-C7A0-65C3CB763974}"/>
              </a:ext>
            </a:extLst>
          </p:cNvPr>
          <p:cNvSpPr>
            <a:spLocks noGrp="1"/>
          </p:cNvSpPr>
          <p:nvPr>
            <p:ph type="title"/>
          </p:nvPr>
        </p:nvSpPr>
        <p:spPr>
          <a:xfrm>
            <a:off x="838199" y="307981"/>
            <a:ext cx="10771909" cy="459468"/>
          </a:xfrm>
        </p:spPr>
        <p:txBody>
          <a:bodyPr/>
          <a:lstStyle/>
          <a:p>
            <a:pPr marL="457200" indent="-457200">
              <a:buFont typeface="+mj-lt"/>
              <a:buAutoNum type="arabicPeriod" startAt="11"/>
            </a:pPr>
            <a:r>
              <a:rPr lang="en-US" noProof="0" dirty="0"/>
              <a:t> Reporting : BI</a:t>
            </a:r>
          </a:p>
        </p:txBody>
      </p:sp>
      <p:sp>
        <p:nvSpPr>
          <p:cNvPr id="4" name="Espace réservé du contenu 3">
            <a:extLst>
              <a:ext uri="{FF2B5EF4-FFF2-40B4-BE49-F238E27FC236}">
                <a16:creationId xmlns:a16="http://schemas.microsoft.com/office/drawing/2014/main" id="{5CF9B37A-618A-8A80-FBF3-364F86891527}"/>
              </a:ext>
            </a:extLst>
          </p:cNvPr>
          <p:cNvSpPr>
            <a:spLocks noGrp="1"/>
          </p:cNvSpPr>
          <p:nvPr>
            <p:ph sz="quarter" idx="11"/>
          </p:nvPr>
        </p:nvSpPr>
        <p:spPr>
          <a:xfrm>
            <a:off x="838200" y="1102179"/>
            <a:ext cx="10515600" cy="5123129"/>
          </a:xfrm>
        </p:spPr>
        <p:txBody>
          <a:bodyPr/>
          <a:lstStyle/>
          <a:p>
            <a:pPr marL="285750" indent="-285750">
              <a:buFont typeface="Arial" panose="020B0604020202020204" pitchFamily="34" charset="0"/>
              <a:buChar char="•"/>
            </a:pPr>
            <a:r>
              <a:rPr lang="en-US" b="1" noProof="0" dirty="0"/>
              <a:t>BI Sales Report EUR088 </a:t>
            </a:r>
          </a:p>
          <a:p>
            <a:r>
              <a:rPr lang="en-US" noProof="0" dirty="0"/>
              <a:t>-&gt; Adjustments were done order to separate Reserved quantities on On-hand stock and Reserved quantities on Future Receipts.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b="1" noProof="0" dirty="0"/>
              <a:t>BI Supply Report R096 </a:t>
            </a:r>
          </a:p>
          <a:p>
            <a:r>
              <a:rPr lang="en-US" noProof="0" dirty="0"/>
              <a:t>-&gt; No adjustment needed. Buckets are correctly populated.</a:t>
            </a:r>
          </a:p>
        </p:txBody>
      </p:sp>
    </p:spTree>
    <p:extLst>
      <p:ext uri="{BB962C8B-B14F-4D97-AF65-F5344CB8AC3E}">
        <p14:creationId xmlns:p14="http://schemas.microsoft.com/office/powerpoint/2010/main" val="26425244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92821D-1C3F-154E-ACBA-56F529009918}"/>
              </a:ext>
            </a:extLst>
          </p:cNvPr>
          <p:cNvSpPr>
            <a:spLocks noGrp="1"/>
          </p:cNvSpPr>
          <p:nvPr>
            <p:ph type="title"/>
          </p:nvPr>
        </p:nvSpPr>
        <p:spPr/>
        <p:txBody>
          <a:bodyPr/>
          <a:lstStyle/>
          <a:p>
            <a:pPr marL="457200" indent="-457200">
              <a:buFont typeface="+mj-lt"/>
              <a:buAutoNum type="arabicPeriod" startAt="12"/>
            </a:pPr>
            <a:r>
              <a:rPr lang="en-US" noProof="0" dirty="0"/>
              <a:t> Other future enhancements: </a:t>
            </a:r>
            <a:r>
              <a:rPr lang="en-US" noProof="0" dirty="0" err="1"/>
              <a:t>Miscellanious</a:t>
            </a:r>
            <a:endParaRPr lang="en-US" noProof="0" dirty="0"/>
          </a:p>
        </p:txBody>
      </p:sp>
      <p:sp>
        <p:nvSpPr>
          <p:cNvPr id="8" name="Espace réservé du contenu 3">
            <a:extLst>
              <a:ext uri="{FF2B5EF4-FFF2-40B4-BE49-F238E27FC236}">
                <a16:creationId xmlns:a16="http://schemas.microsoft.com/office/drawing/2014/main" id="{AE87C3F1-0221-DCAB-2A08-E1290E92620A}"/>
              </a:ext>
            </a:extLst>
          </p:cNvPr>
          <p:cNvSpPr>
            <a:spLocks noGrp="1"/>
          </p:cNvSpPr>
          <p:nvPr>
            <p:ph sz="quarter" idx="11"/>
          </p:nvPr>
        </p:nvSpPr>
        <p:spPr>
          <a:xfrm>
            <a:off x="838200" y="1102180"/>
            <a:ext cx="10515600" cy="4782928"/>
          </a:xfrm>
        </p:spPr>
        <p:txBody>
          <a:bodyPr/>
          <a:lstStyle/>
          <a:p>
            <a:pPr marL="285750" indent="-285750">
              <a:buFont typeface="Arial" panose="020B0604020202020204" pitchFamily="34" charset="0"/>
              <a:buChar char="•"/>
            </a:pPr>
            <a:r>
              <a:rPr lang="en-US" b="1" noProof="0" dirty="0"/>
              <a:t>Limitation of additional allocation sets creation and reduction of existing sets maintenance</a:t>
            </a:r>
            <a:r>
              <a:rPr lang="en-US" noProof="0" dirty="0"/>
              <a:t>:</a:t>
            </a:r>
          </a:p>
          <a:p>
            <a:pPr marL="285750" indent="-285750">
              <a:buFontTx/>
              <a:buChar char="-"/>
            </a:pPr>
            <a:endParaRPr lang="en-US" noProof="0" dirty="0"/>
          </a:p>
          <a:p>
            <a:pPr marL="715963" lvl="1" indent="-285750"/>
            <a:r>
              <a:rPr lang="en-US" sz="1400" noProof="0" dirty="0"/>
              <a:t>Use new </a:t>
            </a:r>
            <a:r>
              <a:rPr lang="en-US" sz="1400" noProof="0" dirty="0" err="1"/>
              <a:t>ARun</a:t>
            </a:r>
            <a:r>
              <a:rPr lang="en-US" sz="1400" noProof="0" dirty="0"/>
              <a:t> specific Customer Group criterion to define whether the customer orders should:</a:t>
            </a:r>
          </a:p>
          <a:p>
            <a:pPr marL="971533" lvl="1" indent="-285750">
              <a:buFontTx/>
              <a:buChar char="-"/>
            </a:pPr>
            <a:r>
              <a:rPr lang="en-US" sz="1400" noProof="0" dirty="0"/>
              <a:t>Run into the AMZ allocation job, but also in other jobs like Orders changes or OTB creation;</a:t>
            </a:r>
          </a:p>
          <a:p>
            <a:pPr marL="971533" lvl="1" indent="-285750">
              <a:buFontTx/>
              <a:buChar char="-"/>
            </a:pPr>
            <a:r>
              <a:rPr lang="en-US" sz="1400" noProof="0" dirty="0"/>
              <a:t>Run into the EDI allocation job, but also in other jobs like Orders changes or OTB creation;</a:t>
            </a:r>
          </a:p>
          <a:p>
            <a:pPr marL="971533" lvl="1" indent="-285750">
              <a:buFontTx/>
              <a:buChar char="-"/>
            </a:pPr>
            <a:r>
              <a:rPr lang="en-US" sz="1400" noProof="0" dirty="0"/>
              <a:t>Run into the Samples allocation job;</a:t>
            </a:r>
          </a:p>
          <a:p>
            <a:pPr marL="971533" lvl="1" indent="-285750">
              <a:buFontTx/>
              <a:buChar char="-"/>
            </a:pPr>
            <a:r>
              <a:rPr lang="en-US" sz="1400" noProof="0" dirty="0"/>
              <a:t>Run into the WH top priority set (do we need 1 or 2 WH priority sets apart from the WH regular sets?)</a:t>
            </a:r>
          </a:p>
          <a:p>
            <a:pPr marL="971533" lvl="1" indent="-285750">
              <a:buFontTx/>
              <a:buChar char="-"/>
            </a:pPr>
            <a:r>
              <a:rPr lang="en-US" sz="1400" noProof="0" dirty="0"/>
              <a:t>…</a:t>
            </a:r>
          </a:p>
          <a:p>
            <a:pPr marL="715963" lvl="2" indent="0">
              <a:buNone/>
            </a:pPr>
            <a:r>
              <a:rPr lang="en-US" sz="1400" b="1" i="1" noProof="0" dirty="0"/>
              <a:t>Warning : </a:t>
            </a:r>
            <a:r>
              <a:rPr lang="en-US" sz="1400" i="1" noProof="0" dirty="0"/>
              <a:t>Customer should not cumulate several options from the same criterion</a:t>
            </a:r>
          </a:p>
          <a:p>
            <a:pPr lvl="2" indent="0">
              <a:buNone/>
            </a:pPr>
            <a:endParaRPr lang="en-US" sz="1400" noProof="0" dirty="0"/>
          </a:p>
          <a:p>
            <a:pPr marL="715963" lvl="1" indent="-285750"/>
            <a:r>
              <a:rPr lang="en-US" sz="1400" noProof="0" dirty="0"/>
              <a:t>Start managing the Release rule at Customer level in order to reduce the number of sets:</a:t>
            </a:r>
          </a:p>
          <a:p>
            <a:pPr marL="971533" lvl="1" indent="-285750">
              <a:buFontTx/>
              <a:buChar char="-"/>
            </a:pPr>
            <a:r>
              <a:rPr lang="en-US" sz="1400" noProof="0" dirty="0"/>
              <a:t>in the Customer master data (Sales views),</a:t>
            </a:r>
          </a:p>
          <a:p>
            <a:pPr marL="971533" lvl="1" indent="-285750">
              <a:buFontTx/>
              <a:buChar char="-"/>
            </a:pPr>
            <a:r>
              <a:rPr lang="en-US" sz="1400" noProof="0" dirty="0"/>
              <a:t>in the Sales Orders.</a:t>
            </a:r>
          </a:p>
          <a:p>
            <a:pPr marL="631825">
              <a:tabLst>
                <a:tab pos="715963" algn="l"/>
              </a:tabLst>
            </a:pPr>
            <a:r>
              <a:rPr lang="en-US" i="1" noProof="0" dirty="0"/>
              <a:t>i.e. </a:t>
            </a:r>
            <a:r>
              <a:rPr lang="en-US" i="1" noProof="0" dirty="0" err="1"/>
              <a:t>Santocha</a:t>
            </a:r>
            <a:r>
              <a:rPr lang="en-US" i="1" noProof="0" dirty="0"/>
              <a:t> could be in the same WH Prio sets but with a different release rule (0%) like in its own set and delete existing set.</a:t>
            </a:r>
          </a:p>
        </p:txBody>
      </p:sp>
    </p:spTree>
    <p:extLst>
      <p:ext uri="{BB962C8B-B14F-4D97-AF65-F5344CB8AC3E}">
        <p14:creationId xmlns:p14="http://schemas.microsoft.com/office/powerpoint/2010/main" val="26177679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AD476-4636-C532-F2C0-8734A3C52D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A7E5A3-D753-0957-FEC7-810B1DE4F925}"/>
              </a:ext>
            </a:extLst>
          </p:cNvPr>
          <p:cNvSpPr>
            <a:spLocks noGrp="1"/>
          </p:cNvSpPr>
          <p:nvPr>
            <p:ph type="title"/>
          </p:nvPr>
        </p:nvSpPr>
        <p:spPr/>
        <p:txBody>
          <a:bodyPr/>
          <a:lstStyle/>
          <a:p>
            <a:pPr marL="457200" indent="-457200">
              <a:buFont typeface="+mj-lt"/>
              <a:buAutoNum type="arabicPeriod" startAt="12"/>
            </a:pPr>
            <a:r>
              <a:rPr lang="en-US" noProof="0" dirty="0"/>
              <a:t> Other future enhancements: </a:t>
            </a:r>
            <a:r>
              <a:rPr lang="en-US" noProof="0" dirty="0" err="1"/>
              <a:t>Miscellanious</a:t>
            </a:r>
            <a:endParaRPr lang="en-US" noProof="0" dirty="0"/>
          </a:p>
        </p:txBody>
      </p:sp>
      <p:sp>
        <p:nvSpPr>
          <p:cNvPr id="6" name="Espace réservé du contenu 3">
            <a:extLst>
              <a:ext uri="{FF2B5EF4-FFF2-40B4-BE49-F238E27FC236}">
                <a16:creationId xmlns:a16="http://schemas.microsoft.com/office/drawing/2014/main" id="{FCABD0CD-55E7-7330-1FAD-F6997EB0BA3F}"/>
              </a:ext>
            </a:extLst>
          </p:cNvPr>
          <p:cNvSpPr>
            <a:spLocks noGrp="1"/>
          </p:cNvSpPr>
          <p:nvPr>
            <p:ph sz="quarter" idx="11"/>
          </p:nvPr>
        </p:nvSpPr>
        <p:spPr>
          <a:xfrm>
            <a:off x="838200" y="1102180"/>
            <a:ext cx="10515600" cy="4782928"/>
          </a:xfrm>
        </p:spPr>
        <p:txBody>
          <a:bodyPr/>
          <a:lstStyle/>
          <a:p>
            <a:pPr marL="971533" lvl="1" indent="-285750">
              <a:buFontTx/>
              <a:buChar char="-"/>
            </a:pPr>
            <a:endParaRPr lang="en-US" noProof="0" dirty="0"/>
          </a:p>
          <a:p>
            <a:pPr marL="285750" indent="-285750">
              <a:buFont typeface="Arial" panose="020B0604020202020204" pitchFamily="34" charset="0"/>
              <a:buChar char="•"/>
            </a:pPr>
            <a:r>
              <a:rPr lang="en-US" b="1" noProof="0" dirty="0"/>
              <a:t>Review the existing default sales Orders priority criteria</a:t>
            </a:r>
            <a:r>
              <a:rPr lang="en-US" noProof="0" dirty="0"/>
              <a:t>: What would help you best to optimize distribution?</a:t>
            </a:r>
          </a:p>
          <a:p>
            <a:pPr marL="971533" lvl="1" indent="-285750">
              <a:buFontTx/>
              <a:buChar char="-"/>
            </a:pPr>
            <a:endParaRPr lang="en-US" noProof="0" dirty="0"/>
          </a:p>
          <a:p>
            <a:pPr marL="715963" lvl="1" indent="-285750"/>
            <a:r>
              <a:rPr lang="en-US" sz="1400" noProof="0" dirty="0"/>
              <a:t>1 : Customer group 1 (according to specific defined sorting) -&gt; can be reviewed </a:t>
            </a:r>
            <a:r>
              <a:rPr lang="en-US" sz="1400" b="1" noProof="0" dirty="0"/>
              <a:t>BEFORE</a:t>
            </a:r>
            <a:r>
              <a:rPr lang="en-US" sz="1400" noProof="0" dirty="0"/>
              <a:t> a new season allocation</a:t>
            </a:r>
          </a:p>
          <a:p>
            <a:pPr marL="715963" lvl="1" indent="-285750"/>
            <a:r>
              <a:rPr lang="en-US" sz="1400" noProof="0" dirty="0"/>
              <a:t>2 : Delivery </a:t>
            </a:r>
            <a:r>
              <a:rPr lang="en-US" sz="1400" noProof="0" dirty="0" err="1"/>
              <a:t>prio</a:t>
            </a:r>
            <a:r>
              <a:rPr lang="en-US" sz="1400" noProof="0" dirty="0"/>
              <a:t> (ascending sort)</a:t>
            </a:r>
          </a:p>
          <a:p>
            <a:pPr marL="715963" lvl="1" indent="-285750"/>
            <a:r>
              <a:rPr lang="en-US" sz="1400" noProof="0" dirty="0"/>
              <a:t>3 : Order number (ascending sort)</a:t>
            </a:r>
          </a:p>
          <a:p>
            <a:pPr marL="285750" indent="-285750">
              <a:buFont typeface="Arial" panose="020B0604020202020204" pitchFamily="34" charset="0"/>
              <a:buChar char="•"/>
            </a:pPr>
            <a:endParaRPr lang="en-US" noProof="0" dirty="0"/>
          </a:p>
          <a:p>
            <a:r>
              <a:rPr lang="en-US" noProof="0" dirty="0"/>
              <a:t>i.e.</a:t>
            </a:r>
          </a:p>
          <a:p>
            <a:pPr marL="715963" lvl="1" indent="-285750"/>
            <a:r>
              <a:rPr lang="en-US" sz="1400" noProof="0" dirty="0"/>
              <a:t>By adding Customer/Order attribute(s) ?</a:t>
            </a:r>
          </a:p>
          <a:p>
            <a:pPr marL="715963" lvl="1" indent="-285750"/>
            <a:r>
              <a:rPr lang="en-US" sz="1400" noProof="0" dirty="0"/>
              <a:t>By adding dates : Order date, </a:t>
            </a:r>
            <a:r>
              <a:rPr lang="en-US" sz="1400" noProof="0" dirty="0" err="1"/>
              <a:t>SchLine</a:t>
            </a:r>
            <a:r>
              <a:rPr lang="en-US" sz="1400" noProof="0" dirty="0"/>
              <a:t> RDD ?</a:t>
            </a:r>
          </a:p>
          <a:p>
            <a:pPr marL="715963" lvl="1" indent="-285750"/>
            <a:r>
              <a:rPr lang="en-US" sz="1400" noProof="0" dirty="0"/>
              <a:t>…</a:t>
            </a:r>
          </a:p>
          <a:p>
            <a:pPr marL="285750" indent="-285750">
              <a:buFont typeface="Arial" panose="020B0604020202020204" pitchFamily="34" charset="0"/>
              <a:buChar char="•"/>
            </a:pPr>
            <a:endParaRPr lang="en-US" sz="1600" noProof="0" dirty="0"/>
          </a:p>
          <a:p>
            <a:r>
              <a:rPr lang="en-US" noProof="0" dirty="0"/>
              <a:t>Those changes cannot be done at any time. They are implemented by the SAP team in customizing and need to go through a testing validation step before Production environment implementation.</a:t>
            </a:r>
          </a:p>
          <a:p>
            <a:endParaRPr lang="en-US" noProof="0" dirty="0"/>
          </a:p>
        </p:txBody>
      </p:sp>
    </p:spTree>
    <p:extLst>
      <p:ext uri="{BB962C8B-B14F-4D97-AF65-F5344CB8AC3E}">
        <p14:creationId xmlns:p14="http://schemas.microsoft.com/office/powerpoint/2010/main" val="10980998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99DF4-5199-8451-4452-D8DC3F387A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0456E2-2A37-A789-9E32-2CA0AEA13A55}"/>
              </a:ext>
            </a:extLst>
          </p:cNvPr>
          <p:cNvSpPr>
            <a:spLocks noGrp="1"/>
          </p:cNvSpPr>
          <p:nvPr>
            <p:ph type="title"/>
          </p:nvPr>
        </p:nvSpPr>
        <p:spPr/>
        <p:txBody>
          <a:bodyPr/>
          <a:lstStyle/>
          <a:p>
            <a:pPr marL="457200" indent="-457200">
              <a:buFont typeface="+mj-lt"/>
              <a:buAutoNum type="arabicPeriod" startAt="12"/>
            </a:pPr>
            <a:r>
              <a:rPr lang="en-US" noProof="0" dirty="0"/>
              <a:t> Other future enhancements: </a:t>
            </a:r>
            <a:r>
              <a:rPr lang="en-US" noProof="0" dirty="0" err="1"/>
              <a:t>Miscellanious</a:t>
            </a:r>
            <a:endParaRPr lang="en-US" noProof="0" dirty="0"/>
          </a:p>
        </p:txBody>
      </p:sp>
      <p:sp>
        <p:nvSpPr>
          <p:cNvPr id="7" name="Espace réservé du contenu 3">
            <a:extLst>
              <a:ext uri="{FF2B5EF4-FFF2-40B4-BE49-F238E27FC236}">
                <a16:creationId xmlns:a16="http://schemas.microsoft.com/office/drawing/2014/main" id="{77D8006E-A701-E155-F6B5-BCC1593160F9}"/>
              </a:ext>
            </a:extLst>
          </p:cNvPr>
          <p:cNvSpPr>
            <a:spLocks noGrp="1"/>
          </p:cNvSpPr>
          <p:nvPr>
            <p:ph sz="quarter" idx="11"/>
          </p:nvPr>
        </p:nvSpPr>
        <p:spPr>
          <a:xfrm>
            <a:off x="838200" y="1102180"/>
            <a:ext cx="10515600" cy="4782928"/>
          </a:xfrm>
        </p:spPr>
        <p:txBody>
          <a:bodyPr/>
          <a:lstStyle/>
          <a:p>
            <a:pPr marL="285750" indent="-285750">
              <a:buFont typeface="Arial" panose="020B0604020202020204" pitchFamily="34" charset="0"/>
              <a:buChar char="•"/>
            </a:pPr>
            <a:r>
              <a:rPr lang="en-US" b="1" noProof="0" dirty="0"/>
              <a:t>Review sales orders checks</a:t>
            </a:r>
            <a:r>
              <a:rPr lang="en-US" noProof="0" dirty="0"/>
              <a:t>:</a:t>
            </a:r>
          </a:p>
          <a:p>
            <a:pPr marL="715963" lvl="1" indent="-285750"/>
            <a:r>
              <a:rPr lang="en-US" sz="1400" noProof="0" dirty="0"/>
              <a:t>Cancel date automatic determination settings reviewed vs Dynamic stock allocation horizon</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b="1" noProof="0" dirty="0"/>
              <a:t>Avoid managing materials exclusion list </a:t>
            </a:r>
            <a:r>
              <a:rPr lang="en-US" noProof="0" dirty="0"/>
              <a:t>in the sets by using a specific Item Delivery block in the Sales orders that can be used as default in the allocation sets like the Header del block orders exclusion.</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b="1" noProof="0" dirty="0"/>
              <a:t>Sales Team to use the </a:t>
            </a:r>
            <a:r>
              <a:rPr lang="en-US" b="1" noProof="0" dirty="0" err="1"/>
              <a:t>ARun</a:t>
            </a:r>
            <a:r>
              <a:rPr lang="en-US" b="1" noProof="0" dirty="0"/>
              <a:t> optimizer tool </a:t>
            </a:r>
            <a:r>
              <a:rPr lang="en-US" noProof="0" dirty="0"/>
              <a:t>within a customer group orders in exception cases</a:t>
            </a:r>
          </a:p>
          <a:p>
            <a:pPr marL="715963" lvl="1" indent="-285750"/>
            <a:r>
              <a:rPr lang="en-US" sz="1400" noProof="0" dirty="0"/>
              <a:t>define fields selection</a:t>
            </a:r>
          </a:p>
          <a:p>
            <a:pPr marL="715963" lvl="1" indent="-285750"/>
            <a:r>
              <a:rPr lang="en-US" sz="1400" noProof="0" dirty="0"/>
              <a:t>define authorizations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b="1" noProof="0" dirty="0"/>
              <a:t>Review process flows </a:t>
            </a:r>
            <a:r>
              <a:rPr lang="en-US" noProof="0" dirty="0"/>
              <a:t>which unnecessary reserve stock (i.e. Amazon)</a:t>
            </a:r>
          </a:p>
        </p:txBody>
      </p:sp>
    </p:spTree>
    <p:extLst>
      <p:ext uri="{BB962C8B-B14F-4D97-AF65-F5344CB8AC3E}">
        <p14:creationId xmlns:p14="http://schemas.microsoft.com/office/powerpoint/2010/main" val="34149060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4568E-6376-A997-EA1F-B515BDE2E33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B3E124-AD10-7CC9-E105-DA9FBEFC689E}"/>
              </a:ext>
            </a:extLst>
          </p:cNvPr>
          <p:cNvSpPr>
            <a:spLocks noGrp="1"/>
          </p:cNvSpPr>
          <p:nvPr>
            <p:ph type="title"/>
          </p:nvPr>
        </p:nvSpPr>
        <p:spPr/>
        <p:txBody>
          <a:bodyPr/>
          <a:lstStyle/>
          <a:p>
            <a:pPr marL="457200" indent="-457200">
              <a:buFont typeface="+mj-lt"/>
              <a:buAutoNum type="arabicPeriod" startAt="12"/>
            </a:pPr>
            <a:r>
              <a:rPr lang="en-US" noProof="0" dirty="0"/>
              <a:t> Other future enhancements: </a:t>
            </a:r>
            <a:r>
              <a:rPr lang="en-US" noProof="0" dirty="0" err="1"/>
              <a:t>ARun</a:t>
            </a:r>
            <a:r>
              <a:rPr lang="en-US" noProof="0" dirty="0"/>
              <a:t> Optimizer</a:t>
            </a:r>
          </a:p>
        </p:txBody>
      </p:sp>
      <p:sp>
        <p:nvSpPr>
          <p:cNvPr id="4" name="Espace réservé du contenu 3">
            <a:extLst>
              <a:ext uri="{FF2B5EF4-FFF2-40B4-BE49-F238E27FC236}">
                <a16:creationId xmlns:a16="http://schemas.microsoft.com/office/drawing/2014/main" id="{FD3A6964-7707-10C9-0405-D44CB98064EC}"/>
              </a:ext>
            </a:extLst>
          </p:cNvPr>
          <p:cNvSpPr>
            <a:spLocks noGrp="1"/>
          </p:cNvSpPr>
          <p:nvPr>
            <p:ph sz="quarter" idx="11"/>
          </p:nvPr>
        </p:nvSpPr>
        <p:spPr>
          <a:xfrm>
            <a:off x="838199" y="1021862"/>
            <a:ext cx="10635049" cy="5008236"/>
          </a:xfrm>
        </p:spPr>
        <p:txBody>
          <a:bodyPr/>
          <a:lstStyle/>
          <a:p>
            <a:r>
              <a:rPr lang="en-US" noProof="0" dirty="0"/>
              <a:t>It is used as of today by Logistics to :</a:t>
            </a:r>
          </a:p>
          <a:p>
            <a:endParaRPr lang="en-US" noProof="0" dirty="0"/>
          </a:p>
          <a:p>
            <a:pPr marL="285750" indent="-285750">
              <a:buFont typeface="Arial" panose="020B0604020202020204" pitchFamily="34" charset="0"/>
              <a:buChar char="•"/>
            </a:pPr>
            <a:r>
              <a:rPr lang="en-US" noProof="0" dirty="0"/>
              <a:t>Deallocate Sales orders / Materials / PO assignments.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Release quantities from MRP Status “R” to “F” when Business wants to create partial delivery despite the </a:t>
            </a:r>
            <a:r>
              <a:rPr lang="en-US" noProof="0" dirty="0" err="1"/>
              <a:t>ARun</a:t>
            </a:r>
            <a:r>
              <a:rPr lang="en-US" noProof="0" dirty="0"/>
              <a:t> release rule.</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Block quantities from MRP Status “F” to “R” when quantities were manually Fixed by error.</a:t>
            </a:r>
          </a:p>
          <a:p>
            <a:pPr marL="285750" indent="-285750">
              <a:buFont typeface="Arial" panose="020B0604020202020204" pitchFamily="34" charset="0"/>
              <a:buChar char="•"/>
            </a:pPr>
            <a:endParaRPr lang="en-US" noProof="0" dirty="0"/>
          </a:p>
          <a:p>
            <a:r>
              <a:rPr lang="en-US" b="1" noProof="0" dirty="0"/>
              <a:t>Optimizer </a:t>
            </a:r>
            <a:r>
              <a:rPr lang="en-US" b="1" noProof="0" dirty="0" err="1"/>
              <a:t>ARun</a:t>
            </a:r>
            <a:r>
              <a:rPr lang="en-US" b="1" noProof="0" dirty="0"/>
              <a:t> types for EMEA can be reviewed </a:t>
            </a:r>
            <a:r>
              <a:rPr lang="en-US" noProof="0" dirty="0"/>
              <a:t>for better use at selection level, but also in order to enable deallocation/reallocation under the same screen and not reallocating via </a:t>
            </a:r>
            <a:r>
              <a:rPr lang="en-US" noProof="0" dirty="0" err="1"/>
              <a:t>ARun</a:t>
            </a:r>
            <a:r>
              <a:rPr lang="en-US" noProof="0" dirty="0"/>
              <a:t> Batch transaction (J3AT).</a:t>
            </a:r>
          </a:p>
        </p:txBody>
      </p:sp>
    </p:spTree>
    <p:extLst>
      <p:ext uri="{BB962C8B-B14F-4D97-AF65-F5344CB8AC3E}">
        <p14:creationId xmlns:p14="http://schemas.microsoft.com/office/powerpoint/2010/main" val="15245759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92821D-1C3F-154E-ACBA-56F529009918}"/>
              </a:ext>
            </a:extLst>
          </p:cNvPr>
          <p:cNvSpPr>
            <a:spLocks noGrp="1"/>
          </p:cNvSpPr>
          <p:nvPr>
            <p:ph type="title"/>
          </p:nvPr>
        </p:nvSpPr>
        <p:spPr/>
        <p:txBody>
          <a:bodyPr/>
          <a:lstStyle/>
          <a:p>
            <a:pPr marL="457200" indent="-457200">
              <a:buFont typeface="+mj-lt"/>
              <a:buAutoNum type="arabicPeriod" startAt="12"/>
            </a:pPr>
            <a:r>
              <a:rPr lang="en-US" noProof="0" dirty="0"/>
              <a:t> Other future enhancements: </a:t>
            </a:r>
            <a:r>
              <a:rPr lang="en-US" noProof="0" dirty="0" err="1"/>
              <a:t>ARun</a:t>
            </a:r>
            <a:r>
              <a:rPr lang="en-US" noProof="0" dirty="0"/>
              <a:t> Preview</a:t>
            </a:r>
          </a:p>
        </p:txBody>
      </p:sp>
      <p:sp>
        <p:nvSpPr>
          <p:cNvPr id="4" name="Espace réservé du contenu 3">
            <a:extLst>
              <a:ext uri="{FF2B5EF4-FFF2-40B4-BE49-F238E27FC236}">
                <a16:creationId xmlns:a16="http://schemas.microsoft.com/office/drawing/2014/main" id="{AEBCA571-479E-4D2B-9A14-893BD3D44ADB}"/>
              </a:ext>
            </a:extLst>
          </p:cNvPr>
          <p:cNvSpPr>
            <a:spLocks noGrp="1"/>
          </p:cNvSpPr>
          <p:nvPr>
            <p:ph sz="quarter" idx="11"/>
          </p:nvPr>
        </p:nvSpPr>
        <p:spPr>
          <a:xfrm>
            <a:off x="838199" y="1021862"/>
            <a:ext cx="10635049" cy="5008236"/>
          </a:xfrm>
        </p:spPr>
        <p:txBody>
          <a:bodyPr/>
          <a:lstStyle/>
          <a:p>
            <a:pPr marL="171450" indent="-171450">
              <a:buFontTx/>
              <a:buChar char="-"/>
            </a:pPr>
            <a:r>
              <a:rPr lang="en-US" noProof="0" dirty="0"/>
              <a:t>Running allocation in “Preview” mode </a:t>
            </a:r>
            <a:r>
              <a:rPr lang="en-US" b="1" noProof="0" dirty="0"/>
              <a:t>allows to allocate existing orders against future stock </a:t>
            </a:r>
            <a:r>
              <a:rPr lang="en-US" noProof="0" dirty="0"/>
              <a:t>(for example, purchase requisitions, purchase orders, shipping notifications) </a:t>
            </a:r>
            <a:r>
              <a:rPr lang="en-US" b="1" noProof="0" dirty="0"/>
              <a:t>to estimate possible fluctuations of future warehouse stock</a:t>
            </a:r>
            <a:r>
              <a:rPr lang="en-US" noProof="0" dirty="0"/>
              <a:t>. </a:t>
            </a:r>
          </a:p>
          <a:p>
            <a:pPr marL="171450" indent="-171450">
              <a:buFontTx/>
              <a:buChar char="-"/>
            </a:pPr>
            <a:endParaRPr lang="en-US" noProof="0" dirty="0"/>
          </a:p>
          <a:p>
            <a:pPr marL="171450" indent="-171450">
              <a:buFontTx/>
              <a:buChar char="-"/>
            </a:pPr>
            <a:r>
              <a:rPr lang="en-US" noProof="0" dirty="0"/>
              <a:t>This is an </a:t>
            </a:r>
            <a:r>
              <a:rPr lang="en-US" b="1" noProof="0" dirty="0"/>
              <a:t>early warning system </a:t>
            </a:r>
            <a:r>
              <a:rPr lang="en-US" noProof="0" dirty="0"/>
              <a:t>with which we can </a:t>
            </a:r>
            <a:r>
              <a:rPr lang="en-US" b="1" noProof="0" dirty="0"/>
              <a:t>simulate problems and</a:t>
            </a:r>
            <a:r>
              <a:rPr lang="en-US" noProof="0" dirty="0"/>
              <a:t> can </a:t>
            </a:r>
            <a:r>
              <a:rPr lang="en-US" b="1" noProof="0" dirty="0"/>
              <a:t>react proactively </a:t>
            </a:r>
            <a:r>
              <a:rPr lang="en-US" noProof="0" dirty="0"/>
              <a:t>and in time.</a:t>
            </a:r>
          </a:p>
          <a:p>
            <a:pPr marL="171450" indent="-171450">
              <a:buFontTx/>
              <a:buChar char="-"/>
            </a:pPr>
            <a:endParaRPr lang="en-US" noProof="0" dirty="0"/>
          </a:p>
          <a:p>
            <a:pPr marL="171450" indent="-171450">
              <a:buFontTx/>
              <a:buChar char="-"/>
            </a:pPr>
            <a:r>
              <a:rPr lang="en-US" noProof="0" dirty="0"/>
              <a:t>The results of the allocations in the preview mode are saved in a special database and </a:t>
            </a:r>
            <a:r>
              <a:rPr lang="en-US" b="1" noProof="0" dirty="0"/>
              <a:t>you can also evaluate them by using the </a:t>
            </a:r>
            <a:r>
              <a:rPr lang="en-US" b="1" noProof="0" dirty="0" err="1"/>
              <a:t>ARun</a:t>
            </a:r>
            <a:r>
              <a:rPr lang="en-US" b="1" noProof="0" dirty="0"/>
              <a:t> Optimizer.</a:t>
            </a:r>
          </a:p>
          <a:p>
            <a:pPr marL="171450" indent="-171450">
              <a:buFontTx/>
              <a:buChar char="-"/>
            </a:pPr>
            <a:endParaRPr lang="en-US" noProof="0" dirty="0"/>
          </a:p>
          <a:p>
            <a:pPr marL="171450" indent="-171450">
              <a:buFontTx/>
              <a:buChar char="-"/>
            </a:pPr>
            <a:r>
              <a:rPr lang="en-US" noProof="0" dirty="0"/>
              <a:t>There is </a:t>
            </a:r>
            <a:r>
              <a:rPr lang="en-US" b="1" noProof="0" dirty="0"/>
              <a:t>no update of the “real” requirements and stock assignments</a:t>
            </a:r>
            <a:r>
              <a:rPr lang="en-US" noProof="0" dirty="0"/>
              <a:t>. The fixations or reservations are </a:t>
            </a:r>
            <a:r>
              <a:rPr lang="en-US" b="1" noProof="0" dirty="0"/>
              <a:t>only simulated</a:t>
            </a:r>
            <a:r>
              <a:rPr lang="en-US" noProof="0" dirty="0"/>
              <a:t>. An update is only possible with an allocation in the “normal” mode.</a:t>
            </a:r>
          </a:p>
          <a:p>
            <a:pPr marL="171450" indent="-171450">
              <a:buFontTx/>
              <a:buChar char="-"/>
            </a:pPr>
            <a:endParaRPr lang="en-US" noProof="0" dirty="0"/>
          </a:p>
          <a:p>
            <a:r>
              <a:rPr lang="en-US" noProof="0" dirty="0"/>
              <a:t>This requires to launch a new SAP/BI project.</a:t>
            </a:r>
          </a:p>
        </p:txBody>
      </p:sp>
    </p:spTree>
    <p:extLst>
      <p:ext uri="{BB962C8B-B14F-4D97-AF65-F5344CB8AC3E}">
        <p14:creationId xmlns:p14="http://schemas.microsoft.com/office/powerpoint/2010/main" val="20200457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92821D-1C3F-154E-ACBA-56F529009918}"/>
              </a:ext>
            </a:extLst>
          </p:cNvPr>
          <p:cNvSpPr>
            <a:spLocks noGrp="1"/>
          </p:cNvSpPr>
          <p:nvPr>
            <p:ph type="title"/>
          </p:nvPr>
        </p:nvSpPr>
        <p:spPr/>
        <p:txBody>
          <a:bodyPr/>
          <a:lstStyle/>
          <a:p>
            <a:pPr marL="457200" indent="-457200">
              <a:buFont typeface="+mj-lt"/>
              <a:buAutoNum type="arabicPeriod" startAt="13"/>
            </a:pPr>
            <a:r>
              <a:rPr lang="en-US" noProof="0" dirty="0"/>
              <a:t>Open questions</a:t>
            </a:r>
          </a:p>
        </p:txBody>
      </p:sp>
      <p:sp>
        <p:nvSpPr>
          <p:cNvPr id="4" name="Espace réservé du contenu 3">
            <a:extLst>
              <a:ext uri="{FF2B5EF4-FFF2-40B4-BE49-F238E27FC236}">
                <a16:creationId xmlns:a16="http://schemas.microsoft.com/office/drawing/2014/main" id="{AEBCA571-479E-4D2B-9A14-893BD3D44ADB}"/>
              </a:ext>
            </a:extLst>
          </p:cNvPr>
          <p:cNvSpPr>
            <a:spLocks noGrp="1"/>
          </p:cNvSpPr>
          <p:nvPr>
            <p:ph sz="quarter" idx="11"/>
          </p:nvPr>
        </p:nvSpPr>
        <p:spPr>
          <a:xfrm>
            <a:off x="838199" y="1021862"/>
            <a:ext cx="10635049" cy="5008236"/>
          </a:xfrm>
        </p:spPr>
        <p:txBody>
          <a:bodyPr/>
          <a:lstStyle/>
          <a:p>
            <a:pPr marL="285750" indent="-285750">
              <a:buFont typeface="Arial" panose="020B0604020202020204" pitchFamily="34" charset="0"/>
              <a:buChar char="•"/>
            </a:pPr>
            <a:r>
              <a:rPr lang="en-US" noProof="0" dirty="0"/>
              <a:t>How to manage Top and Bottom pieces to be released together for delivery ?</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How to automatically cancel the open quantities of a PO when an Inbound delivery is created with shortages ?</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Review the ARuns release rule </a:t>
            </a:r>
            <a:r>
              <a:rPr lang="en-US" dirty="0"/>
              <a:t>configuration options </a:t>
            </a:r>
            <a:r>
              <a:rPr lang="en-US" noProof="0" dirty="0"/>
              <a:t>so each </a:t>
            </a:r>
            <a:r>
              <a:rPr lang="en-US" noProof="0" dirty="0" err="1"/>
              <a:t>ARun</a:t>
            </a:r>
            <a:r>
              <a:rPr lang="en-US" noProof="0" dirty="0"/>
              <a:t> type can be assignment a specific release check rule : the global </a:t>
            </a:r>
            <a:r>
              <a:rPr lang="en-US" noProof="0" dirty="0" err="1"/>
              <a:t>ARun</a:t>
            </a:r>
            <a:r>
              <a:rPr lang="en-US" noProof="0" dirty="0"/>
              <a:t> type, the Customer-specific and/or the Order-specific release </a:t>
            </a:r>
            <a:r>
              <a:rPr lang="en-US" dirty="0"/>
              <a:t>rule. There a 4 options available.</a:t>
            </a:r>
          </a:p>
          <a:p>
            <a:endParaRPr lang="en-US" noProof="0" dirty="0"/>
          </a:p>
        </p:txBody>
      </p:sp>
    </p:spTree>
    <p:extLst>
      <p:ext uri="{BB962C8B-B14F-4D97-AF65-F5344CB8AC3E}">
        <p14:creationId xmlns:p14="http://schemas.microsoft.com/office/powerpoint/2010/main" val="7348655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92821D-1C3F-154E-ACBA-56F529009918}"/>
              </a:ext>
            </a:extLst>
          </p:cNvPr>
          <p:cNvSpPr>
            <a:spLocks noGrp="1"/>
          </p:cNvSpPr>
          <p:nvPr>
            <p:ph type="title"/>
          </p:nvPr>
        </p:nvSpPr>
        <p:spPr/>
        <p:txBody>
          <a:bodyPr/>
          <a:lstStyle/>
          <a:p>
            <a:r>
              <a:rPr lang="en-US" dirty="0"/>
              <a:t>Appendix : Samples Season Delivery Window</a:t>
            </a:r>
          </a:p>
        </p:txBody>
      </p:sp>
      <p:pic>
        <p:nvPicPr>
          <p:cNvPr id="6" name="Image 5">
            <a:extLst>
              <a:ext uri="{FF2B5EF4-FFF2-40B4-BE49-F238E27FC236}">
                <a16:creationId xmlns:a16="http://schemas.microsoft.com/office/drawing/2014/main" id="{839630DE-C9E5-3A1A-AB95-B45396426B03}"/>
              </a:ext>
            </a:extLst>
          </p:cNvPr>
          <p:cNvPicPr>
            <a:picLocks noChangeAspect="1"/>
          </p:cNvPicPr>
          <p:nvPr/>
        </p:nvPicPr>
        <p:blipFill>
          <a:blip r:embed="rId2"/>
          <a:stretch>
            <a:fillRect/>
          </a:stretch>
        </p:blipFill>
        <p:spPr>
          <a:xfrm>
            <a:off x="0" y="2171924"/>
            <a:ext cx="12192000" cy="2514151"/>
          </a:xfrm>
          <a:prstGeom prst="rect">
            <a:avLst/>
          </a:prstGeom>
        </p:spPr>
      </p:pic>
    </p:spTree>
    <p:extLst>
      <p:ext uri="{BB962C8B-B14F-4D97-AF65-F5344CB8AC3E}">
        <p14:creationId xmlns:p14="http://schemas.microsoft.com/office/powerpoint/2010/main" val="39397306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92821D-1C3F-154E-ACBA-56F529009918}"/>
              </a:ext>
            </a:extLst>
          </p:cNvPr>
          <p:cNvSpPr>
            <a:spLocks noGrp="1"/>
          </p:cNvSpPr>
          <p:nvPr>
            <p:ph type="title"/>
          </p:nvPr>
        </p:nvSpPr>
        <p:spPr/>
        <p:txBody>
          <a:bodyPr/>
          <a:lstStyle/>
          <a:p>
            <a:r>
              <a:rPr lang="en-US" dirty="0"/>
              <a:t>Appendix : Customers Season Delivery Window</a:t>
            </a:r>
          </a:p>
        </p:txBody>
      </p:sp>
      <p:pic>
        <p:nvPicPr>
          <p:cNvPr id="4" name="Image 3">
            <a:extLst>
              <a:ext uri="{FF2B5EF4-FFF2-40B4-BE49-F238E27FC236}">
                <a16:creationId xmlns:a16="http://schemas.microsoft.com/office/drawing/2014/main" id="{4503DF1D-2BE6-5CA5-018A-7E98DB133249}"/>
              </a:ext>
            </a:extLst>
          </p:cNvPr>
          <p:cNvPicPr>
            <a:picLocks noChangeAspect="1"/>
          </p:cNvPicPr>
          <p:nvPr/>
        </p:nvPicPr>
        <p:blipFill>
          <a:blip r:embed="rId2"/>
          <a:stretch>
            <a:fillRect/>
          </a:stretch>
        </p:blipFill>
        <p:spPr>
          <a:xfrm>
            <a:off x="0" y="2909135"/>
            <a:ext cx="12192000" cy="1039730"/>
          </a:xfrm>
          <a:prstGeom prst="rect">
            <a:avLst/>
          </a:prstGeom>
        </p:spPr>
      </p:pic>
    </p:spTree>
    <p:extLst>
      <p:ext uri="{BB962C8B-B14F-4D97-AF65-F5344CB8AC3E}">
        <p14:creationId xmlns:p14="http://schemas.microsoft.com/office/powerpoint/2010/main" val="3035144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9D6326D-6A28-4E19-A581-6EC8F18A05B6}"/>
              </a:ext>
            </a:extLst>
          </p:cNvPr>
          <p:cNvPicPr>
            <a:picLocks noChangeAspect="1"/>
          </p:cNvPicPr>
          <p:nvPr/>
        </p:nvPicPr>
        <p:blipFill>
          <a:blip r:embed="rId2"/>
          <a:stretch>
            <a:fillRect/>
          </a:stretch>
        </p:blipFill>
        <p:spPr>
          <a:xfrm>
            <a:off x="4523708" y="2613583"/>
            <a:ext cx="3144583" cy="810999"/>
          </a:xfrm>
          <a:prstGeom prst="rect">
            <a:avLst/>
          </a:prstGeom>
        </p:spPr>
      </p:pic>
    </p:spTree>
    <p:extLst>
      <p:ext uri="{BB962C8B-B14F-4D97-AF65-F5344CB8AC3E}">
        <p14:creationId xmlns:p14="http://schemas.microsoft.com/office/powerpoint/2010/main" val="1764128437"/>
      </p:ext>
    </p:extLst>
  </p:cSld>
  <p:clrMapOvr>
    <a:masterClrMapping/>
  </p:clrMapOvr>
</p:sld>
</file>

<file path=ppt/theme/theme1.xml><?xml version="1.0" encoding="utf-8"?>
<a:theme xmlns:a="http://schemas.openxmlformats.org/drawingml/2006/main" name="Boardriders 2018">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ardriders template" id="{A9F38055-1BA9-FC4E-A0BD-8123750A1D28}" vid="{EDBB8533-5CA2-4F44-80CF-312C085DD3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152b8e2-9a73-4d1a-bc18-96b00c72b20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717DD25454FB4695523AD6FA678BBB" ma:contentTypeVersion="10" ma:contentTypeDescription="Crée un document." ma:contentTypeScope="" ma:versionID="7c43f41f86e7546b4d3ba82341572db5">
  <xsd:schema xmlns:xsd="http://www.w3.org/2001/XMLSchema" xmlns:xs="http://www.w3.org/2001/XMLSchema" xmlns:p="http://schemas.microsoft.com/office/2006/metadata/properties" xmlns:ns2="b152b8e2-9a73-4d1a-bc18-96b00c72b20e" targetNamespace="http://schemas.microsoft.com/office/2006/metadata/properties" ma:root="true" ma:fieldsID="0d2f2917f793e56c6eb3b974b0b7a2c6" ns2:_="">
    <xsd:import namespace="b152b8e2-9a73-4d1a-bc18-96b00c72b2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52b8e2-9a73-4d1a-bc18-96b00c72b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6c682836-369b-4e42-b53b-c78136b0ce6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66A023-D28F-4AA1-B182-ABD0671FB98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BF7DCAD-BF0B-4998-AB3C-59FE4085F8A7}"/>
</file>

<file path=customXml/itemProps3.xml><?xml version="1.0" encoding="utf-8"?>
<ds:datastoreItem xmlns:ds="http://schemas.openxmlformats.org/officeDocument/2006/customXml" ds:itemID="{32155DD6-B04A-4096-9243-EBE8E448EB6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9354</Words>
  <Application>Microsoft Office PowerPoint</Application>
  <PresentationFormat>Grand écran</PresentationFormat>
  <Paragraphs>1822</Paragraphs>
  <Slides>73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73</vt:i4>
      </vt:variant>
    </vt:vector>
  </HeadingPairs>
  <TitlesOfParts>
    <vt:vector size="78" baseType="lpstr">
      <vt:lpstr>Aptos</vt:lpstr>
      <vt:lpstr>Arial</vt:lpstr>
      <vt:lpstr>Calibri</vt:lpstr>
      <vt:lpstr>Verdana</vt:lpstr>
      <vt:lpstr>Boardriders 2018</vt:lpstr>
      <vt:lpstr>Allocation Run Process Flow and 2022 EMEA Early Allocation Set Up Review</vt:lpstr>
      <vt:lpstr>Introduction on ARun and Early Allocation</vt:lpstr>
      <vt:lpstr>Summary</vt:lpstr>
      <vt:lpstr>Allocation Run Process Flow</vt:lpstr>
      <vt:lpstr>Allocation Run Process Flow</vt:lpstr>
      <vt:lpstr>Requirements Selection</vt:lpstr>
      <vt:lpstr>Requirements Selection</vt:lpstr>
      <vt:lpstr>Requirements Customized Selection</vt:lpstr>
      <vt:lpstr>Requirements Customized Selection</vt:lpstr>
      <vt:lpstr>Requirements Customized Selection</vt:lpstr>
      <vt:lpstr>Requirements Filter</vt:lpstr>
      <vt:lpstr>Requirements Filter</vt:lpstr>
      <vt:lpstr>Stock Selection</vt:lpstr>
      <vt:lpstr>Stock Selection</vt:lpstr>
      <vt:lpstr>Stock Selection</vt:lpstr>
      <vt:lpstr>Requirements Sorting</vt:lpstr>
      <vt:lpstr>Requirements Sorting</vt:lpstr>
      <vt:lpstr>Stock Sorting</vt:lpstr>
      <vt:lpstr>Stock Sorting</vt:lpstr>
      <vt:lpstr>Stock/Requirements Allocation Rules</vt:lpstr>
      <vt:lpstr>Stock/Requirements Allocation Rules</vt:lpstr>
      <vt:lpstr>Stock/Requirements Allocation Rules</vt:lpstr>
      <vt:lpstr>Stock/Requirements Allocation Rules</vt:lpstr>
      <vt:lpstr>Stock/Requirements Allocation Rules</vt:lpstr>
      <vt:lpstr>Stock/Requirements Allocation Rules</vt:lpstr>
      <vt:lpstr>Release Rules</vt:lpstr>
      <vt:lpstr>Release Rules: General settings</vt:lpstr>
      <vt:lpstr>Release Rules: General settings</vt:lpstr>
      <vt:lpstr>Release Rules: MRP Status update</vt:lpstr>
      <vt:lpstr>Release Rules: Backorders Rejection</vt:lpstr>
      <vt:lpstr>ARun Jobs</vt:lpstr>
      <vt:lpstr>ARun Jobs</vt:lpstr>
      <vt:lpstr>ARun Jobs</vt:lpstr>
      <vt:lpstr>ARun Jobs</vt:lpstr>
      <vt:lpstr>ARun Jobs</vt:lpstr>
      <vt:lpstr>ARun Jobs</vt:lpstr>
      <vt:lpstr>ARun Jobs</vt:lpstr>
      <vt:lpstr>ARun Jobs</vt:lpstr>
      <vt:lpstr>ARun Jobs</vt:lpstr>
      <vt:lpstr> Deallocation Rules</vt:lpstr>
      <vt:lpstr> Deallocation Rules : resulting from Sales Order changes</vt:lpstr>
      <vt:lpstr> Deallocation Rules : resulting from Sales Order changes</vt:lpstr>
      <vt:lpstr> Deallocation Rules : resulting from Sales Order changes</vt:lpstr>
      <vt:lpstr> Deallocation Rules : resulting from Sales Order changes</vt:lpstr>
      <vt:lpstr> Deallocation Rules : resulting from Sales Order changes</vt:lpstr>
      <vt:lpstr> Deallocation Rules : resulting from Sales Order changes</vt:lpstr>
      <vt:lpstr> Deallocation Rules : resulting from Sales Order changes</vt:lpstr>
      <vt:lpstr> Deallocation Rules : resulting from PO &amp; IBD changes</vt:lpstr>
      <vt:lpstr> Deallocation Rules : resulting from PO &amp; IBD changes</vt:lpstr>
      <vt:lpstr> Deallocation Rules : resulting from PO &amp; IBD changes</vt:lpstr>
      <vt:lpstr> Deallocation Rules : resulting from PO &amp; IBD changes</vt:lpstr>
      <vt:lpstr> Deallocation Rules : resulting from PO &amp; IBD changes</vt:lpstr>
      <vt:lpstr> Deallocation Rules : resulting from PO &amp; IBD changes</vt:lpstr>
      <vt:lpstr> Deallocation Rules : resulting from PO &amp; IBD changes</vt:lpstr>
      <vt:lpstr> Deallocation Rules : resulting from Goods Receipt changes</vt:lpstr>
      <vt:lpstr> Deallocation Rules : resulting from Goods Receipt changes</vt:lpstr>
      <vt:lpstr> Deallocation Rules : resulting from Goods Receipt changes</vt:lpstr>
      <vt:lpstr> Deallocation Rules : resulting from Goods Receipt changes</vt:lpstr>
      <vt:lpstr> Deallocation Rules : resulting from Goods Issue changes</vt:lpstr>
      <vt:lpstr> Deallocation Rules : resulting from Goods Issue changes</vt:lpstr>
      <vt:lpstr> Deallocation Rules : Mass-deallocation/Reallocation</vt:lpstr>
      <vt:lpstr> Deallocation Rules : Mass-deallocation/Reallocation</vt:lpstr>
      <vt:lpstr> Reporting : SAP</vt:lpstr>
      <vt:lpstr> Reporting : BI</vt:lpstr>
      <vt:lpstr> Other future enhancements: Miscellanious</vt:lpstr>
      <vt:lpstr> Other future enhancements: Miscellanious</vt:lpstr>
      <vt:lpstr> Other future enhancements: Miscellanious</vt:lpstr>
      <vt:lpstr> Other future enhancements: ARun Optimizer</vt:lpstr>
      <vt:lpstr> Other future enhancements: ARun Preview</vt:lpstr>
      <vt:lpstr>Open questions</vt:lpstr>
      <vt:lpstr>Appendix : Samples Season Delivery Window</vt:lpstr>
      <vt:lpstr>Appendix : Customers Season Delivery Window</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Nicolas Foulet</dc:creator>
  <cp:lastModifiedBy>Yannick Gruel</cp:lastModifiedBy>
  <cp:revision>323</cp:revision>
  <cp:lastPrinted>2018-05-30T10:02:54Z</cp:lastPrinted>
  <dcterms:created xsi:type="dcterms:W3CDTF">2018-05-03T10:52:26Z</dcterms:created>
  <dcterms:modified xsi:type="dcterms:W3CDTF">2026-04-03T14:06:21Z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0x01010036717DD25454FB4695523AD6FA678BBB</vt:lpwstr>
  </property>
</Properties>
</file>